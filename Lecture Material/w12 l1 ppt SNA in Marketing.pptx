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63" r:id="rId3"/>
    <p:sldId id="264" r:id="rId4"/>
    <p:sldId id="265" r:id="rId5"/>
    <p:sldId id="266" r:id="rId6"/>
    <p:sldId id="267" r:id="rId7"/>
    <p:sldId id="272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FA007-337A-493C-A177-1A884AEB5A23}" type="datetimeFigureOut">
              <a:rPr lang="en-IN" smtClean="0"/>
              <a:t>20-03-2020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F0F9-D51A-4851-8133-2769E6481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1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F0F9-D51A-4851-8133-2769E648141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6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BBFF7-2348-4E2A-8291-12677DA53595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2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7D2D-F2C9-4361-8404-51DA17F5B754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98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E02A-07E9-4CBF-BF00-A0DBBC986F9F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71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7546-CF07-4698-80B7-DE0FF746AE5A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76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14FF-45B5-4A61-BBB2-33D68F7EECF4}" type="datetime1">
              <a:rPr lang="en-IN" smtClean="0"/>
              <a:t>20-03-2020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70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86DC-84CF-4E6A-B988-634E9AC55384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05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DCF96-8030-4AD7-98D5-7293E5574ECC}" type="datetime1">
              <a:rPr lang="en-IN" smtClean="0"/>
              <a:t>20-03-2020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0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D953-AD71-4B34-B200-A5CA8AA4C54E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6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726F-71D2-4054-9657-A30F5960248F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36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2378B-025D-4A38-98F0-510172CE5721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1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F56F-0FB5-485A-9284-FD07ABA0C05F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64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2EFC5-257B-459E-8F5D-00F7B2C6656C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Logistics Management IOCL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68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Social Network Analysis for </a:t>
            </a:r>
            <a:r>
              <a:rPr lang="en-IN" dirty="0" smtClean="0"/>
              <a:t>Marketing Management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00588"/>
            <a:ext cx="9144000" cy="1655762"/>
          </a:xfrm>
        </p:spPr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Swagato</a:t>
            </a:r>
            <a:r>
              <a:rPr lang="en-IN" dirty="0" smtClean="0"/>
              <a:t> Chatterjee</a:t>
            </a:r>
          </a:p>
          <a:p>
            <a:r>
              <a:rPr lang="en-IN" dirty="0" err="1" smtClean="0"/>
              <a:t>VGSoM</a:t>
            </a:r>
            <a:r>
              <a:rPr lang="en-IN" dirty="0" smtClean="0"/>
              <a:t>, IIT </a:t>
            </a:r>
            <a:r>
              <a:rPr lang="en-IN" dirty="0" err="1" smtClean="0"/>
              <a:t>Kharagpur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52D74-F975-43B3-9425-3CE532FCB0A3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21F06-3FF3-4596-A9D8-887A6ADAE7E4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</a:t>
            </a:fld>
            <a:endParaRPr lang="en-I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mtClean="0">
                <a:latin typeface="Goudy Old Style" panose="02020502050305020303" pitchFamily="18" charset="0"/>
              </a:rPr>
              <a:t>Social Network Analysis: A Background</a:t>
            </a:r>
            <a:endParaRPr lang="en-US" sz="4000">
              <a:latin typeface="Goudy Old Style" panose="02020502050305020303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1725" y="1564587"/>
            <a:ext cx="8229600" cy="45307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Goudy Old Style" panose="02020502050305020303" pitchFamily="18" charset="0"/>
              </a:rPr>
              <a:t>Term Coined by J.A. Barnes in 1954</a:t>
            </a:r>
          </a:p>
          <a:p>
            <a:endParaRPr lang="en-US" dirty="0" smtClean="0">
              <a:latin typeface="Goudy Old Style" panose="02020502050305020303" pitchFamily="18" charset="0"/>
            </a:endParaRPr>
          </a:p>
          <a:p>
            <a:r>
              <a:rPr lang="en-US" dirty="0" err="1" smtClean="0">
                <a:latin typeface="Goudy Old Style" panose="02020502050305020303" pitchFamily="18" charset="0"/>
              </a:rPr>
              <a:t>Sociometrics</a:t>
            </a:r>
            <a:endParaRPr lang="en-US" sz="2000" dirty="0" smtClean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2000" dirty="0" smtClean="0">
              <a:latin typeface="Goudy Old Style" panose="02020502050305020303" pitchFamily="18" charset="0"/>
            </a:endParaRPr>
          </a:p>
          <a:p>
            <a:r>
              <a:rPr lang="en-US" dirty="0" smtClean="0">
                <a:latin typeface="Goudy Old Style" panose="02020502050305020303" pitchFamily="18" charset="0"/>
              </a:rPr>
              <a:t>Harvard School</a:t>
            </a:r>
          </a:p>
          <a:p>
            <a:pPr>
              <a:buFont typeface="Wingdings" panose="05000000000000000000" pitchFamily="2" charset="2"/>
              <a:buNone/>
            </a:pPr>
            <a:endParaRPr lang="en-US" dirty="0" smtClean="0">
              <a:latin typeface="Goudy Old Style" panose="02020502050305020303" pitchFamily="18" charset="0"/>
            </a:endParaRPr>
          </a:p>
          <a:p>
            <a:r>
              <a:rPr lang="en-US" dirty="0" smtClean="0">
                <a:latin typeface="Goudy Old Style" panose="02020502050305020303" pitchFamily="18" charset="0"/>
              </a:rPr>
              <a:t>The Manchester School</a:t>
            </a:r>
          </a:p>
          <a:p>
            <a:pPr>
              <a:buFont typeface="Wingdings" panose="05000000000000000000" pitchFamily="2" charset="2"/>
              <a:buNone/>
            </a:pPr>
            <a:endParaRPr lang="en-US" dirty="0"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9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52F8-8848-456C-9D79-DC3879B80876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</a:t>
            </a:fld>
            <a:endParaRPr lang="en-I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152400"/>
            <a:ext cx="8229600" cy="1139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Goudy Old Style" panose="02020502050305020303" pitchFamily="18" charset="0"/>
              </a:rPr>
              <a:t>Common Uses</a:t>
            </a:r>
            <a:endParaRPr lang="en-US">
              <a:latin typeface="Goudy Old Style" panose="02020502050305020303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828800" y="1219201"/>
            <a:ext cx="8720918" cy="3598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smtClean="0">
                <a:latin typeface="Goudy Old Style" panose="02020502050305020303" pitchFamily="18" charset="0"/>
              </a:rPr>
              <a:t>Diffusion of Ideas and Diseases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oudy Old Style" panose="02020502050305020303" pitchFamily="18" charset="0"/>
              </a:rPr>
              <a:t>Social Influence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oudy Old Style" panose="02020502050305020303" pitchFamily="18" charset="0"/>
              </a:rPr>
              <a:t>Social Support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oudy Old Style" panose="02020502050305020303" pitchFamily="18" charset="0"/>
              </a:rPr>
              <a:t>Overt and Covert Organizational Structure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oudy Old Style" panose="02020502050305020303" pitchFamily="18" charset="0"/>
              </a:rPr>
              <a:t>Marketing and Management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oudy Old Style" panose="02020502050305020303" pitchFamily="18" charset="0"/>
              </a:rPr>
              <a:t>Social Movements</a:t>
            </a:r>
            <a:endParaRPr lang="en-US" dirty="0"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90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F85-BC2D-4700-85BE-6E508E1EDE50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4</a:t>
            </a:fld>
            <a:endParaRPr lang="en-I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62168" y="619007"/>
            <a:ext cx="8229600" cy="1139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Goudy Old Style" panose="02020502050305020303" pitchFamily="18" charset="0"/>
              </a:rPr>
              <a:t>Reading a Social Networks Graph</a:t>
            </a:r>
            <a:endParaRPr lang="en-US">
              <a:latin typeface="Goudy Old Style" panose="02020502050305020303" pitchFamily="18" charset="0"/>
            </a:endParaRPr>
          </a:p>
        </p:txBody>
      </p:sp>
      <p:pic>
        <p:nvPicPr>
          <p:cNvPr id="6" name="Picture 4" descr="nodesandpat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3168" y="2865319"/>
            <a:ext cx="7620000" cy="22939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1024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6500-9C9C-4540-B091-32328598341F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5</a:t>
            </a:fld>
            <a:endParaRPr lang="en-IN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457200" y="277813"/>
            <a:ext cx="4965511" cy="1139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oudy Old Style" panose="02020502050305020303" pitchFamily="18" charset="0"/>
              </a:rPr>
              <a:t>A Simple Network(?)</a:t>
            </a:r>
            <a:endParaRPr lang="en-US" dirty="0">
              <a:latin typeface="Goudy Old Style" panose="02020502050305020303" pitchFamily="18" charset="0"/>
            </a:endParaRPr>
          </a:p>
        </p:txBody>
      </p:sp>
      <p:pic>
        <p:nvPicPr>
          <p:cNvPr id="6" name="Picture 4" descr="simple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67869" y="847725"/>
            <a:ext cx="4806950" cy="5105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249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B93B-A1C1-4457-BF5B-B719353CA8FB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6</a:t>
            </a:fld>
            <a:endParaRPr lang="en-I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7813"/>
            <a:ext cx="9246358" cy="1139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oudy Old Style" panose="02020502050305020303" pitchFamily="18" charset="0"/>
              </a:rPr>
              <a:t>A Social Networks Data Matrix</a:t>
            </a:r>
            <a:br>
              <a:rPr lang="en-US" dirty="0" smtClean="0">
                <a:latin typeface="Goudy Old Style" panose="02020502050305020303" pitchFamily="18" charset="0"/>
              </a:rPr>
            </a:br>
            <a:r>
              <a:rPr lang="en-US" sz="2400" dirty="0" smtClean="0">
                <a:latin typeface="Goudy Old Style" panose="02020502050305020303" pitchFamily="18" charset="0"/>
              </a:rPr>
              <a:t>(face-to-face interaction in a class)</a:t>
            </a: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473958" y="1621631"/>
            <a:ext cx="8229600" cy="45307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                               0 1 2 3 4 5 6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1 2 3 4 5 6 7 8 9 1 1 1 1 1 1 1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- - - - - - - - - - - - - - - -  - - -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1  -  0 0 3 0 0 0 0 0 6 0 0 0 0 0 0 0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2  -  0 0 0 6 4 0 0 0 0 0 5 0 0 0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		          3  -  5 0 0 5 3 3 0 0 6 5 0 1 0 4 1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		          4  -  0 6 5 0 5 3 0 0 5 4 6 2 0 0 0 3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		          5  -  0 5 5 4 0 2 0 0 1 5 5 0 5 1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		          6  -  0 0 5 5 5 0 0 0 5 0 0 0 0 3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  7  -  0 1 0 1 0 0 0 0 0 0 0 0 0 0 1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  8  -  0 0 0 0 0 0 0 0 0 3 0 0 0 0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  9  -  5 0 6 5 4 4 0 0 0 5 0 0 0 5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10  -  0 0 5 5 5 0 0 6 5 0 0 2 0 0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11  -  0 6 3 6 4 0 0 0 0 0 0 0 0 0 0 5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12  -  0 0 1 1 0 0 0 0 0 1 0 0 0 0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	                                13  -  0 0 1 1 4 1 0 0 0 0 0 0 0 3 0 0	         			        14  -  0 0 4 0 0 2 0 0 4 1 0 0 3 0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                                      15  -  0 0 0 0 0 0 0 0 0 0 0 0 0 0 0 0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/>
              </a:rPr>
              <a:t> 			        16  -  0 1 0 1 0 0 0 0 0 0 2 0 0 0 0 0</a:t>
            </a:r>
          </a:p>
        </p:txBody>
      </p:sp>
    </p:spTree>
    <p:extLst>
      <p:ext uri="{BB962C8B-B14F-4D97-AF65-F5344CB8AC3E}">
        <p14:creationId xmlns:p14="http://schemas.microsoft.com/office/powerpoint/2010/main" val="297825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F37FE-5D05-4946-AEA4-BFCC81BB82C3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7</a:t>
            </a:fld>
            <a:endParaRPr lang="en-I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oudy Old Style" panose="02020502050305020303" pitchFamily="18" charset="0"/>
              </a:rPr>
              <a:t>University Class Network</a:t>
            </a:r>
            <a:endParaRPr lang="en-US" dirty="0">
              <a:latin typeface="Goudy Old Style" panose="02020502050305020303" pitchFamily="18" charset="0"/>
            </a:endParaRPr>
          </a:p>
        </p:txBody>
      </p:sp>
      <p:pic>
        <p:nvPicPr>
          <p:cNvPr id="6" name="Picture 4" descr="face-to-f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277937"/>
            <a:ext cx="8153400" cy="5443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5536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0C124-520F-409A-9362-13F7D6CDBD24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8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Ties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9928746" cy="493776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Actors are networked to each other through </a:t>
            </a:r>
            <a:r>
              <a:rPr lang="en-US" i="1" dirty="0" smtClean="0"/>
              <a:t>ties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 range and type of ties are broad in nature</a:t>
            </a:r>
          </a:p>
          <a:p>
            <a:r>
              <a:rPr lang="en-US" dirty="0" smtClean="0"/>
              <a:t>E.g. are evaluation of one person by another (friendship, liking, or respect)</a:t>
            </a:r>
          </a:p>
          <a:p>
            <a:r>
              <a:rPr lang="en-US" dirty="0" smtClean="0"/>
              <a:t>Transfers of material resources (business transactions, lending or borrowing things)</a:t>
            </a:r>
          </a:p>
          <a:p>
            <a:r>
              <a:rPr lang="en-US" dirty="0" smtClean="0"/>
              <a:t>Associations or affiliations (jointly attending, belonging to the same social club)</a:t>
            </a:r>
          </a:p>
          <a:p>
            <a:r>
              <a:rPr lang="en-US" dirty="0" err="1" smtClean="0"/>
              <a:t>Behavourial</a:t>
            </a:r>
            <a:r>
              <a:rPr lang="en-US" dirty="0" smtClean="0"/>
              <a:t> interactions (talking together, sending messages)</a:t>
            </a:r>
          </a:p>
          <a:p>
            <a:r>
              <a:rPr lang="en-US" dirty="0" smtClean="0"/>
              <a:t>Movement between places or statuses (migration, social or physical mobility)</a:t>
            </a:r>
          </a:p>
          <a:p>
            <a:r>
              <a:rPr lang="en-US" dirty="0" smtClean="0"/>
              <a:t>Biological relations (kin, family, etc.)</a:t>
            </a:r>
          </a:p>
          <a:p>
            <a:r>
              <a:rPr lang="en-US" dirty="0" smtClean="0"/>
              <a:t>Formal relations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43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F8763-D6C2-4C4B-A2FF-B05D8EF93F6D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9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Dyads 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Tie connects two actors but the tie is the property of the pair and not to any single individual</a:t>
            </a:r>
          </a:p>
          <a:p>
            <a:endParaRPr lang="en-US" smtClean="0"/>
          </a:p>
          <a:p>
            <a:r>
              <a:rPr lang="en-US" smtClean="0"/>
              <a:t>Some analysis take a pair of individuals and their connections (also known as a </a:t>
            </a:r>
            <a:r>
              <a:rPr lang="en-US" i="1" smtClean="0"/>
              <a:t>dyad</a:t>
            </a:r>
            <a:r>
              <a:rPr lang="en-US" smtClean="0"/>
              <a:t>) as the unit of analysis</a:t>
            </a:r>
          </a:p>
          <a:p>
            <a:endParaRPr lang="en-US" smtClean="0"/>
          </a:p>
          <a:p>
            <a:r>
              <a:rPr lang="en-US" smtClean="0"/>
              <a:t>One can observe the possibilities of tie, undirected or directed (which will bring in reciprocity)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6553-1ECD-45CD-9E0D-B07F8C11CA8A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10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Triad 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562600" y="1905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010400" y="1905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324600" y="29718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7" idx="6"/>
            <a:endCxn id="8" idx="2"/>
          </p:cNvCxnSpPr>
          <p:nvPr/>
        </p:nvCxnSpPr>
        <p:spPr>
          <a:xfrm>
            <a:off x="5715000" y="19812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0"/>
            <a:endCxn id="9" idx="7"/>
          </p:cNvCxnSpPr>
          <p:nvPr/>
        </p:nvCxnSpPr>
        <p:spPr>
          <a:xfrm rot="16200000" flipH="1" flipV="1">
            <a:off x="6226082" y="2133600"/>
            <a:ext cx="1089118" cy="631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5"/>
            <a:endCxn id="9" idx="1"/>
          </p:cNvCxnSpPr>
          <p:nvPr/>
        </p:nvCxnSpPr>
        <p:spPr>
          <a:xfrm rot="16200000" flipH="1">
            <a:off x="5540282" y="2187482"/>
            <a:ext cx="959036" cy="654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22518" y="1981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70318" y="1981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384518" y="3048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>
            <a:stCxn id="13" idx="6"/>
            <a:endCxn id="14" idx="2"/>
          </p:cNvCxnSpPr>
          <p:nvPr/>
        </p:nvCxnSpPr>
        <p:spPr>
          <a:xfrm>
            <a:off x="1774918" y="20574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4" idx="0"/>
            <a:endCxn id="15" idx="7"/>
          </p:cNvCxnSpPr>
          <p:nvPr/>
        </p:nvCxnSpPr>
        <p:spPr>
          <a:xfrm rot="16200000" flipH="1" flipV="1">
            <a:off x="2286000" y="2209800"/>
            <a:ext cx="1089118" cy="631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5" idx="1"/>
          </p:cNvCxnSpPr>
          <p:nvPr/>
        </p:nvCxnSpPr>
        <p:spPr>
          <a:xfrm rot="16200000" flipH="1">
            <a:off x="1600200" y="2263682"/>
            <a:ext cx="959036" cy="654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32318" y="3810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80118" y="3810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594318" y="48768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19" idx="6"/>
            <a:endCxn id="20" idx="2"/>
          </p:cNvCxnSpPr>
          <p:nvPr/>
        </p:nvCxnSpPr>
        <p:spPr>
          <a:xfrm>
            <a:off x="3984718" y="38862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20" idx="0"/>
            <a:endCxn id="21" idx="7"/>
          </p:cNvCxnSpPr>
          <p:nvPr/>
        </p:nvCxnSpPr>
        <p:spPr>
          <a:xfrm rot="16200000" flipH="1" flipV="1">
            <a:off x="4495800" y="4038600"/>
            <a:ext cx="1089118" cy="631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5"/>
            <a:endCxn id="21" idx="1"/>
          </p:cNvCxnSpPr>
          <p:nvPr/>
        </p:nvCxnSpPr>
        <p:spPr>
          <a:xfrm rot="16200000" flipH="1">
            <a:off x="3810000" y="4092482"/>
            <a:ext cx="959036" cy="654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9800" y="16764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895600" y="25146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172200" y="1524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781800" y="25146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638800" y="2514600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495800" y="35052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105400" y="4343400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886200" y="4343400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676400" y="25146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92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6A3D-1077-4794-85CC-5A03028623A2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11</a:t>
            </a:fld>
            <a:endParaRPr lang="en-IN"/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503238" y="301625"/>
            <a:ext cx="9070975" cy="1262063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smtClean="0"/>
              <a:t>Centrality</a:t>
            </a:r>
            <a:endParaRPr lang="en-GB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503238" y="1768475"/>
            <a:ext cx="9070975" cy="4989513"/>
          </a:xfrm>
          <a:prstGeom prst="rect">
            <a:avLst/>
          </a:prstGeom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smtClean="0"/>
              <a:t>One of the earliest ideas that the social network analysts pursued is that of centrality of individuals and organizations in their social networks 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smtClean="0"/>
              <a:t>The origins of this is the concept of a </a:t>
            </a:r>
            <a:r>
              <a:rPr lang="en-GB" i="1" smtClean="0"/>
              <a:t>star</a:t>
            </a:r>
            <a:r>
              <a:rPr lang="en-GB" smtClean="0"/>
              <a:t> – the person who is most popular or who is at the centre</a:t>
            </a:r>
            <a:endParaRPr lang="en-GB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4679950" y="4462463"/>
            <a:ext cx="685800" cy="917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4030663" y="4716463"/>
            <a:ext cx="6858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3757613" y="5370513"/>
            <a:ext cx="952500" cy="690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3783013" y="5357813"/>
            <a:ext cx="912812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H="1">
            <a:off x="4654550" y="5146675"/>
            <a:ext cx="955675" cy="250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 flipH="1" flipV="1">
            <a:off x="4681538" y="5395913"/>
            <a:ext cx="704850" cy="665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4572000" y="52578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3886200" y="45720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Oval 11"/>
          <p:cNvSpPr>
            <a:spLocks noChangeArrowheads="1"/>
          </p:cNvSpPr>
          <p:nvPr/>
        </p:nvSpPr>
        <p:spPr bwMode="auto">
          <a:xfrm>
            <a:off x="5257800" y="43434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5486400" y="50292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Oval 13"/>
          <p:cNvSpPr>
            <a:spLocks noChangeArrowheads="1"/>
          </p:cNvSpPr>
          <p:nvPr/>
        </p:nvSpPr>
        <p:spPr bwMode="auto">
          <a:xfrm>
            <a:off x="5257800" y="59436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8" name="Oval 14"/>
          <p:cNvSpPr>
            <a:spLocks noChangeArrowheads="1"/>
          </p:cNvSpPr>
          <p:nvPr/>
        </p:nvSpPr>
        <p:spPr bwMode="auto">
          <a:xfrm>
            <a:off x="3657600" y="59436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9" name="Oval 15"/>
          <p:cNvSpPr>
            <a:spLocks noChangeArrowheads="1"/>
          </p:cNvSpPr>
          <p:nvPr/>
        </p:nvSpPr>
        <p:spPr bwMode="auto">
          <a:xfrm>
            <a:off x="3657600" y="5257800"/>
            <a:ext cx="228600" cy="228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156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D92C-CE6E-4B8C-BD1B-C13F75761030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97" y="853908"/>
            <a:ext cx="7668904" cy="492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3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Structural Hole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4E57-DAFB-4307-B9BF-9453123DDF19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13</a:t>
            </a:fld>
            <a:endParaRPr lang="en-IN"/>
          </a:p>
        </p:txBody>
      </p:sp>
      <p:pic>
        <p:nvPicPr>
          <p:cNvPr id="1026" name="Picture 2" descr="Image result for structural ho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719" y="1464635"/>
            <a:ext cx="6114197" cy="430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65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E0AB8-C387-43DF-B6BA-5E36A3CFCC2A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14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140" y="716506"/>
            <a:ext cx="9025719" cy="507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3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979C-A087-47BA-A0D2-3E6F300EAADD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657" y="541788"/>
            <a:ext cx="7259117" cy="570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3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6BF7-D47B-48AC-A696-D18EEF69D0D2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16</a:t>
            </a:fld>
            <a:endParaRPr lang="en-IN"/>
          </a:p>
        </p:txBody>
      </p:sp>
      <p:pic>
        <p:nvPicPr>
          <p:cNvPr id="9218" name="Picture 2" descr="Image result for social network analysis marke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93" y="1497794"/>
            <a:ext cx="9631846" cy="353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998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Manufacturing Company Case Study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FE7A-F573-42A6-9136-B634B4E6CB7C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291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Company 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Global leader in manufacturing integrated circuits</a:t>
            </a:r>
          </a:p>
          <a:p>
            <a:r>
              <a:rPr lang="en-US" dirty="0" smtClean="0"/>
              <a:t>Customers: Automotive, electronic products, IT</a:t>
            </a:r>
          </a:p>
          <a:p>
            <a:r>
              <a:rPr lang="en-US" dirty="0" smtClean="0"/>
              <a:t>2 plants in Thailand, 6000 employees</a:t>
            </a:r>
          </a:p>
          <a:p>
            <a:r>
              <a:rPr lang="en-US" dirty="0" smtClean="0"/>
              <a:t>Customer Oriented</a:t>
            </a:r>
          </a:p>
          <a:p>
            <a:r>
              <a:rPr lang="en-US" dirty="0" smtClean="0"/>
              <a:t>Focus on Complaint Handling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E664-BE73-42A6-B739-0E9AC1AE4512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798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BDBA-EF40-44E0-B031-36A8B2744EAC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72" y="878645"/>
            <a:ext cx="8761957" cy="483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EE6E-6454-47DA-8690-D8B99396644D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05" y="705702"/>
            <a:ext cx="9154604" cy="47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30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80 percent of complaints have taken longer than the targeted timeframe during the past two years.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an average 15 complaints on the quarterly basis since the last plant </a:t>
            </a:r>
            <a:r>
              <a:rPr lang="en-US" dirty="0" smtClean="0"/>
              <a:t>expansion</a:t>
            </a:r>
          </a:p>
          <a:p>
            <a:r>
              <a:rPr lang="en-US" dirty="0" smtClean="0"/>
              <a:t>Initial </a:t>
            </a:r>
            <a:r>
              <a:rPr lang="en-US" dirty="0"/>
              <a:t>evaluation on the slower than anticipated responses customer complaints points to the ineffectiveness in information sharing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DDE2A-175F-4509-B81E-3D8CCE9F5FA6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23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of SNA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To </a:t>
            </a:r>
            <a:r>
              <a:rPr lang="en-US" dirty="0"/>
              <a:t>examine existing information flows formally and informally within a customer complaint handling </a:t>
            </a:r>
            <a:r>
              <a:rPr lang="en-US" dirty="0" smtClean="0"/>
              <a:t>process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To </a:t>
            </a:r>
            <a:r>
              <a:rPr lang="en-US" dirty="0"/>
              <a:t>identify possible improvement areas to strengthen and improve the effectiveness of this process in the workplace.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6A8E-BBE1-4CDE-A173-D9BFE3FFB0CB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21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B4E13-B63A-424A-9B65-57D4AC91D700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27" y="984913"/>
            <a:ext cx="7160345" cy="44605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740" y="994438"/>
            <a:ext cx="1319356" cy="44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3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282-3C87-4D48-83B5-87D9812126AD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24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4" y="316812"/>
            <a:ext cx="6451820" cy="3995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64" y="4602565"/>
            <a:ext cx="7135334" cy="125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18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6BD2-6512-432F-9FE5-44F346BBB96B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403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10BB-8B4D-463D-9CC4-4D1CBCEC0360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26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22" y="618343"/>
            <a:ext cx="7471368" cy="511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20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D1EE-5665-4838-913A-49714726D52C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27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17" y="502195"/>
            <a:ext cx="8188373" cy="539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5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D06E6-4284-4B57-8AA0-D98377FC14AE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28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792" y="542214"/>
            <a:ext cx="8116722" cy="534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71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Cast Study 2 - </a:t>
            </a:r>
            <a:r>
              <a:rPr lang="en-IN" dirty="0" err="1" smtClean="0"/>
              <a:t>Alphexo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E91AB-C068-4A9C-BE69-5995366AC901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294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err="1" smtClean="0"/>
              <a:t>Alphexo</a:t>
            </a:r>
            <a:r>
              <a:rPr lang="en-IN" dirty="0" smtClean="0"/>
              <a:t> was a major telecom manufacturing company</a:t>
            </a:r>
          </a:p>
          <a:p>
            <a:r>
              <a:rPr lang="en-IN" dirty="0" smtClean="0"/>
              <a:t>They implemented logistics related environmental, health and safety (EHS) initiative</a:t>
            </a:r>
          </a:p>
          <a:p>
            <a:r>
              <a:rPr lang="en-IN" dirty="0" err="1"/>
              <a:t>Alphexo</a:t>
            </a:r>
            <a:r>
              <a:rPr lang="en-IN" dirty="0"/>
              <a:t> had an extremely large </a:t>
            </a:r>
            <a:r>
              <a:rPr lang="en-IN" dirty="0" smtClean="0"/>
              <a:t>number of </a:t>
            </a:r>
            <a:r>
              <a:rPr lang="en-IN" dirty="0"/>
              <a:t>injuries at its distribution </a:t>
            </a:r>
            <a:r>
              <a:rPr lang="en-IN" dirty="0" err="1" smtClean="0"/>
              <a:t>center</a:t>
            </a:r>
            <a:r>
              <a:rPr lang="en-IN" dirty="0" smtClean="0"/>
              <a:t> </a:t>
            </a:r>
            <a:r>
              <a:rPr lang="en-IN" dirty="0" smtClean="0">
                <a:sym typeface="Wingdings" panose="05000000000000000000" pitchFamily="2" charset="2"/>
              </a:rPr>
              <a:t> </a:t>
            </a:r>
            <a:r>
              <a:rPr lang="en-IN" dirty="0"/>
              <a:t>due to problems in supplier </a:t>
            </a:r>
            <a:r>
              <a:rPr lang="en-IN" dirty="0" smtClean="0"/>
              <a:t>palletizing. </a:t>
            </a:r>
            <a:r>
              <a:rPr lang="en-IN" dirty="0"/>
              <a:t>Suppliers used out-of-specification </a:t>
            </a:r>
            <a:r>
              <a:rPr lang="en-IN" dirty="0" smtClean="0"/>
              <a:t>pallets that </a:t>
            </a:r>
            <a:r>
              <a:rPr lang="en-IN" dirty="0"/>
              <a:t>caused injury due to poor quality and </a:t>
            </a:r>
            <a:r>
              <a:rPr lang="en-IN" dirty="0" smtClean="0"/>
              <a:t>breakage</a:t>
            </a:r>
          </a:p>
          <a:p>
            <a:r>
              <a:rPr lang="en-IN" dirty="0" smtClean="0"/>
              <a:t>Injuries during pallet disposing, working around pallets and in re-</a:t>
            </a:r>
            <a:r>
              <a:rPr lang="en-IN" dirty="0" err="1" smtClean="0"/>
              <a:t>palleitizing</a:t>
            </a:r>
            <a:r>
              <a:rPr lang="en-IN" dirty="0" smtClean="0"/>
              <a:t> process</a:t>
            </a:r>
          </a:p>
          <a:p>
            <a:r>
              <a:rPr lang="en-IN" dirty="0" smtClean="0"/>
              <a:t>This has environmental issues as </a:t>
            </a:r>
            <a:r>
              <a:rPr lang="en-IN" dirty="0"/>
              <a:t>company needed to pay for </a:t>
            </a:r>
            <a:r>
              <a:rPr lang="en-IN" dirty="0" smtClean="0"/>
              <a:t>disposal of </a:t>
            </a:r>
            <a:r>
              <a:rPr lang="en-IN" dirty="0"/>
              <a:t>the pallets and purchase additional pallets rather than reusing inbound pallets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i="1" dirty="0" smtClean="0"/>
              <a:t>Create a ER system</a:t>
            </a:r>
          </a:p>
          <a:p>
            <a:r>
              <a:rPr lang="en-IN" i="1" dirty="0"/>
              <a:t>R</a:t>
            </a:r>
            <a:r>
              <a:rPr lang="en-IN" i="1" dirty="0" smtClean="0"/>
              <a:t>eal time reporting </a:t>
            </a:r>
            <a:r>
              <a:rPr lang="en-IN" i="1" dirty="0"/>
              <a:t>to both </a:t>
            </a:r>
            <a:r>
              <a:rPr lang="en-IN" i="1" dirty="0" err="1"/>
              <a:t>Alphexo</a:t>
            </a:r>
            <a:r>
              <a:rPr lang="en-IN" i="1" dirty="0"/>
              <a:t> </a:t>
            </a:r>
            <a:r>
              <a:rPr lang="en-IN" i="1" dirty="0" smtClean="0"/>
              <a:t>and </a:t>
            </a:r>
            <a:r>
              <a:rPr lang="en-IN" i="1" dirty="0"/>
              <a:t>its suppliers </a:t>
            </a:r>
            <a:r>
              <a:rPr lang="en-IN" i="1" dirty="0" smtClean="0"/>
              <a:t>- discrepancies </a:t>
            </a:r>
            <a:r>
              <a:rPr lang="en-IN" i="1" dirty="0"/>
              <a:t>with inbound </a:t>
            </a:r>
            <a:r>
              <a:rPr lang="en-IN" i="1" dirty="0" smtClean="0"/>
              <a:t>deliveries</a:t>
            </a:r>
          </a:p>
          <a:p>
            <a:r>
              <a:rPr lang="en-IN" i="1" dirty="0"/>
              <a:t>In order to better track supplier performance and communicate supplier quality issues, such </a:t>
            </a:r>
            <a:r>
              <a:rPr lang="en-IN" i="1" dirty="0" smtClean="0"/>
              <a:t>as out-of-specification </a:t>
            </a:r>
            <a:r>
              <a:rPr lang="en-IN" i="1" dirty="0"/>
              <a:t>pallets, the ER system was proposed as a solution</a:t>
            </a:r>
            <a:endParaRPr lang="en-IN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FC4B-670A-45BB-89BE-12F3BFFAE0DA}" type="datetime1">
              <a:rPr lang="en-IN" smtClean="0"/>
              <a:t>20-03-2020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188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284D1-5C92-44BB-AAEA-5ED06DD2FD66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31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462" y="478241"/>
            <a:ext cx="55530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59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8CB94-5228-4D62-9C3E-D0FDDC26023D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246" y="297052"/>
            <a:ext cx="8541508" cy="593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35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0B6B-3EB3-4C94-AB80-27D27E376752}" type="datetime1">
              <a:rPr lang="en-IN" smtClean="0"/>
              <a:t>20-03-2020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969" y="905158"/>
            <a:ext cx="7842487" cy="489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6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29452"/>
            <a:ext cx="10515600" cy="1325563"/>
          </a:xfrm>
        </p:spPr>
        <p:txBody>
          <a:bodyPr/>
          <a:lstStyle/>
          <a:p>
            <a:pPr algn="ctr"/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A7D72-D475-4212-AE4E-98979355031B}" type="datetime1">
              <a:rPr lang="en-IN" smtClean="0"/>
              <a:t>20-03-2020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7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618</Words>
  <Application>Microsoft Office PowerPoint</Application>
  <PresentationFormat>Widescreen</PresentationFormat>
  <Paragraphs>167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Goudy Old Style</vt:lpstr>
      <vt:lpstr>Verdana</vt:lpstr>
      <vt:lpstr>Wingdings</vt:lpstr>
      <vt:lpstr>Office Theme</vt:lpstr>
      <vt:lpstr>Social Network Analysis for Marketing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Structural Hole</vt:lpstr>
      <vt:lpstr>PowerPoint Presentation</vt:lpstr>
      <vt:lpstr>PowerPoint Presentation</vt:lpstr>
      <vt:lpstr>PowerPoint Presentation</vt:lpstr>
      <vt:lpstr>A Manufacturing Company Case Study</vt:lpstr>
      <vt:lpstr>Company Background</vt:lpstr>
      <vt:lpstr>PowerPoint Presentation</vt:lpstr>
      <vt:lpstr>PowerPoint Presentation</vt:lpstr>
      <vt:lpstr>Problem??</vt:lpstr>
      <vt:lpstr>Objective of SNA Study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Cast Study 2 - Alphexo</vt:lpstr>
      <vt:lpstr>Problem Statement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Relationship Management: The Strategic Imperative</dc:title>
  <dc:creator>IMI-KOLKATA</dc:creator>
  <cp:lastModifiedBy>laptop</cp:lastModifiedBy>
  <cp:revision>114</cp:revision>
  <dcterms:created xsi:type="dcterms:W3CDTF">2017-06-10T05:46:49Z</dcterms:created>
  <dcterms:modified xsi:type="dcterms:W3CDTF">2020-03-20T14:18:37Z</dcterms:modified>
</cp:coreProperties>
</file>