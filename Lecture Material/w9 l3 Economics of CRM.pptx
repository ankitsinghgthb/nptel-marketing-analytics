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8314CA-409A-4D65-9BCF-880A6FB27C61}" type="doc">
      <dgm:prSet loTypeId="urn:microsoft.com/office/officeart/2005/8/layout/radial3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08E4764-10A3-4D0C-A7BF-750712407451}">
      <dgm:prSet phldrT="[Text]"/>
      <dgm:spPr/>
      <dgm:t>
        <a:bodyPr/>
        <a:lstStyle/>
        <a:p>
          <a:r>
            <a:rPr lang="en-US" dirty="0" smtClean="0"/>
            <a:t>CLV</a:t>
          </a:r>
          <a:endParaRPr lang="en-US" dirty="0"/>
        </a:p>
      </dgm:t>
    </dgm:pt>
    <dgm:pt modelId="{1025AAC4-4765-4C59-8F08-A3925B1B49C5}" type="parTrans" cxnId="{5204646D-E7EA-4F0C-800F-36443C1EF092}">
      <dgm:prSet/>
      <dgm:spPr/>
      <dgm:t>
        <a:bodyPr/>
        <a:lstStyle/>
        <a:p>
          <a:endParaRPr lang="en-US"/>
        </a:p>
      </dgm:t>
    </dgm:pt>
    <dgm:pt modelId="{342EE1B9-FF95-4F5D-8546-237A3085EB6B}" type="sibTrans" cxnId="{5204646D-E7EA-4F0C-800F-36443C1EF092}">
      <dgm:prSet/>
      <dgm:spPr/>
      <dgm:t>
        <a:bodyPr/>
        <a:lstStyle/>
        <a:p>
          <a:endParaRPr lang="en-US"/>
        </a:p>
      </dgm:t>
    </dgm:pt>
    <dgm:pt modelId="{7B986BBC-ED5C-47A0-8B19-34BE4C14A46F}">
      <dgm:prSet phldrT="[Text]"/>
      <dgm:spPr/>
      <dgm:t>
        <a:bodyPr/>
        <a:lstStyle/>
        <a:p>
          <a:r>
            <a:rPr lang="en-US" dirty="0" smtClean="0"/>
            <a:t>Lifetime</a:t>
          </a:r>
          <a:endParaRPr lang="en-US" dirty="0"/>
        </a:p>
      </dgm:t>
    </dgm:pt>
    <dgm:pt modelId="{23CCBBE8-A55C-43EA-B26B-56737B3627FC}" type="parTrans" cxnId="{0D19E357-D772-45E4-BBCE-AE1FE8C1DE07}">
      <dgm:prSet/>
      <dgm:spPr/>
      <dgm:t>
        <a:bodyPr/>
        <a:lstStyle/>
        <a:p>
          <a:endParaRPr lang="en-US"/>
        </a:p>
      </dgm:t>
    </dgm:pt>
    <dgm:pt modelId="{1ACCBB9F-7CCE-42DB-81FC-FE95B990EA60}" type="sibTrans" cxnId="{0D19E357-D772-45E4-BBCE-AE1FE8C1DE07}">
      <dgm:prSet/>
      <dgm:spPr/>
      <dgm:t>
        <a:bodyPr/>
        <a:lstStyle/>
        <a:p>
          <a:endParaRPr lang="en-US"/>
        </a:p>
      </dgm:t>
    </dgm:pt>
    <dgm:pt modelId="{7132B905-8226-4904-8D99-5AA09FBA5CE2}">
      <dgm:prSet phldrT="[Text]"/>
      <dgm:spPr/>
      <dgm:t>
        <a:bodyPr/>
        <a:lstStyle/>
        <a:p>
          <a:r>
            <a:rPr lang="en-US" dirty="0" smtClean="0"/>
            <a:t>Average Rev per year</a:t>
          </a:r>
          <a:endParaRPr lang="en-US" dirty="0"/>
        </a:p>
      </dgm:t>
    </dgm:pt>
    <dgm:pt modelId="{8972878A-70CB-40EB-8707-EBB03E70AA3A}" type="parTrans" cxnId="{917E024C-906A-4EDF-A26F-4666B06D5E24}">
      <dgm:prSet/>
      <dgm:spPr/>
      <dgm:t>
        <a:bodyPr/>
        <a:lstStyle/>
        <a:p>
          <a:endParaRPr lang="en-US"/>
        </a:p>
      </dgm:t>
    </dgm:pt>
    <dgm:pt modelId="{6703018F-F8F1-4896-AAE0-2E3DA58F5293}" type="sibTrans" cxnId="{917E024C-906A-4EDF-A26F-4666B06D5E24}">
      <dgm:prSet/>
      <dgm:spPr/>
      <dgm:t>
        <a:bodyPr/>
        <a:lstStyle/>
        <a:p>
          <a:endParaRPr lang="en-US"/>
        </a:p>
      </dgm:t>
    </dgm:pt>
    <dgm:pt modelId="{86CC714F-A117-4009-8465-2A50A3BAF6EB}">
      <dgm:prSet phldrT="[Text]"/>
      <dgm:spPr/>
      <dgm:t>
        <a:bodyPr/>
        <a:lstStyle/>
        <a:p>
          <a:r>
            <a:rPr lang="en-US" dirty="0" smtClean="0"/>
            <a:t>Additional sales and service</a:t>
          </a:r>
          <a:endParaRPr lang="en-US" dirty="0"/>
        </a:p>
      </dgm:t>
    </dgm:pt>
    <dgm:pt modelId="{769A8BCE-EFB9-4E65-B3DC-20C808683EF4}" type="parTrans" cxnId="{16A6B43D-FABF-47EB-875D-EFD86B3781BC}">
      <dgm:prSet/>
      <dgm:spPr/>
      <dgm:t>
        <a:bodyPr/>
        <a:lstStyle/>
        <a:p>
          <a:endParaRPr lang="en-US"/>
        </a:p>
      </dgm:t>
    </dgm:pt>
    <dgm:pt modelId="{3458A52E-30A7-4182-8DCB-838980F3A324}" type="sibTrans" cxnId="{16A6B43D-FABF-47EB-875D-EFD86B3781BC}">
      <dgm:prSet/>
      <dgm:spPr/>
      <dgm:t>
        <a:bodyPr/>
        <a:lstStyle/>
        <a:p>
          <a:endParaRPr lang="en-US"/>
        </a:p>
      </dgm:t>
    </dgm:pt>
    <dgm:pt modelId="{59C5DBEA-638A-4494-A4AE-F225FB0EFBA0}">
      <dgm:prSet phldrT="[Text]"/>
      <dgm:spPr/>
      <dgm:t>
        <a:bodyPr/>
        <a:lstStyle/>
        <a:p>
          <a:r>
            <a:rPr lang="en-US" dirty="0" smtClean="0"/>
            <a:t>Referrals generated</a:t>
          </a:r>
          <a:endParaRPr lang="en-US" dirty="0"/>
        </a:p>
      </dgm:t>
    </dgm:pt>
    <dgm:pt modelId="{60AB4B6C-75D3-4341-8CB5-B7234CC928DD}" type="parTrans" cxnId="{1EA69760-8BA7-417D-8424-51CF611655F6}">
      <dgm:prSet/>
      <dgm:spPr/>
      <dgm:t>
        <a:bodyPr/>
        <a:lstStyle/>
        <a:p>
          <a:endParaRPr lang="en-US"/>
        </a:p>
      </dgm:t>
    </dgm:pt>
    <dgm:pt modelId="{A0A02AA2-4AF4-47C8-82AB-E8FB84470DA6}" type="sibTrans" cxnId="{1EA69760-8BA7-417D-8424-51CF611655F6}">
      <dgm:prSet/>
      <dgm:spPr/>
      <dgm:t>
        <a:bodyPr/>
        <a:lstStyle/>
        <a:p>
          <a:endParaRPr lang="en-US"/>
        </a:p>
      </dgm:t>
    </dgm:pt>
    <dgm:pt modelId="{63862436-CBE1-4751-917B-C06DB93FAFA6}" type="pres">
      <dgm:prSet presAssocID="{928314CA-409A-4D65-9BCF-880A6FB27C61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B4DC30A5-97B0-4D82-BFBF-1FBD8C55459C}" type="pres">
      <dgm:prSet presAssocID="{928314CA-409A-4D65-9BCF-880A6FB27C61}" presName="radial" presStyleCnt="0">
        <dgm:presLayoutVars>
          <dgm:animLvl val="ctr"/>
        </dgm:presLayoutVars>
      </dgm:prSet>
      <dgm:spPr/>
    </dgm:pt>
    <dgm:pt modelId="{75D3C62B-D35D-483A-A3CF-A2325B1257BF}" type="pres">
      <dgm:prSet presAssocID="{A08E4764-10A3-4D0C-A7BF-750712407451}" presName="centerShape" presStyleLbl="vennNode1" presStyleIdx="0" presStyleCnt="5"/>
      <dgm:spPr/>
      <dgm:t>
        <a:bodyPr/>
        <a:lstStyle/>
        <a:p>
          <a:endParaRPr lang="en-IN"/>
        </a:p>
      </dgm:t>
    </dgm:pt>
    <dgm:pt modelId="{2C75C541-EFE8-4219-903F-58D845A600A6}" type="pres">
      <dgm:prSet presAssocID="{7B986BBC-ED5C-47A0-8B19-34BE4C14A46F}" presName="node" presStyleLbl="venn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2EE5D30-36EF-4C63-81DC-408FB1FF2E01}" type="pres">
      <dgm:prSet presAssocID="{7132B905-8226-4904-8D99-5AA09FBA5CE2}" presName="node" presStyleLbl="venn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1B2ADC2-C31F-44D9-BD32-401246D1815E}" type="pres">
      <dgm:prSet presAssocID="{86CC714F-A117-4009-8465-2A50A3BAF6EB}" presName="node" presStyleLbl="venn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8664749-1826-446B-84BF-E29F555E22DA}" type="pres">
      <dgm:prSet presAssocID="{59C5DBEA-638A-4494-A4AE-F225FB0EFBA0}" presName="node" presStyleLbl="venn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5204646D-E7EA-4F0C-800F-36443C1EF092}" srcId="{928314CA-409A-4D65-9BCF-880A6FB27C61}" destId="{A08E4764-10A3-4D0C-A7BF-750712407451}" srcOrd="0" destOrd="0" parTransId="{1025AAC4-4765-4C59-8F08-A3925B1B49C5}" sibTransId="{342EE1B9-FF95-4F5D-8546-237A3085EB6B}"/>
    <dgm:cxn modelId="{94AF0A76-183F-48CF-9279-6CC5C2DE9F94}" type="presOf" srcId="{A08E4764-10A3-4D0C-A7BF-750712407451}" destId="{75D3C62B-D35D-483A-A3CF-A2325B1257BF}" srcOrd="0" destOrd="0" presId="urn:microsoft.com/office/officeart/2005/8/layout/radial3"/>
    <dgm:cxn modelId="{1EA69760-8BA7-417D-8424-51CF611655F6}" srcId="{A08E4764-10A3-4D0C-A7BF-750712407451}" destId="{59C5DBEA-638A-4494-A4AE-F225FB0EFBA0}" srcOrd="3" destOrd="0" parTransId="{60AB4B6C-75D3-4341-8CB5-B7234CC928DD}" sibTransId="{A0A02AA2-4AF4-47C8-82AB-E8FB84470DA6}"/>
    <dgm:cxn modelId="{A49EB413-F6D3-4BA6-895F-980498C3029E}" type="presOf" srcId="{86CC714F-A117-4009-8465-2A50A3BAF6EB}" destId="{D1B2ADC2-C31F-44D9-BD32-401246D1815E}" srcOrd="0" destOrd="0" presId="urn:microsoft.com/office/officeart/2005/8/layout/radial3"/>
    <dgm:cxn modelId="{0D19E357-D772-45E4-BBCE-AE1FE8C1DE07}" srcId="{A08E4764-10A3-4D0C-A7BF-750712407451}" destId="{7B986BBC-ED5C-47A0-8B19-34BE4C14A46F}" srcOrd="0" destOrd="0" parTransId="{23CCBBE8-A55C-43EA-B26B-56737B3627FC}" sibTransId="{1ACCBB9F-7CCE-42DB-81FC-FE95B990EA60}"/>
    <dgm:cxn modelId="{16A6B43D-FABF-47EB-875D-EFD86B3781BC}" srcId="{A08E4764-10A3-4D0C-A7BF-750712407451}" destId="{86CC714F-A117-4009-8465-2A50A3BAF6EB}" srcOrd="2" destOrd="0" parTransId="{769A8BCE-EFB9-4E65-B3DC-20C808683EF4}" sibTransId="{3458A52E-30A7-4182-8DCB-838980F3A324}"/>
    <dgm:cxn modelId="{917E024C-906A-4EDF-A26F-4666B06D5E24}" srcId="{A08E4764-10A3-4D0C-A7BF-750712407451}" destId="{7132B905-8226-4904-8D99-5AA09FBA5CE2}" srcOrd="1" destOrd="0" parTransId="{8972878A-70CB-40EB-8707-EBB03E70AA3A}" sibTransId="{6703018F-F8F1-4896-AAE0-2E3DA58F5293}"/>
    <dgm:cxn modelId="{375F29A6-B1E8-406A-9534-AB1726C8A7CC}" type="presOf" srcId="{7B986BBC-ED5C-47A0-8B19-34BE4C14A46F}" destId="{2C75C541-EFE8-4219-903F-58D845A600A6}" srcOrd="0" destOrd="0" presId="urn:microsoft.com/office/officeart/2005/8/layout/radial3"/>
    <dgm:cxn modelId="{1CF87181-FD68-409D-832E-B8D59F2382CE}" type="presOf" srcId="{7132B905-8226-4904-8D99-5AA09FBA5CE2}" destId="{F2EE5D30-36EF-4C63-81DC-408FB1FF2E01}" srcOrd="0" destOrd="0" presId="urn:microsoft.com/office/officeart/2005/8/layout/radial3"/>
    <dgm:cxn modelId="{71CD164D-63A4-475F-B84E-956AA6217FB8}" type="presOf" srcId="{59C5DBEA-638A-4494-A4AE-F225FB0EFBA0}" destId="{78664749-1826-446B-84BF-E29F555E22DA}" srcOrd="0" destOrd="0" presId="urn:microsoft.com/office/officeart/2005/8/layout/radial3"/>
    <dgm:cxn modelId="{8651BC01-9961-4AFA-A682-1CA1DEE252B5}" type="presOf" srcId="{928314CA-409A-4D65-9BCF-880A6FB27C61}" destId="{63862436-CBE1-4751-917B-C06DB93FAFA6}" srcOrd="0" destOrd="0" presId="urn:microsoft.com/office/officeart/2005/8/layout/radial3"/>
    <dgm:cxn modelId="{542E0770-DAA1-41F7-8EED-43521861CFF3}" type="presParOf" srcId="{63862436-CBE1-4751-917B-C06DB93FAFA6}" destId="{B4DC30A5-97B0-4D82-BFBF-1FBD8C55459C}" srcOrd="0" destOrd="0" presId="urn:microsoft.com/office/officeart/2005/8/layout/radial3"/>
    <dgm:cxn modelId="{F4147B05-24B2-4760-BC25-2E32BF082A98}" type="presParOf" srcId="{B4DC30A5-97B0-4D82-BFBF-1FBD8C55459C}" destId="{75D3C62B-D35D-483A-A3CF-A2325B1257BF}" srcOrd="0" destOrd="0" presId="urn:microsoft.com/office/officeart/2005/8/layout/radial3"/>
    <dgm:cxn modelId="{DEA1CC47-C725-4433-9FB8-7C3E78FBDB91}" type="presParOf" srcId="{B4DC30A5-97B0-4D82-BFBF-1FBD8C55459C}" destId="{2C75C541-EFE8-4219-903F-58D845A600A6}" srcOrd="1" destOrd="0" presId="urn:microsoft.com/office/officeart/2005/8/layout/radial3"/>
    <dgm:cxn modelId="{FB864B19-5711-4C19-BB99-A2994EBA572A}" type="presParOf" srcId="{B4DC30A5-97B0-4D82-BFBF-1FBD8C55459C}" destId="{F2EE5D30-36EF-4C63-81DC-408FB1FF2E01}" srcOrd="2" destOrd="0" presId="urn:microsoft.com/office/officeart/2005/8/layout/radial3"/>
    <dgm:cxn modelId="{68DF8CAE-1DCC-4AF5-ADDA-4A501486C875}" type="presParOf" srcId="{B4DC30A5-97B0-4D82-BFBF-1FBD8C55459C}" destId="{D1B2ADC2-C31F-44D9-BD32-401246D1815E}" srcOrd="3" destOrd="0" presId="urn:microsoft.com/office/officeart/2005/8/layout/radial3"/>
    <dgm:cxn modelId="{71FAD6A0-8D55-4F08-A8AD-90E659C68B80}" type="presParOf" srcId="{B4DC30A5-97B0-4D82-BFBF-1FBD8C55459C}" destId="{78664749-1826-446B-84BF-E29F555E22DA}" srcOrd="4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FA007-337A-493C-A177-1A884AEB5A23}" type="datetimeFigureOut">
              <a:rPr lang="en-IN" smtClean="0"/>
              <a:t>03-02-2020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94F0F9-D51A-4851-8133-2769E64814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41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C3C63-B7ED-4BD9-BAA1-E4CB7B8631BC}" type="datetime1">
              <a:rPr lang="en-IN" smtClean="0"/>
              <a:t>03-02-2020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023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D679-C3B7-4DB2-996C-6613EB0ECE68}" type="datetime1">
              <a:rPr lang="en-IN" smtClean="0"/>
              <a:t>03-02-2020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980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442DD-3611-4631-BA94-786287D746CB}" type="datetime1">
              <a:rPr lang="en-IN" smtClean="0"/>
              <a:t>03-02-2020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71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661B7-C5D6-4C7D-B5D1-11E662B2238E}" type="datetime1">
              <a:rPr lang="en-IN" smtClean="0"/>
              <a:t>03-02-2020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765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9A44F-C2FB-4FD7-9B3A-3BDB03DDBCA1}" type="datetime1">
              <a:rPr lang="en-IN" smtClean="0"/>
              <a:t>03-02-2020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705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5981-7842-40E1-B9FE-71EA570B9FE1}" type="datetime1">
              <a:rPr lang="en-IN" smtClean="0"/>
              <a:t>03-02-2020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050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8FD7-BABB-4B31-998C-447E35F659D0}" type="datetime1">
              <a:rPr lang="en-IN" smtClean="0"/>
              <a:t>03-02-2020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801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072C2-453E-4D1C-8550-7F957E7F73DF}" type="datetime1">
              <a:rPr lang="en-IN" smtClean="0"/>
              <a:t>03-02-2020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467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B388F-0074-4786-B841-D900476443F5}" type="datetime1">
              <a:rPr lang="en-IN" smtClean="0"/>
              <a:t>03-02-2020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365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2F5B-C46B-487A-B355-8163F9779CC2}" type="datetime1">
              <a:rPr lang="en-IN" smtClean="0"/>
              <a:t>03-02-2020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717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1B24B-0631-4148-8D8D-6553E311DCF0}" type="datetime1">
              <a:rPr lang="en-IN" smtClean="0"/>
              <a:t>03-02-2020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646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D8E88-11F8-484E-BAE6-2BF58F5A3864}" type="datetime1">
              <a:rPr lang="en-IN" smtClean="0"/>
              <a:t>03-02-2020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1FBCD-F0B4-47EB-B595-40D729AD42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687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Economics of CRM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700588"/>
            <a:ext cx="9144000" cy="1655762"/>
          </a:xfrm>
        </p:spPr>
        <p:txBody>
          <a:bodyPr/>
          <a:lstStyle/>
          <a:p>
            <a:r>
              <a:rPr lang="en-IN" dirty="0" err="1" smtClean="0"/>
              <a:t>Dr.</a:t>
            </a:r>
            <a:r>
              <a:rPr lang="en-IN" dirty="0" smtClean="0"/>
              <a:t> </a:t>
            </a:r>
            <a:r>
              <a:rPr lang="en-IN" dirty="0" err="1" smtClean="0"/>
              <a:t>Swagato</a:t>
            </a:r>
            <a:r>
              <a:rPr lang="en-IN" dirty="0" smtClean="0"/>
              <a:t> </a:t>
            </a:r>
            <a:r>
              <a:rPr lang="en-IN" dirty="0" smtClean="0"/>
              <a:t>Chatterjee</a:t>
            </a:r>
          </a:p>
          <a:p>
            <a:r>
              <a:rPr lang="en-IN" dirty="0" smtClean="0"/>
              <a:t>VGSOM IITKGP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AE38-F329-4BD4-9572-B329B7667C2A}" type="datetime1">
              <a:rPr lang="en-IN" smtClean="0"/>
              <a:t>03-02-2020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2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8FD7-BABB-4B31-998C-447E35F659D0}" type="datetime1">
              <a:rPr lang="en-IN" smtClean="0"/>
              <a:t>03-02-2020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2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62902"/>
            <a:ext cx="6019800" cy="3571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0" y="643802"/>
            <a:ext cx="4448175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643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8FD7-BABB-4B31-998C-447E35F659D0}" type="datetime1">
              <a:rPr lang="en-IN" smtClean="0"/>
              <a:t>03-02-2020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3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10" y="132484"/>
            <a:ext cx="7975890" cy="38357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721" y="3812918"/>
            <a:ext cx="4194897" cy="254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105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Customer Lifetime Value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C5981-7842-40E1-B9FE-71EA570B9FE1}" type="datetime1">
              <a:rPr lang="en-IN" smtClean="0"/>
              <a:t>03-02-2020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4</a:t>
            </a:fld>
            <a:endParaRPr lang="en-IN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305849195"/>
              </p:ext>
            </p:extLst>
          </p:nvPr>
        </p:nvGraphicFramePr>
        <p:xfrm>
          <a:off x="2683164" y="1979204"/>
          <a:ext cx="7028872" cy="4088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4326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338FD7-BABB-4B31-998C-447E35F659D0}" type="datetime1">
              <a:rPr lang="en-IN" smtClean="0"/>
              <a:t>03-02-2020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329" y="1122218"/>
            <a:ext cx="6992216" cy="445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Calculate CLV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442DD-3611-4631-BA94-786287D746CB}" type="datetime1">
              <a:rPr lang="en-IN" smtClean="0"/>
              <a:t>03-02-2020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Customer Relationship Management - Prof Swagato Chatterjee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1FBCD-F0B4-47EB-B595-40D729AD422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516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80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Economics of CRM</vt:lpstr>
      <vt:lpstr>PowerPoint Presentation</vt:lpstr>
      <vt:lpstr>PowerPoint Presentation</vt:lpstr>
      <vt:lpstr>Customer Lifetime Value</vt:lpstr>
      <vt:lpstr>PowerPoint Presentation</vt:lpstr>
      <vt:lpstr>Calculate CLV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Relationship Management: The Strategic Imperative</dc:title>
  <dc:creator>IMI-KOLKATA</dc:creator>
  <cp:lastModifiedBy>laptop</cp:lastModifiedBy>
  <cp:revision>34</cp:revision>
  <dcterms:created xsi:type="dcterms:W3CDTF">2017-06-10T05:46:49Z</dcterms:created>
  <dcterms:modified xsi:type="dcterms:W3CDTF">2020-02-03T03:27:13Z</dcterms:modified>
</cp:coreProperties>
</file>