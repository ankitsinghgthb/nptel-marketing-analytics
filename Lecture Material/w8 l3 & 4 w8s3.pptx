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07" r:id="rId3"/>
    <p:sldId id="308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06" r:id="rId49"/>
    <p:sldId id="340" r:id="rId50"/>
    <p:sldId id="341" r:id="rId51"/>
    <p:sldId id="342" r:id="rId52"/>
    <p:sldId id="343" r:id="rId53"/>
    <p:sldId id="344" r:id="rId54"/>
    <p:sldId id="345" r:id="rId55"/>
    <p:sldId id="346" r:id="rId56"/>
    <p:sldId id="347" r:id="rId57"/>
    <p:sldId id="29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1C2C1-0777-43FC-B6C9-8038D8E2929C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618F8-234A-46EB-BF2B-FEB1986FA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37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47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9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14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7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35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91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36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19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26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42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35D2B-F802-45D0-AA29-CBCD031342F7}" type="datetimeFigureOut">
              <a:rPr lang="en-IN" smtClean="0"/>
              <a:t>28-01-2020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77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cs.hw.ac.uk/~dwcorne/Teaching/DMML/DMML4_apriori.ppt" TargetMode="External"/><Relationship Id="rId2" Type="http://schemas.openxmlformats.org/officeDocument/2006/relationships/hyperlink" Target="http://business-files.unl.edu/public/cbainternal/facStaffUploads/KM3MarketBasket.ppt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48" y="0"/>
            <a:ext cx="12251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`Basket data’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9" y="1981200"/>
            <a:ext cx="8713787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mtClean="0"/>
              <a:t>A very common type of data; often also called </a:t>
            </a:r>
            <a:r>
              <a:rPr lang="en-GB" altLang="en-US" i="1" smtClean="0"/>
              <a:t>transaction data</a:t>
            </a:r>
            <a:r>
              <a:rPr lang="en-GB" altLang="en-US" smtClean="0"/>
              <a:t>.</a:t>
            </a:r>
          </a:p>
          <a:p>
            <a:pPr eaLnBrk="1" hangingPunct="1">
              <a:buFontTx/>
              <a:buNone/>
            </a:pPr>
            <a:r>
              <a:rPr lang="en-GB" altLang="en-US" smtClean="0"/>
              <a:t>Next slide shows example </a:t>
            </a:r>
            <a:r>
              <a:rPr lang="en-GB" altLang="en-US" i="1" smtClean="0"/>
              <a:t>transaction database</a:t>
            </a:r>
            <a:r>
              <a:rPr lang="en-GB" altLang="en-US" smtClean="0"/>
              <a:t>, where each record represents a transaction between (usually) a customer and a shop. Each record in a supermarket’s transaction DB, for example, corresponds to a basket of specific items.</a:t>
            </a:r>
          </a:p>
        </p:txBody>
      </p:sp>
    </p:spTree>
    <p:extLst>
      <p:ext uri="{BB962C8B-B14F-4D97-AF65-F5344CB8AC3E}">
        <p14:creationId xmlns:p14="http://schemas.microsoft.com/office/powerpoint/2010/main" val="223879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578" name="Group 2"/>
          <p:cNvGraphicFramePr>
            <a:graphicFrameLocks noGrp="1"/>
          </p:cNvGraphicFramePr>
          <p:nvPr/>
        </p:nvGraphicFramePr>
        <p:xfrm>
          <a:off x="2324100" y="517525"/>
          <a:ext cx="8039100" cy="5513392"/>
        </p:xfrm>
        <a:graphic>
          <a:graphicData uri="http://schemas.openxmlformats.org/drawingml/2006/table">
            <a:tbl>
              <a:tblPr/>
              <a:tblGrid>
                <a:gridCol w="803275"/>
                <a:gridCol w="803275"/>
                <a:gridCol w="806450"/>
                <a:gridCol w="803275"/>
                <a:gridCol w="803275"/>
                <a:gridCol w="803275"/>
                <a:gridCol w="803275"/>
                <a:gridCol w="806450"/>
                <a:gridCol w="803275"/>
                <a:gridCol w="803275"/>
              </a:tblGrid>
              <a:tr h="2873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81" name="Text Box 237"/>
          <p:cNvSpPr txBox="1">
            <a:spLocks noChangeArrowheads="1"/>
          </p:cNvSpPr>
          <p:nvPr/>
        </p:nvSpPr>
        <p:spPr bwMode="auto">
          <a:xfrm>
            <a:off x="2608263" y="44451"/>
            <a:ext cx="7961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/>
              <a:t>ID    apples,  beer,  cheese,  dates,   eggs,    fish,    glue,    honey, </a:t>
            </a:r>
            <a:r>
              <a:rPr lang="en-GB" altLang="en-US" sz="1800" b="1"/>
              <a:t>ice-cream</a:t>
            </a:r>
          </a:p>
        </p:txBody>
      </p:sp>
    </p:spTree>
    <p:extLst>
      <p:ext uri="{BB962C8B-B14F-4D97-AF65-F5344CB8AC3E}">
        <p14:creationId xmlns:p14="http://schemas.microsoft.com/office/powerpoint/2010/main" val="409550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MARKET BASKET ANALYSIS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INPUT: list of purchases by purchaser</a:t>
            </a:r>
          </a:p>
          <a:p>
            <a:pPr lvl="1"/>
            <a:r>
              <a:rPr lang="en-US" altLang="en-US"/>
              <a:t>do not have names</a:t>
            </a:r>
          </a:p>
          <a:p>
            <a:r>
              <a:rPr lang="en-US" altLang="en-US" b="1" i="1">
                <a:solidFill>
                  <a:srgbClr val="008000"/>
                </a:solidFill>
              </a:rPr>
              <a:t>identify purchase patterns</a:t>
            </a:r>
            <a:endParaRPr lang="en-US" altLang="en-US"/>
          </a:p>
          <a:p>
            <a:pPr lvl="1"/>
            <a:r>
              <a:rPr lang="en-US" altLang="en-US"/>
              <a:t>what items tend to be purchased together</a:t>
            </a:r>
          </a:p>
          <a:p>
            <a:pPr lvl="2"/>
            <a:r>
              <a:rPr lang="en-US" altLang="en-US"/>
              <a:t>obvious: steak-potatoes; beer-pretzels</a:t>
            </a:r>
          </a:p>
          <a:p>
            <a:pPr lvl="1"/>
            <a:r>
              <a:rPr lang="en-US" altLang="en-US"/>
              <a:t>what items are purchased sequentially</a:t>
            </a:r>
          </a:p>
          <a:p>
            <a:pPr lvl="2"/>
            <a:r>
              <a:rPr lang="en-US" altLang="en-US"/>
              <a:t>obvious: house-furniture; car-tires</a:t>
            </a:r>
          </a:p>
          <a:p>
            <a:pPr lvl="1"/>
            <a:r>
              <a:rPr lang="en-US" altLang="en-US"/>
              <a:t>what items tend to be purchased by season</a:t>
            </a:r>
          </a:p>
          <a:p>
            <a:pPr lvl="1"/>
            <a:endParaRPr lang="en-US" altLang="en-US"/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7613650" y="2286000"/>
          <a:ext cx="16129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lip" r:id="rId3" imgW="2198160" imgH="2286000" progId="MS_ClipArt_Gallery.2">
                  <p:embed/>
                </p:oleObj>
              </mc:Choice>
              <mc:Fallback>
                <p:oleObj name="Clip" r:id="rId3" imgW="2198160" imgH="22860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286000"/>
                        <a:ext cx="16129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119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Categorize customer purchase behavior</a:t>
            </a:r>
          </a:p>
          <a:p>
            <a:r>
              <a:rPr lang="en-US" altLang="en-US"/>
              <a:t>identify </a:t>
            </a:r>
            <a:r>
              <a:rPr lang="en-US" altLang="en-US" b="1" i="1">
                <a:solidFill>
                  <a:srgbClr val="CC0000"/>
                </a:solidFill>
              </a:rPr>
              <a:t>actionable</a:t>
            </a:r>
            <a:r>
              <a:rPr lang="en-US" altLang="en-US"/>
              <a:t> information</a:t>
            </a:r>
          </a:p>
          <a:p>
            <a:pPr lvl="1"/>
            <a:r>
              <a:rPr lang="en-US" altLang="en-US"/>
              <a:t>purchase profiles</a:t>
            </a:r>
          </a:p>
          <a:p>
            <a:pPr lvl="1"/>
            <a:r>
              <a:rPr lang="en-US" altLang="en-US">
                <a:solidFill>
                  <a:srgbClr val="008000"/>
                </a:solidFill>
              </a:rPr>
              <a:t>profitability of each purchase profile</a:t>
            </a:r>
            <a:endParaRPr lang="en-US" altLang="en-US"/>
          </a:p>
          <a:p>
            <a:pPr lvl="1"/>
            <a:r>
              <a:rPr lang="en-US" altLang="en-US"/>
              <a:t>use for marketing</a:t>
            </a:r>
          </a:p>
          <a:p>
            <a:pPr lvl="2"/>
            <a:r>
              <a:rPr lang="en-US" altLang="en-US"/>
              <a:t>layout or catalogs</a:t>
            </a:r>
          </a:p>
          <a:p>
            <a:pPr lvl="2"/>
            <a:r>
              <a:rPr lang="en-US" altLang="en-US"/>
              <a:t>select products for promotion</a:t>
            </a:r>
          </a:p>
          <a:p>
            <a:pPr lvl="2"/>
            <a:r>
              <a:rPr lang="en-US" altLang="en-US"/>
              <a:t>space allocation, product placement</a:t>
            </a:r>
          </a:p>
        </p:txBody>
      </p:sp>
    </p:spTree>
    <p:extLst>
      <p:ext uri="{BB962C8B-B14F-4D97-AF65-F5344CB8AC3E}">
        <p14:creationId xmlns:p14="http://schemas.microsoft.com/office/powerpoint/2010/main" val="74878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Steve Schmidt - president of ACNielsen-US</a:t>
            </a:r>
          </a:p>
          <a:p>
            <a:r>
              <a:rPr lang="en-US" altLang="en-US" b="1" i="1">
                <a:solidFill>
                  <a:srgbClr val="008000"/>
                </a:solidFill>
              </a:rPr>
              <a:t>Market Basket Benefits</a:t>
            </a:r>
            <a:endParaRPr lang="en-US" altLang="en-US"/>
          </a:p>
          <a:p>
            <a:pPr lvl="1"/>
            <a:r>
              <a:rPr lang="en-US" altLang="en-US"/>
              <a:t>selection of </a:t>
            </a:r>
            <a:r>
              <a:rPr lang="en-US" altLang="en-US">
                <a:solidFill>
                  <a:srgbClr val="008000"/>
                </a:solidFill>
              </a:rPr>
              <a:t>promotions, merchandising strategy</a:t>
            </a:r>
            <a:endParaRPr lang="en-US" altLang="en-US"/>
          </a:p>
          <a:p>
            <a:pPr lvl="2"/>
            <a:r>
              <a:rPr lang="en-US" altLang="en-US"/>
              <a:t>sensitive to price: Italian entrees, pizza, pies, Oriental entrees, orange juice</a:t>
            </a:r>
          </a:p>
          <a:p>
            <a:pPr lvl="1"/>
            <a:r>
              <a:rPr lang="en-US" altLang="en-US"/>
              <a:t>uncover </a:t>
            </a:r>
            <a:r>
              <a:rPr lang="en-US" altLang="en-US">
                <a:solidFill>
                  <a:srgbClr val="008000"/>
                </a:solidFill>
              </a:rPr>
              <a:t>consumer spending patterns</a:t>
            </a:r>
            <a:endParaRPr lang="en-US" altLang="en-US"/>
          </a:p>
          <a:p>
            <a:pPr lvl="2"/>
            <a:r>
              <a:rPr lang="en-US" altLang="en-US"/>
              <a:t>correlations: orange juice &amp; waffles</a:t>
            </a:r>
          </a:p>
          <a:p>
            <a:pPr lvl="1"/>
            <a:r>
              <a:rPr lang="en-US" altLang="en-US">
                <a:solidFill>
                  <a:srgbClr val="008000"/>
                </a:solidFill>
              </a:rPr>
              <a:t>joint promotional opportunities</a:t>
            </a:r>
            <a:endParaRPr lang="en-US" altLang="en-US"/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910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Retail outlets</a:t>
            </a:r>
          </a:p>
          <a:p>
            <a:r>
              <a:rPr lang="en-US" altLang="en-US"/>
              <a:t>Telecommunications</a:t>
            </a:r>
          </a:p>
          <a:p>
            <a:r>
              <a:rPr lang="en-US" altLang="en-US"/>
              <a:t>Banks</a:t>
            </a:r>
          </a:p>
          <a:p>
            <a:r>
              <a:rPr lang="en-US" altLang="en-US"/>
              <a:t>Insurance</a:t>
            </a:r>
          </a:p>
          <a:p>
            <a:pPr lvl="1"/>
            <a:r>
              <a:rPr lang="en-US" altLang="en-US"/>
              <a:t>link analysis for fraud</a:t>
            </a:r>
          </a:p>
          <a:p>
            <a:r>
              <a:rPr lang="en-US" altLang="en-US"/>
              <a:t>Medical</a:t>
            </a:r>
          </a:p>
          <a:p>
            <a:pPr lvl="1"/>
            <a:r>
              <a:rPr lang="en-US" altLang="en-US"/>
              <a:t>symptom analysis</a:t>
            </a:r>
          </a:p>
        </p:txBody>
      </p:sp>
    </p:spTree>
    <p:extLst>
      <p:ext uri="{BB962C8B-B14F-4D97-AF65-F5344CB8AC3E}">
        <p14:creationId xmlns:p14="http://schemas.microsoft.com/office/powerpoint/2010/main" val="374169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Chain Store Age Executive (1995)</a:t>
            </a:r>
          </a:p>
          <a:p>
            <a:pPr>
              <a:buFontTx/>
              <a:buNone/>
            </a:pPr>
            <a:r>
              <a:rPr lang="en-US" altLang="en-US"/>
              <a:t>	1) Associate products by category</a:t>
            </a:r>
          </a:p>
          <a:p>
            <a:pPr>
              <a:buFontTx/>
              <a:buNone/>
            </a:pPr>
            <a:r>
              <a:rPr lang="en-US" altLang="en-US"/>
              <a:t>	2) what % of each category was in each market basket</a:t>
            </a:r>
          </a:p>
          <a:p>
            <a:r>
              <a:rPr lang="en-US" altLang="en-US"/>
              <a:t>Customers shop on personal needs, not on product groupings</a:t>
            </a:r>
          </a:p>
        </p:txBody>
      </p:sp>
    </p:spTree>
    <p:extLst>
      <p:ext uri="{BB962C8B-B14F-4D97-AF65-F5344CB8AC3E}">
        <p14:creationId xmlns:p14="http://schemas.microsoft.com/office/powerpoint/2010/main" val="35197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Possible Market Baskets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Customer 1: beer, pretzels, potato chips, aspirin</a:t>
            </a:r>
          </a:p>
          <a:p>
            <a:pPr>
              <a:buFontTx/>
              <a:buNone/>
            </a:pPr>
            <a:r>
              <a:rPr lang="en-US" altLang="en-US"/>
              <a:t>Customer 2: diapers, baby lotion, grapefruit juice, baby food, milk</a:t>
            </a:r>
          </a:p>
          <a:p>
            <a:pPr>
              <a:buFontTx/>
              <a:buNone/>
            </a:pPr>
            <a:r>
              <a:rPr lang="en-US" altLang="en-US"/>
              <a:t>Customer 3: soda, potato chips, milk</a:t>
            </a:r>
          </a:p>
          <a:p>
            <a:pPr>
              <a:buFontTx/>
              <a:buNone/>
            </a:pPr>
            <a:r>
              <a:rPr lang="en-US" altLang="en-US"/>
              <a:t>Customer 4: soup, beer, milk, ice cream</a:t>
            </a:r>
          </a:p>
          <a:p>
            <a:pPr>
              <a:buFontTx/>
              <a:buNone/>
            </a:pPr>
            <a:r>
              <a:rPr lang="en-US" altLang="en-US"/>
              <a:t>Customer 5: soda, coffee, milk, bread</a:t>
            </a:r>
          </a:p>
          <a:p>
            <a:pPr>
              <a:buFontTx/>
              <a:buNone/>
            </a:pPr>
            <a:r>
              <a:rPr lang="en-US" altLang="en-US"/>
              <a:t>Customer 6: beer, potato chips</a:t>
            </a:r>
          </a:p>
        </p:txBody>
      </p:sp>
    </p:spTree>
    <p:extLst>
      <p:ext uri="{BB962C8B-B14F-4D97-AF65-F5344CB8AC3E}">
        <p14:creationId xmlns:p14="http://schemas.microsoft.com/office/powerpoint/2010/main" val="335306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Co-occurrence Table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				Beer	Pot.	Milk	Diap.	Soda</a:t>
            </a:r>
          </a:p>
          <a:p>
            <a:pPr>
              <a:buFontTx/>
              <a:buNone/>
            </a:pPr>
            <a:r>
              <a:rPr lang="en-US" altLang="en-US"/>
              <a:t>					Chips</a:t>
            </a:r>
          </a:p>
          <a:p>
            <a:pPr>
              <a:buFontTx/>
              <a:buNone/>
            </a:pPr>
            <a:r>
              <a:rPr lang="en-US" altLang="en-US"/>
              <a:t>Beer			3	2	1	0	0</a:t>
            </a:r>
          </a:p>
          <a:p>
            <a:pPr>
              <a:buFontTx/>
              <a:buNone/>
            </a:pPr>
            <a:r>
              <a:rPr lang="en-US" altLang="en-US"/>
              <a:t>Pot. Chips		2	3	1	0	1</a:t>
            </a:r>
          </a:p>
          <a:p>
            <a:pPr>
              <a:buFontTx/>
              <a:buNone/>
            </a:pPr>
            <a:r>
              <a:rPr lang="en-US" altLang="en-US"/>
              <a:t>Milk			1	2	4	1	2</a:t>
            </a:r>
          </a:p>
          <a:p>
            <a:pPr>
              <a:buFontTx/>
              <a:buNone/>
            </a:pPr>
            <a:r>
              <a:rPr lang="en-US" altLang="en-US"/>
              <a:t>Diapers		0	0	1	1	0</a:t>
            </a:r>
          </a:p>
          <a:p>
            <a:pPr>
              <a:buFontTx/>
              <a:buNone/>
            </a:pPr>
            <a:r>
              <a:rPr lang="en-US" altLang="en-US"/>
              <a:t>Soda			0	1	2	0	2</a:t>
            </a:r>
          </a:p>
          <a:p>
            <a:pPr>
              <a:buFontTx/>
              <a:buNone/>
            </a:pPr>
            <a:r>
              <a:rPr lang="en-US" altLang="en-US" sz="2000"/>
              <a:t>beer &amp; potato chips - makes sense	milk &amp; soda - probably noise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68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Purchase Profiles</a:t>
            </a:r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000"/>
              <a:t>beauty conscious		kids’ play		convenience food</a:t>
            </a:r>
          </a:p>
          <a:p>
            <a:pPr>
              <a:buFontTx/>
              <a:buNone/>
            </a:pPr>
            <a:r>
              <a:rPr lang="en-US" altLang="en-US" sz="2000"/>
              <a:t>health conscious		pet lover			women’s fashion</a:t>
            </a:r>
          </a:p>
          <a:p>
            <a:pPr>
              <a:buFontTx/>
              <a:buNone/>
            </a:pPr>
            <a:r>
              <a:rPr lang="en-US" altLang="en-US" sz="2000"/>
              <a:t>sports conscious		gardener			kid’s fashion</a:t>
            </a:r>
          </a:p>
          <a:p>
            <a:pPr>
              <a:buFontTx/>
              <a:buNone/>
            </a:pPr>
            <a:r>
              <a:rPr lang="en-US" altLang="en-US" sz="2000"/>
              <a:t>smoker			automotive		hobbyist</a:t>
            </a:r>
          </a:p>
          <a:p>
            <a:pPr>
              <a:buFontTx/>
              <a:buNone/>
            </a:pPr>
            <a:r>
              <a:rPr lang="en-US" altLang="en-US" sz="2000"/>
              <a:t>casual drinker		photographer		student/home office</a:t>
            </a:r>
          </a:p>
          <a:p>
            <a:pPr>
              <a:buFontTx/>
              <a:buNone/>
            </a:pPr>
            <a:r>
              <a:rPr lang="en-US" altLang="en-US" sz="2000"/>
              <a:t>new family		tv/stereo enthusiast	illness (prescription)</a:t>
            </a:r>
          </a:p>
          <a:p>
            <a:pPr>
              <a:buFontTx/>
              <a:buNone/>
            </a:pPr>
            <a:r>
              <a:rPr lang="en-US" altLang="en-US" sz="2000"/>
              <a:t>illness over-the-counter	seasonal/traditional	personal care</a:t>
            </a:r>
          </a:p>
          <a:p>
            <a:pPr>
              <a:buFontTx/>
              <a:buNone/>
            </a:pPr>
            <a:r>
              <a:rPr lang="en-US" altLang="en-US" sz="2000"/>
              <a:t>casual reader		homemaker</a:t>
            </a:r>
          </a:p>
          <a:p>
            <a:pPr>
              <a:buFontTx/>
              <a:buNone/>
            </a:pPr>
            <a:r>
              <a:rPr lang="en-US" altLang="en-US" sz="2000"/>
              <a:t>home handyman		home comfort</a:t>
            </a:r>
          </a:p>
          <a:p>
            <a:pPr>
              <a:buFontTx/>
              <a:buNone/>
            </a:pPr>
            <a:r>
              <a:rPr lang="en-US" altLang="en-US" sz="2000"/>
              <a:t>men’s image conscious	fashion footwear</a:t>
            </a:r>
          </a:p>
          <a:p>
            <a:pPr>
              <a:buFontTx/>
              <a:buNone/>
            </a:pPr>
            <a:r>
              <a:rPr lang="en-US" altLang="en-US" sz="2000"/>
              <a:t>sentimental		men’s fashion</a:t>
            </a:r>
          </a:p>
        </p:txBody>
      </p:sp>
    </p:spTree>
    <p:extLst>
      <p:ext uri="{BB962C8B-B14F-4D97-AF65-F5344CB8AC3E}">
        <p14:creationId xmlns:p14="http://schemas.microsoft.com/office/powerpoint/2010/main" val="302672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Purchase Profiles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Beauty conscious</a:t>
            </a:r>
          </a:p>
          <a:p>
            <a:pPr lvl="1"/>
            <a:r>
              <a:rPr lang="en-US" altLang="en-US"/>
              <a:t>cotton balls</a:t>
            </a:r>
          </a:p>
          <a:p>
            <a:pPr lvl="1"/>
            <a:r>
              <a:rPr lang="en-US" altLang="en-US"/>
              <a:t>hair dye</a:t>
            </a:r>
          </a:p>
          <a:p>
            <a:pPr lvl="1"/>
            <a:r>
              <a:rPr lang="en-US" altLang="en-US"/>
              <a:t>cologne</a:t>
            </a:r>
          </a:p>
          <a:p>
            <a:pPr lvl="1"/>
            <a:r>
              <a:rPr lang="en-US" altLang="en-US"/>
              <a:t>nail polish</a:t>
            </a:r>
          </a:p>
        </p:txBody>
      </p:sp>
    </p:spTree>
    <p:extLst>
      <p:ext uri="{BB962C8B-B14F-4D97-AF65-F5344CB8AC3E}">
        <p14:creationId xmlns:p14="http://schemas.microsoft.com/office/powerpoint/2010/main" val="3313862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Purchase Profiles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Each profile has an </a:t>
            </a:r>
            <a:r>
              <a:rPr lang="en-US" altLang="en-US">
                <a:solidFill>
                  <a:srgbClr val="008000"/>
                </a:solidFill>
              </a:rPr>
              <a:t>average profit per basket</a:t>
            </a:r>
            <a:endParaRPr lang="en-US" altLang="en-US"/>
          </a:p>
          <a:p>
            <a:pPr lvl="1"/>
            <a:r>
              <a:rPr lang="en-US" altLang="en-US"/>
              <a:t>Kids’ fashion		$15.24	</a:t>
            </a:r>
            <a:r>
              <a:rPr lang="en-US" altLang="en-US" b="1">
                <a:solidFill>
                  <a:srgbClr val="CC0000"/>
                </a:solidFill>
              </a:rPr>
              <a:t>push these</a:t>
            </a:r>
            <a:endParaRPr lang="en-US" altLang="en-US"/>
          </a:p>
          <a:p>
            <a:pPr lvl="1"/>
            <a:r>
              <a:rPr lang="en-US" altLang="en-US"/>
              <a:t>Men’s fashion	$13.41</a:t>
            </a:r>
          </a:p>
          <a:p>
            <a:pPr lvl="1"/>
            <a:r>
              <a:rPr lang="en-US" altLang="en-US"/>
              <a:t>….</a:t>
            </a:r>
          </a:p>
          <a:p>
            <a:pPr lvl="1"/>
            <a:r>
              <a:rPr lang="en-US" altLang="en-US"/>
              <a:t>Smoker		$2.88		</a:t>
            </a:r>
            <a:r>
              <a:rPr lang="en-US" altLang="en-US" i="1">
                <a:solidFill>
                  <a:srgbClr val="CC0000"/>
                </a:solidFill>
              </a:rPr>
              <a:t>don’t push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Student/home office	$2.55		</a:t>
            </a:r>
            <a:r>
              <a:rPr lang="en-US" altLang="en-US" i="1">
                <a:solidFill>
                  <a:srgbClr val="CC0000"/>
                </a:solidFill>
              </a:rPr>
              <a:t>these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049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>
                <a:solidFill>
                  <a:srgbClr val="CC0000"/>
                </a:solidFill>
              </a:rPr>
              <a:t>Affinity Positioning</a:t>
            </a:r>
            <a:endParaRPr lang="en-US" altLang="en-US"/>
          </a:p>
          <a:p>
            <a:pPr lvl="1"/>
            <a:r>
              <a:rPr lang="en-US" altLang="en-US"/>
              <a:t>coffee, coffee makers in close proximity</a:t>
            </a:r>
          </a:p>
          <a:p>
            <a:r>
              <a:rPr lang="en-US" altLang="en-US" b="1" i="1">
                <a:solidFill>
                  <a:srgbClr val="CC0000"/>
                </a:solidFill>
              </a:rPr>
              <a:t>Cross-Selling</a:t>
            </a:r>
            <a:endParaRPr lang="en-US" altLang="en-US"/>
          </a:p>
          <a:p>
            <a:pPr lvl="1"/>
            <a:r>
              <a:rPr lang="en-US" altLang="en-US"/>
              <a:t>cold medicines, kleenex, orange juice</a:t>
            </a:r>
          </a:p>
          <a:p>
            <a:pPr lvl="1"/>
            <a:r>
              <a:rPr lang="en-US" altLang="en-US"/>
              <a:t>Monday Night Football kiosks on Monday p.m.</a:t>
            </a:r>
          </a:p>
        </p:txBody>
      </p:sp>
    </p:spTree>
    <p:extLst>
      <p:ext uri="{BB962C8B-B14F-4D97-AF65-F5344CB8AC3E}">
        <p14:creationId xmlns:p14="http://schemas.microsoft.com/office/powerpoint/2010/main" val="1484104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LIMITATIONS</a:t>
            </a:r>
            <a:endParaRPr lang="en-US" altLang="en-US"/>
          </a:p>
          <a:p>
            <a:pPr lvl="1"/>
            <a:r>
              <a:rPr lang="en-US" altLang="en-US"/>
              <a:t>takes over 18 months to implement</a:t>
            </a:r>
          </a:p>
          <a:p>
            <a:pPr lvl="1"/>
            <a:r>
              <a:rPr lang="en-US" altLang="en-US"/>
              <a:t>market basket analysis only identifies hypotheses, which need to be tested</a:t>
            </a:r>
          </a:p>
          <a:p>
            <a:pPr lvl="2"/>
            <a:r>
              <a:rPr lang="en-US" altLang="en-US">
                <a:solidFill>
                  <a:srgbClr val="CC0000"/>
                </a:solidFill>
              </a:rPr>
              <a:t>neural network</a:t>
            </a:r>
            <a:r>
              <a:rPr lang="en-US" altLang="en-US"/>
              <a:t>, </a:t>
            </a:r>
            <a:r>
              <a:rPr lang="en-US" altLang="en-US">
                <a:solidFill>
                  <a:srgbClr val="CC0000"/>
                </a:solidFill>
              </a:rPr>
              <a:t>regression</a:t>
            </a:r>
            <a:r>
              <a:rPr lang="en-US" altLang="en-US"/>
              <a:t>, </a:t>
            </a:r>
            <a:r>
              <a:rPr lang="en-US" altLang="en-US">
                <a:solidFill>
                  <a:srgbClr val="CC0000"/>
                </a:solidFill>
              </a:rPr>
              <a:t>decision tree</a:t>
            </a:r>
            <a:r>
              <a:rPr lang="en-US" altLang="en-US"/>
              <a:t> analyses</a:t>
            </a:r>
          </a:p>
          <a:p>
            <a:pPr lvl="1"/>
            <a:r>
              <a:rPr lang="en-US" altLang="en-US"/>
              <a:t>measurement of impact needed</a:t>
            </a:r>
          </a:p>
          <a:p>
            <a:pPr lvl="1"/>
            <a:r>
              <a:rPr lang="en-US" altLang="en-US"/>
              <a:t>difficult to identify product groupings</a:t>
            </a:r>
          </a:p>
          <a:p>
            <a:pPr lvl="1"/>
            <a:r>
              <a:rPr lang="en-US" altLang="en-US"/>
              <a:t>complexity grows exponentially</a:t>
            </a:r>
          </a:p>
        </p:txBody>
      </p:sp>
    </p:spTree>
    <p:extLst>
      <p:ext uri="{BB962C8B-B14F-4D97-AF65-F5344CB8AC3E}">
        <p14:creationId xmlns:p14="http://schemas.microsoft.com/office/powerpoint/2010/main" val="3172813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8000"/>
                </a:solidFill>
              </a:rPr>
              <a:t>BENEFITS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simple computations</a:t>
            </a:r>
          </a:p>
          <a:p>
            <a:pPr lvl="1"/>
            <a:r>
              <a:rPr lang="en-US" altLang="en-US"/>
              <a:t>can be undirected (don’t have to have hypotheses before analysis)</a:t>
            </a:r>
          </a:p>
          <a:p>
            <a:pPr lvl="1"/>
            <a:r>
              <a:rPr lang="en-US" altLang="en-US"/>
              <a:t>different data forms can be analyzed</a:t>
            </a:r>
          </a:p>
        </p:txBody>
      </p:sp>
    </p:spTree>
    <p:extLst>
      <p:ext uri="{BB962C8B-B14F-4D97-AF65-F5344CB8AC3E}">
        <p14:creationId xmlns:p14="http://schemas.microsoft.com/office/powerpoint/2010/main" val="2333571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Numbers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altLang="en-US"/>
              <a:t>Our example transaction DB has 20 records of supermarket transactions, from a supermarket that only sells 9 things</a:t>
            </a:r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r>
              <a:rPr lang="en-GB" altLang="en-US"/>
              <a:t>One month in a large supermarket with five stores spread around a reasonably sized city might easily yield a DB of 20,000,000 baskets, each containing a set of products from a pool of around 1,000</a:t>
            </a:r>
          </a:p>
        </p:txBody>
      </p:sp>
    </p:spTree>
    <p:extLst>
      <p:ext uri="{BB962C8B-B14F-4D97-AF65-F5344CB8AC3E}">
        <p14:creationId xmlns:p14="http://schemas.microsoft.com/office/powerpoint/2010/main" val="426687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Discovering Rules</a:t>
            </a:r>
            <a:br>
              <a:rPr lang="en-GB" altLang="en-US" sz="4000"/>
            </a:br>
            <a:r>
              <a:rPr lang="en-GB" altLang="en-US" sz="2800"/>
              <a:t>A common and useful application of data mining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GB" altLang="en-US" sz="2400"/>
              <a:t>A `rule’ is something like this:</a:t>
            </a:r>
          </a:p>
          <a:p>
            <a:pPr marL="609600" indent="-609600">
              <a:buNone/>
            </a:pPr>
            <a:r>
              <a:rPr lang="en-GB" altLang="en-US" sz="2400" i="1"/>
              <a:t>If a basket contains apples and cheese, then it also contains beer</a:t>
            </a:r>
          </a:p>
          <a:p>
            <a:pPr marL="609600" indent="-609600">
              <a:buNone/>
            </a:pPr>
            <a:r>
              <a:rPr lang="en-GB" altLang="en-US" sz="2400"/>
              <a:t>Any such rule has two associated measures:</a:t>
            </a:r>
          </a:p>
          <a:p>
            <a:pPr marL="609600" indent="-609600">
              <a:buFontTx/>
              <a:buAutoNum type="arabicPeriod"/>
            </a:pPr>
            <a:r>
              <a:rPr lang="en-GB" altLang="en-US" sz="2400" i="1">
                <a:solidFill>
                  <a:srgbClr val="CC3300"/>
                </a:solidFill>
              </a:rPr>
              <a:t>confidence</a:t>
            </a:r>
            <a:r>
              <a:rPr lang="en-GB" altLang="en-US" sz="2400"/>
              <a:t> – when the `if’ part is true, how often is the `then’ bit true? This is the same as </a:t>
            </a:r>
            <a:r>
              <a:rPr lang="en-GB" altLang="en-US" sz="2400" i="1">
                <a:solidFill>
                  <a:srgbClr val="993300"/>
                </a:solidFill>
              </a:rPr>
              <a:t>accuracy</a:t>
            </a:r>
            <a:r>
              <a:rPr lang="en-GB" altLang="en-US" sz="240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GB" altLang="en-US" sz="2400" i="1">
                <a:solidFill>
                  <a:srgbClr val="CC3300"/>
                </a:solidFill>
              </a:rPr>
              <a:t>coverage</a:t>
            </a:r>
            <a:r>
              <a:rPr lang="en-GB" altLang="en-US" sz="2400" i="1"/>
              <a:t>  </a:t>
            </a:r>
            <a:r>
              <a:rPr lang="en-GB" altLang="en-US" sz="2400"/>
              <a:t>or </a:t>
            </a:r>
            <a:r>
              <a:rPr lang="en-GB" altLang="en-US" sz="2400" i="1">
                <a:solidFill>
                  <a:srgbClr val="993300"/>
                </a:solidFill>
              </a:rPr>
              <a:t>support</a:t>
            </a:r>
            <a:r>
              <a:rPr lang="en-GB" altLang="en-US" sz="2400" i="1"/>
              <a:t> – </a:t>
            </a:r>
            <a:r>
              <a:rPr lang="en-GB" altLang="en-US" sz="2400"/>
              <a:t>how much of the database contains the `if’ part?</a:t>
            </a:r>
            <a:r>
              <a:rPr lang="en-GB" altLang="en-US" i="1" smtClean="0"/>
              <a:t> </a:t>
            </a:r>
            <a:r>
              <a:rPr lang="en-GB" altLang="en-US" smtClean="0"/>
              <a:t> </a:t>
            </a:r>
            <a:endParaRPr lang="en-GB" altLang="en-US" i="1" smtClean="0"/>
          </a:p>
        </p:txBody>
      </p:sp>
    </p:spTree>
    <p:extLst>
      <p:ext uri="{BB962C8B-B14F-4D97-AF65-F5344CB8AC3E}">
        <p14:creationId xmlns:p14="http://schemas.microsoft.com/office/powerpoint/2010/main" val="277140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Example: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182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mtClean="0"/>
              <a:t>What is the confidence and coverage of:</a:t>
            </a:r>
          </a:p>
          <a:p>
            <a:pPr eaLnBrk="1" hangingPunct="1">
              <a:buFontTx/>
              <a:buNone/>
            </a:pPr>
            <a:r>
              <a:rPr lang="en-GB" altLang="en-US" i="1" smtClean="0"/>
              <a:t>If the basket contains beer and cheese, then it also contains honey</a:t>
            </a:r>
            <a:endParaRPr lang="en-GB" altLang="en-US" smtClean="0"/>
          </a:p>
          <a:p>
            <a:pPr eaLnBrk="1" hangingPunct="1">
              <a:buFontTx/>
              <a:buNone/>
            </a:pPr>
            <a:endParaRPr lang="en-GB" altLang="en-US" i="1" smtClean="0"/>
          </a:p>
        </p:txBody>
      </p:sp>
      <p:sp>
        <p:nvSpPr>
          <p:cNvPr id="312324" name="Text Box 4"/>
          <p:cNvSpPr txBox="1">
            <a:spLocks noChangeArrowheads="1"/>
          </p:cNvSpPr>
          <p:nvPr/>
        </p:nvSpPr>
        <p:spPr bwMode="auto">
          <a:xfrm>
            <a:off x="2117726" y="4079875"/>
            <a:ext cx="858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2/20 of the records contain both beer and cheese, so coverage is 10%</a:t>
            </a:r>
          </a:p>
        </p:txBody>
      </p:sp>
      <p:sp>
        <p:nvSpPr>
          <p:cNvPr id="312325" name="Text Box 5"/>
          <p:cNvSpPr txBox="1">
            <a:spLocks noChangeArrowheads="1"/>
          </p:cNvSpPr>
          <p:nvPr/>
        </p:nvSpPr>
        <p:spPr bwMode="auto">
          <a:xfrm>
            <a:off x="2162175" y="4572000"/>
            <a:ext cx="640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Of these 2, 1 contains honey, so confidence is 50%</a:t>
            </a:r>
          </a:p>
        </p:txBody>
      </p:sp>
    </p:spTree>
    <p:extLst>
      <p:ext uri="{BB962C8B-B14F-4D97-AF65-F5344CB8AC3E}">
        <p14:creationId xmlns:p14="http://schemas.microsoft.com/office/powerpoint/2010/main" val="342157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4" grpId="0" autoUpdateAnimBg="0"/>
      <p:bldP spid="31232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Group 2"/>
          <p:cNvGraphicFramePr>
            <a:graphicFrameLocks noGrp="1"/>
          </p:cNvGraphicFramePr>
          <p:nvPr/>
        </p:nvGraphicFramePr>
        <p:xfrm>
          <a:off x="2324100" y="517525"/>
          <a:ext cx="8039100" cy="5513392"/>
        </p:xfrm>
        <a:graphic>
          <a:graphicData uri="http://schemas.openxmlformats.org/drawingml/2006/table">
            <a:tbl>
              <a:tblPr/>
              <a:tblGrid>
                <a:gridCol w="803275"/>
                <a:gridCol w="803275"/>
                <a:gridCol w="806450"/>
                <a:gridCol w="803275"/>
                <a:gridCol w="803275"/>
                <a:gridCol w="803275"/>
                <a:gridCol w="803275"/>
                <a:gridCol w="806450"/>
                <a:gridCol w="803275"/>
                <a:gridCol w="803275"/>
              </a:tblGrid>
              <a:tr h="2873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77" name="Text Box 237"/>
          <p:cNvSpPr txBox="1">
            <a:spLocks noChangeArrowheads="1"/>
          </p:cNvSpPr>
          <p:nvPr/>
        </p:nvSpPr>
        <p:spPr bwMode="auto">
          <a:xfrm>
            <a:off x="2608263" y="44451"/>
            <a:ext cx="7961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/>
              <a:t>ID    apples,  beer,  cheese,  dates,   eggs,    fish,    glue,    honey, </a:t>
            </a:r>
            <a:r>
              <a:rPr lang="en-GB" altLang="en-US" sz="1800" b="1"/>
              <a:t>ice-cream</a:t>
            </a:r>
          </a:p>
        </p:txBody>
      </p:sp>
    </p:spTree>
    <p:extLst>
      <p:ext uri="{BB962C8B-B14F-4D97-AF65-F5344CB8AC3E}">
        <p14:creationId xmlns:p14="http://schemas.microsoft.com/office/powerpoint/2010/main" val="274239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mtClean="0"/>
              <a:t>Interesting/Useful rules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8213" y="1341438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/>
              <a:t>Statistically, anything that is </a:t>
            </a:r>
            <a:r>
              <a:rPr lang="en-GB" altLang="en-US" u="sng"/>
              <a:t>interesting</a:t>
            </a:r>
            <a:r>
              <a:rPr lang="en-GB" altLang="en-US"/>
              <a:t> is something that happens significantly more than you would expect by chance.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>
                <a:solidFill>
                  <a:srgbClr val="990000"/>
                </a:solidFill>
              </a:rPr>
              <a:t>E.g. basic statistical analysis of basket data may show that 10% of baskets contain bread, and 4% of baskets contain washing-up powder.</a:t>
            </a:r>
            <a:r>
              <a:rPr lang="en-GB" altLang="en-US"/>
              <a:t> I.e: if you choose a basket at random: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There is a probability 0.1 that it contains bread.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There is a probability 0.04 that it contains washing-up powder.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276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Bread </a:t>
            </a:r>
            <a:r>
              <a:rPr lang="en-GB" altLang="en-US" b="1" smtClean="0"/>
              <a:t>and</a:t>
            </a:r>
            <a:r>
              <a:rPr lang="en-GB" altLang="en-US" smtClean="0"/>
              <a:t> washing up powder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altLang="en-US" smtClean="0"/>
              <a:t>What is the probability of a basket containing both bread </a:t>
            </a:r>
            <a:r>
              <a:rPr lang="en-GB" altLang="en-US" i="1" smtClean="0"/>
              <a:t>and</a:t>
            </a:r>
            <a:r>
              <a:rPr lang="en-GB" altLang="en-US" smtClean="0"/>
              <a:t> washing-up powder? The </a:t>
            </a:r>
            <a:r>
              <a:rPr lang="en-GB" altLang="en-US" smtClean="0">
                <a:solidFill>
                  <a:srgbClr val="CC3300"/>
                </a:solidFill>
              </a:rPr>
              <a:t>laws of probability</a:t>
            </a:r>
            <a:r>
              <a:rPr lang="en-GB" altLang="en-US" smtClean="0"/>
              <a:t> say:</a:t>
            </a:r>
          </a:p>
          <a:p>
            <a:pPr eaLnBrk="1" hangingPunct="1">
              <a:buFontTx/>
              <a:buNone/>
            </a:pPr>
            <a:r>
              <a:rPr lang="en-GB" altLang="en-US" i="1" smtClean="0"/>
              <a:t>If these two things are </a:t>
            </a:r>
            <a:r>
              <a:rPr lang="en-GB" altLang="en-US" i="1" u="sng" smtClean="0"/>
              <a:t>independent</a:t>
            </a:r>
            <a:r>
              <a:rPr lang="en-GB" altLang="en-US" i="1" smtClean="0"/>
              <a:t>, chance is 0.1 * 0.04 = 0.004</a:t>
            </a:r>
            <a:endParaRPr lang="en-GB" altLang="en-US" smtClean="0"/>
          </a:p>
          <a:p>
            <a:pPr eaLnBrk="1" hangingPunct="1">
              <a:buFontTx/>
              <a:buNone/>
            </a:pPr>
            <a:r>
              <a:rPr lang="en-GB" altLang="en-US" smtClean="0"/>
              <a:t>That is, we would expect  0.4% of baskets to contain both bread and washing up powder</a:t>
            </a:r>
          </a:p>
        </p:txBody>
      </p:sp>
    </p:spTree>
    <p:extLst>
      <p:ext uri="{BB962C8B-B14F-4D97-AF65-F5344CB8AC3E}">
        <p14:creationId xmlns:p14="http://schemas.microsoft.com/office/powerpoint/2010/main" val="184935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Interesting means surprising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/>
              <a:t> We therefore have a prior expectation that just </a:t>
            </a:r>
            <a:r>
              <a:rPr lang="en-GB" altLang="en-US">
                <a:solidFill>
                  <a:srgbClr val="CC3300"/>
                </a:solidFill>
              </a:rPr>
              <a:t>4</a:t>
            </a:r>
            <a:r>
              <a:rPr lang="en-GB" altLang="en-US"/>
              <a:t> in 1,000 baskets should contain </a:t>
            </a:r>
            <a:r>
              <a:rPr lang="en-GB" altLang="en-US" b="1"/>
              <a:t>both</a:t>
            </a:r>
            <a:r>
              <a:rPr lang="en-GB" altLang="en-US"/>
              <a:t> bread and washing up powder.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i="1"/>
              <a:t> If we investigate, and discover that really it is </a:t>
            </a:r>
            <a:r>
              <a:rPr lang="en-GB" altLang="en-US" i="1">
                <a:solidFill>
                  <a:srgbClr val="FF3300"/>
                </a:solidFill>
              </a:rPr>
              <a:t>20</a:t>
            </a:r>
            <a:r>
              <a:rPr lang="en-GB" altLang="en-US" i="1"/>
              <a:t> in 1,000 baskets, </a:t>
            </a:r>
            <a:r>
              <a:rPr lang="en-GB" altLang="en-US"/>
              <a:t>then we will be very surprised. It tells us that: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Something is going on in shoppers’ minds: bread and washing-up powder are connected in some way.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There may be ways to exploit this discovery … put the powder and bread at opposite ends of the supermarket?</a:t>
            </a:r>
          </a:p>
        </p:txBody>
      </p:sp>
    </p:spTree>
    <p:extLst>
      <p:ext uri="{BB962C8B-B14F-4D97-AF65-F5344CB8AC3E}">
        <p14:creationId xmlns:p14="http://schemas.microsoft.com/office/powerpoint/2010/main" val="384220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33376"/>
            <a:ext cx="7772400" cy="803275"/>
          </a:xfrm>
        </p:spPr>
        <p:txBody>
          <a:bodyPr/>
          <a:lstStyle/>
          <a:p>
            <a:pPr eaLnBrk="1" hangingPunct="1"/>
            <a:r>
              <a:rPr lang="en-GB" altLang="en-US" smtClean="0"/>
              <a:t>Finding surprising rules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12875"/>
            <a:ext cx="7772400" cy="4114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000" dirty="0"/>
              <a:t> Suppose we ask `what is the most surprising rule in this database? This would be, presumably, a rule whose accuracy is more different from its </a:t>
            </a:r>
            <a:r>
              <a:rPr lang="en-GB" altLang="en-US" sz="2000" i="1" dirty="0"/>
              <a:t>expected</a:t>
            </a:r>
            <a:r>
              <a:rPr lang="en-GB" altLang="en-US" sz="2000" dirty="0"/>
              <a:t> accuracy than any others. But it also </a:t>
            </a:r>
            <a:r>
              <a:rPr lang="en-GB" altLang="en-US" sz="2000" u="sng" dirty="0"/>
              <a:t>has to have a suitable level of coverage</a:t>
            </a:r>
            <a:r>
              <a:rPr lang="en-GB" altLang="en-US" sz="2000" dirty="0"/>
              <a:t>, or else it may be just a statistical blip, and/or </a:t>
            </a:r>
            <a:r>
              <a:rPr lang="en-GB" altLang="en-US" sz="2000" dirty="0" err="1"/>
              <a:t>unexploitable</a:t>
            </a:r>
            <a:r>
              <a:rPr lang="en-GB" altLang="en-US" sz="2000" dirty="0"/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sz="2000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000" dirty="0"/>
              <a:t>Looking only at rules of the form: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000" i="1" dirty="0"/>
              <a:t> if basket contains X and Y, then it also contains Z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sz="2000" i="1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000" dirty="0"/>
              <a:t>… our realistic numbers tell us that there may be around </a:t>
            </a:r>
            <a:r>
              <a:rPr lang="en-GB" altLang="en-US" sz="2000" b="1" dirty="0"/>
              <a:t>500,000,000</a:t>
            </a:r>
            <a:r>
              <a:rPr lang="en-GB" altLang="en-US" sz="2000" dirty="0"/>
              <a:t> distinct possible rules. </a:t>
            </a:r>
            <a:r>
              <a:rPr lang="en-GB" altLang="en-US" sz="2000" b="1" u="sng" dirty="0"/>
              <a:t>For each of these</a:t>
            </a:r>
            <a:r>
              <a:rPr lang="en-GB" altLang="en-US" sz="2000" dirty="0"/>
              <a:t> we need to work out its accuracy and coverage, by trawling through a database of around </a:t>
            </a:r>
            <a:r>
              <a:rPr lang="en-GB" altLang="en-US" sz="2000" b="1" dirty="0"/>
              <a:t>20,000,000</a:t>
            </a:r>
            <a:r>
              <a:rPr lang="en-GB" altLang="en-US" sz="2000" dirty="0"/>
              <a:t> basket records. … </a:t>
            </a:r>
            <a:r>
              <a:rPr lang="en-GB" altLang="en-US" sz="2400" b="1" dirty="0">
                <a:solidFill>
                  <a:schemeClr val="accent2"/>
                </a:solidFill>
              </a:rPr>
              <a:t>c 10</a:t>
            </a:r>
            <a:r>
              <a:rPr lang="en-GB" altLang="en-US" sz="2400" b="1" baseline="30000" dirty="0">
                <a:solidFill>
                  <a:schemeClr val="accent2"/>
                </a:solidFill>
              </a:rPr>
              <a:t>16</a:t>
            </a:r>
            <a:r>
              <a:rPr lang="en-GB" altLang="en-US" sz="2400" b="1" dirty="0">
                <a:solidFill>
                  <a:schemeClr val="accent2"/>
                </a:solidFill>
              </a:rPr>
              <a:t> operations …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sz="24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400" b="1" dirty="0">
                <a:solidFill>
                  <a:schemeClr val="accent1">
                    <a:lumMod val="75000"/>
                  </a:schemeClr>
                </a:solidFill>
              </a:rPr>
              <a:t>… we need more efficient ways to find such rules</a:t>
            </a:r>
          </a:p>
        </p:txBody>
      </p:sp>
    </p:spTree>
    <p:extLst>
      <p:ext uri="{BB962C8B-B14F-4D97-AF65-F5344CB8AC3E}">
        <p14:creationId xmlns:p14="http://schemas.microsoft.com/office/powerpoint/2010/main" val="390830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92314" y="1484314"/>
            <a:ext cx="8567737" cy="46116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dirty="0"/>
              <a:t>There is nothing </a:t>
            </a:r>
            <a:r>
              <a:rPr lang="en-GB" altLang="en-US" i="1" dirty="0"/>
              <a:t>very </a:t>
            </a:r>
            <a:r>
              <a:rPr lang="en-GB" altLang="en-US" dirty="0"/>
              <a:t>special or clever about  </a:t>
            </a:r>
            <a:r>
              <a:rPr lang="en-GB" altLang="en-US" dirty="0" err="1"/>
              <a:t>Apriori</a:t>
            </a:r>
            <a:r>
              <a:rPr lang="en-GB" altLang="en-US" dirty="0"/>
              <a:t>;  but it is </a:t>
            </a:r>
            <a:r>
              <a:rPr lang="en-GB" altLang="en-US" dirty="0">
                <a:solidFill>
                  <a:srgbClr val="00B0F0"/>
                </a:solidFill>
              </a:rPr>
              <a:t>simple, fast, and very good at finding interesting rules of a specific kind in baskets or other transaction data, using operations that are efficient in standard database systems.</a:t>
            </a:r>
            <a:r>
              <a:rPr lang="en-GB" altLang="en-US" dirty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dirty="0"/>
              <a:t>It is used a lot in the R&amp;D </a:t>
            </a:r>
            <a:r>
              <a:rPr lang="en-GB" altLang="en-US" dirty="0" err="1"/>
              <a:t>Depts</a:t>
            </a:r>
            <a:r>
              <a:rPr lang="en-GB" altLang="en-US" dirty="0"/>
              <a:t> of retailers in industry (or by consultancies who do work for them).</a:t>
            </a:r>
            <a:endParaRPr lang="en-GB" altLang="en-US" i="1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dirty="0"/>
              <a:t> 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But </a:t>
            </a:r>
            <a:r>
              <a:rPr lang="en-GB" altLang="en-US" b="1" dirty="0">
                <a:solidFill>
                  <a:schemeClr val="accent1">
                    <a:lumMod val="75000"/>
                  </a:schemeClr>
                </a:solidFill>
              </a:rPr>
              <a:t>note 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that we will now talk about </a:t>
            </a:r>
            <a:r>
              <a:rPr lang="en-GB" altLang="en-US" i="1" dirty="0" err="1">
                <a:solidFill>
                  <a:schemeClr val="accent1">
                    <a:lumMod val="75000"/>
                  </a:schemeClr>
                </a:solidFill>
              </a:rPr>
              <a:t>itemsets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instead of rules. Also, the coverage of a rule is the same as the </a:t>
            </a:r>
            <a:r>
              <a:rPr lang="en-GB" altLang="en-US" i="1" dirty="0">
                <a:solidFill>
                  <a:schemeClr val="accent1">
                    <a:lumMod val="75000"/>
                  </a:schemeClr>
                </a:solidFill>
              </a:rPr>
              <a:t>support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of an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itemset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dirty="0"/>
              <a:t>Don’t get confused!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609601"/>
            <a:ext cx="7772400" cy="3714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The Apriori Algorithm</a:t>
            </a:r>
          </a:p>
        </p:txBody>
      </p:sp>
    </p:spTree>
    <p:extLst>
      <p:ext uri="{BB962C8B-B14F-4D97-AF65-F5344CB8AC3E}">
        <p14:creationId xmlns:p14="http://schemas.microsoft.com/office/powerpoint/2010/main" val="145403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mtClean="0"/>
              <a:t>Find rules in two stages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196975"/>
            <a:ext cx="7772400" cy="4114800"/>
          </a:xfrm>
        </p:spPr>
        <p:txBody>
          <a:bodyPr>
            <a:normAutofit fontScale="92500"/>
          </a:bodyPr>
          <a:lstStyle/>
          <a:p>
            <a:pPr marL="609600" indent="-609600">
              <a:buNone/>
            </a:pPr>
            <a:r>
              <a:rPr lang="en-GB" altLang="en-US"/>
              <a:t>Agarwal and colleagues divided the problem of finding good rules into two phases:</a:t>
            </a:r>
          </a:p>
          <a:p>
            <a:pPr marL="609600" indent="-609600">
              <a:buFontTx/>
              <a:buAutoNum type="arabicPeriod"/>
            </a:pPr>
            <a:r>
              <a:rPr lang="en-GB" altLang="en-US" i="1" smtClean="0"/>
              <a:t>Find all itemsets with a specified minimal support </a:t>
            </a:r>
            <a:r>
              <a:rPr lang="en-GB" altLang="en-US" smtClean="0"/>
              <a:t>(</a:t>
            </a:r>
            <a:r>
              <a:rPr lang="en-GB" altLang="en-US" i="1" smtClean="0"/>
              <a:t>coverage</a:t>
            </a:r>
            <a:r>
              <a:rPr lang="en-GB" altLang="en-US" smtClean="0"/>
              <a:t>).</a:t>
            </a:r>
            <a:r>
              <a:rPr lang="en-GB" altLang="en-US"/>
              <a:t>  </a:t>
            </a:r>
            <a:r>
              <a:rPr lang="en-GB" altLang="en-US" sz="2400">
                <a:solidFill>
                  <a:srgbClr val="990099"/>
                </a:solidFill>
              </a:rPr>
              <a:t>An itemset is just a specific set of items, e.g. {apples, cheese}. The </a:t>
            </a:r>
            <a:r>
              <a:rPr lang="en-GB" altLang="en-US" sz="2400" i="1">
                <a:solidFill>
                  <a:srgbClr val="990099"/>
                </a:solidFill>
              </a:rPr>
              <a:t>Apriori</a:t>
            </a:r>
            <a:r>
              <a:rPr lang="en-GB" altLang="en-US" sz="2400">
                <a:solidFill>
                  <a:srgbClr val="990099"/>
                </a:solidFill>
              </a:rPr>
              <a:t> algorithm can </a:t>
            </a:r>
            <a:r>
              <a:rPr lang="en-GB" altLang="en-US" sz="2400" i="1">
                <a:solidFill>
                  <a:srgbClr val="990099"/>
                </a:solidFill>
              </a:rPr>
              <a:t>efficiently</a:t>
            </a:r>
            <a:r>
              <a:rPr lang="en-GB" altLang="en-US" sz="2400">
                <a:solidFill>
                  <a:srgbClr val="990099"/>
                </a:solidFill>
              </a:rPr>
              <a:t> find all itemsets whose coverage is above a given minimum</a:t>
            </a:r>
            <a:r>
              <a:rPr lang="en-GB" altLang="en-US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GB" altLang="en-US" i="1" smtClean="0"/>
              <a:t>Use these itemsets to help generate interersting rules</a:t>
            </a:r>
            <a:r>
              <a:rPr lang="en-GB" altLang="en-US" i="1"/>
              <a:t>. </a:t>
            </a:r>
            <a:r>
              <a:rPr lang="en-GB" altLang="en-US" sz="2400">
                <a:solidFill>
                  <a:srgbClr val="990099"/>
                </a:solidFill>
              </a:rPr>
              <a:t>Having done stage 1, we have considerably narrowed down the possibilities, and can do reasonably fast processing of the large itemsets to generate candidate rules.</a:t>
            </a:r>
            <a:r>
              <a:rPr lang="en-GB" altLang="en-US" sz="2400" i="1">
                <a:solidFill>
                  <a:srgbClr val="99009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228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2063750" y="20638"/>
            <a:ext cx="7989888" cy="6477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altLang="en-US" sz="2000"/>
              <a:t>https://datastudentblog.wordpress.com/2013/10/31/market-basket-analysis</a:t>
            </a:r>
            <a:r>
              <a:rPr lang="en-GB" altLang="en-US" smtClean="0"/>
              <a:t>/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620713"/>
            <a:ext cx="4926012" cy="615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716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Terminology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i="1">
                <a:solidFill>
                  <a:srgbClr val="006600"/>
                </a:solidFill>
              </a:rPr>
              <a:t>k-itemset</a:t>
            </a:r>
            <a:r>
              <a:rPr lang="en-GB" altLang="en-US" i="1"/>
              <a:t> </a:t>
            </a:r>
            <a:r>
              <a:rPr lang="en-GB" altLang="en-US"/>
              <a:t>:   a set of  </a:t>
            </a:r>
            <a:r>
              <a:rPr lang="en-GB" altLang="en-US" i="1"/>
              <a:t>k </a:t>
            </a:r>
            <a:r>
              <a:rPr lang="en-GB" altLang="en-US"/>
              <a:t>items. E.g.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GB" altLang="en-US"/>
              <a:t>      </a:t>
            </a:r>
            <a:r>
              <a:rPr lang="en-GB" altLang="en-US" sz="2400"/>
              <a:t>{beer, cheese, eggs} is a 3-itemset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GB" altLang="en-US" sz="2400"/>
              <a:t>      {cheese}  is a 1-itemset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GB" altLang="en-US" sz="2400"/>
              <a:t>      {honey, ice-cream} is a 2-itemset</a:t>
            </a:r>
          </a:p>
          <a:p>
            <a:pPr eaLnBrk="1" hangingPunct="1">
              <a:buFontTx/>
              <a:buNone/>
            </a:pPr>
            <a:r>
              <a:rPr lang="en-GB" altLang="en-US" i="1">
                <a:solidFill>
                  <a:srgbClr val="006600"/>
                </a:solidFill>
              </a:rPr>
              <a:t>support</a:t>
            </a:r>
            <a:r>
              <a:rPr lang="en-GB" altLang="en-US"/>
              <a:t>: an itemset has support </a:t>
            </a:r>
            <a:r>
              <a:rPr lang="en-GB" altLang="en-US" i="1"/>
              <a:t>s</a:t>
            </a:r>
            <a:r>
              <a:rPr lang="en-GB" altLang="en-US"/>
              <a:t>%</a:t>
            </a:r>
            <a:r>
              <a:rPr lang="en-GB" altLang="en-US" i="1"/>
              <a:t> </a:t>
            </a:r>
            <a:r>
              <a:rPr lang="en-GB" altLang="en-US"/>
              <a:t>if </a:t>
            </a:r>
            <a:r>
              <a:rPr lang="en-GB" altLang="en-US" i="1"/>
              <a:t>s</a:t>
            </a:r>
            <a:r>
              <a:rPr lang="en-GB" altLang="en-US"/>
              <a:t>% of the records in the DB contain that itemset.</a:t>
            </a:r>
          </a:p>
          <a:p>
            <a:pPr eaLnBrk="1" hangingPunct="1">
              <a:buFontTx/>
              <a:buNone/>
            </a:pPr>
            <a:r>
              <a:rPr lang="en-GB" altLang="en-US" i="1">
                <a:solidFill>
                  <a:srgbClr val="006600"/>
                </a:solidFill>
              </a:rPr>
              <a:t>minimum support</a:t>
            </a:r>
            <a:r>
              <a:rPr lang="en-GB" altLang="en-US"/>
              <a:t>: the Apriori algorithm starts with the specification of a minimum level of support, and will focus on itemsets with this level or above.</a:t>
            </a:r>
            <a:endParaRPr lang="en-GB" altLang="en-US" i="1"/>
          </a:p>
        </p:txBody>
      </p:sp>
    </p:spTree>
    <p:extLst>
      <p:ext uri="{BB962C8B-B14F-4D97-AF65-F5344CB8AC3E}">
        <p14:creationId xmlns:p14="http://schemas.microsoft.com/office/powerpoint/2010/main" val="74812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Terminology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848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i="1">
                <a:solidFill>
                  <a:srgbClr val="006600"/>
                </a:solidFill>
              </a:rPr>
              <a:t>large itemset</a:t>
            </a:r>
            <a:r>
              <a:rPr lang="en-GB" altLang="en-US"/>
              <a:t>: doesn’t mean an itemset with many items. It means one whose support is at least minimum support.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i="1">
                <a:solidFill>
                  <a:srgbClr val="006600"/>
                </a:solidFill>
              </a:rPr>
              <a:t>L</a:t>
            </a:r>
            <a:r>
              <a:rPr lang="en-GB" altLang="en-US" i="1" baseline="-25000">
                <a:solidFill>
                  <a:srgbClr val="006600"/>
                </a:solidFill>
              </a:rPr>
              <a:t>k</a:t>
            </a:r>
            <a:r>
              <a:rPr lang="en-GB" altLang="en-US" i="1"/>
              <a:t> :  </a:t>
            </a:r>
            <a:r>
              <a:rPr lang="en-GB" altLang="en-US"/>
              <a:t>the set of all large </a:t>
            </a:r>
            <a:r>
              <a:rPr lang="en-GB" altLang="en-US" i="1"/>
              <a:t>k</a:t>
            </a:r>
            <a:r>
              <a:rPr lang="en-GB" altLang="en-US"/>
              <a:t>-itemsets in the DB.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i="1">
                <a:solidFill>
                  <a:srgbClr val="006600"/>
                </a:solidFill>
              </a:rPr>
              <a:t>C</a:t>
            </a:r>
            <a:r>
              <a:rPr lang="en-GB" altLang="en-US" i="1" baseline="-25000">
                <a:solidFill>
                  <a:srgbClr val="006600"/>
                </a:solidFill>
              </a:rPr>
              <a:t>k</a:t>
            </a:r>
            <a:r>
              <a:rPr lang="en-GB" altLang="en-US" i="1"/>
              <a:t> :  </a:t>
            </a:r>
            <a:r>
              <a:rPr lang="en-GB" altLang="en-US"/>
              <a:t>a set of </a:t>
            </a:r>
            <a:r>
              <a:rPr lang="en-GB" altLang="en-US" i="1"/>
              <a:t>candidate</a:t>
            </a:r>
            <a:r>
              <a:rPr lang="en-GB" altLang="en-US"/>
              <a:t> large </a:t>
            </a:r>
            <a:r>
              <a:rPr lang="en-GB" altLang="en-US" i="1"/>
              <a:t>k</a:t>
            </a:r>
            <a:r>
              <a:rPr lang="en-GB" altLang="en-US"/>
              <a:t>-itemsets. In the algorithm we will look at, it generates this set, which contains all the </a:t>
            </a:r>
            <a:r>
              <a:rPr lang="en-GB" altLang="en-US" i="1"/>
              <a:t>k</a:t>
            </a:r>
            <a:r>
              <a:rPr lang="en-GB" altLang="en-US"/>
              <a:t>-itemsets that might be large, and then eventually generates the set above.</a:t>
            </a:r>
            <a:endParaRPr lang="en-GB" altLang="en-US" i="1"/>
          </a:p>
        </p:txBody>
      </p:sp>
    </p:spTree>
    <p:extLst>
      <p:ext uri="{BB962C8B-B14F-4D97-AF65-F5344CB8AC3E}">
        <p14:creationId xmlns:p14="http://schemas.microsoft.com/office/powerpoint/2010/main" val="106313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22" name="Group 2"/>
          <p:cNvGraphicFramePr>
            <a:graphicFrameLocks noGrp="1"/>
          </p:cNvGraphicFramePr>
          <p:nvPr/>
        </p:nvGraphicFramePr>
        <p:xfrm>
          <a:off x="1774825" y="517525"/>
          <a:ext cx="5334000" cy="5513392"/>
        </p:xfrm>
        <a:graphic>
          <a:graphicData uri="http://schemas.openxmlformats.org/drawingml/2006/table">
            <a:tbl>
              <a:tblPr/>
              <a:tblGrid>
                <a:gridCol w="555625"/>
                <a:gridCol w="557213"/>
                <a:gridCol w="557212"/>
                <a:gridCol w="557213"/>
                <a:gridCol w="555625"/>
                <a:gridCol w="555625"/>
                <a:gridCol w="557212"/>
                <a:gridCol w="557213"/>
                <a:gridCol w="423862"/>
                <a:gridCol w="457200"/>
              </a:tblGrid>
              <a:tr h="2873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717" name="Text Box 237"/>
          <p:cNvSpPr txBox="1">
            <a:spLocks noChangeArrowheads="1"/>
          </p:cNvSpPr>
          <p:nvPr/>
        </p:nvSpPr>
        <p:spPr bwMode="auto">
          <a:xfrm>
            <a:off x="1851025" y="44451"/>
            <a:ext cx="5137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/>
              <a:t>ID    a,       b,      c,      d,     e,      f,      g,     h,    </a:t>
            </a:r>
            <a:r>
              <a:rPr lang="en-GB" altLang="en-US" sz="1800" b="1"/>
              <a:t>i</a:t>
            </a:r>
          </a:p>
        </p:txBody>
      </p:sp>
      <p:sp>
        <p:nvSpPr>
          <p:cNvPr id="20718" name="Text Box 238"/>
          <p:cNvSpPr txBox="1">
            <a:spLocks noChangeArrowheads="1"/>
          </p:cNvSpPr>
          <p:nvPr/>
        </p:nvSpPr>
        <p:spPr bwMode="auto">
          <a:xfrm>
            <a:off x="7296150" y="476251"/>
            <a:ext cx="3048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E.g.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3-itemset {a,b,h}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has support 15%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2-itemset {a, i}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has support 0%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4-itemset {b, c, d, h}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has support 5%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If minimum support 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10%, then {b} is a large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itemset, but {b, c, d, h}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Is a </a:t>
            </a:r>
            <a:r>
              <a:rPr lang="en-GB" altLang="en-US" sz="2400" i="1"/>
              <a:t>small </a:t>
            </a:r>
            <a:r>
              <a:rPr lang="en-GB" altLang="en-US" sz="2400"/>
              <a:t>itemset!   </a:t>
            </a:r>
          </a:p>
        </p:txBody>
      </p:sp>
    </p:spTree>
    <p:extLst>
      <p:ext uri="{BB962C8B-B14F-4D97-AF65-F5344CB8AC3E}">
        <p14:creationId xmlns:p14="http://schemas.microsoft.com/office/powerpoint/2010/main" val="42160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000"/>
              <a:t>The Apriori algorithm for finding large itemsets efficiently in big DBs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24800" cy="4572000"/>
          </a:xfrm>
        </p:spPr>
        <p:txBody>
          <a:bodyPr/>
          <a:lstStyle/>
          <a:p>
            <a:pPr marL="609600" indent="-609600">
              <a:buNone/>
            </a:pPr>
            <a:r>
              <a:rPr lang="en-GB" altLang="en-US" sz="2400"/>
              <a:t>1:  Find all large 1-itemsets</a:t>
            </a:r>
          </a:p>
          <a:p>
            <a:pPr marL="609600" indent="-609600">
              <a:buNone/>
            </a:pPr>
            <a:r>
              <a:rPr lang="en-GB" altLang="en-US" sz="2400"/>
              <a:t>2:  For (</a:t>
            </a:r>
            <a:r>
              <a:rPr lang="en-GB" altLang="en-US" sz="2400" i="1"/>
              <a:t>k </a:t>
            </a:r>
            <a:r>
              <a:rPr lang="en-GB" altLang="en-US" sz="2400"/>
              <a:t>= 2 ; while 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-1 </a:t>
            </a:r>
            <a:r>
              <a:rPr lang="en-GB" altLang="en-US" sz="2400"/>
              <a:t>is non-empty; </a:t>
            </a:r>
            <a:r>
              <a:rPr lang="en-GB" altLang="en-US" sz="2400" i="1"/>
              <a:t>k</a:t>
            </a:r>
            <a:r>
              <a:rPr lang="en-GB" altLang="en-US" sz="2400"/>
              <a:t>++)</a:t>
            </a:r>
          </a:p>
          <a:p>
            <a:pPr marL="609600" indent="-609600">
              <a:buNone/>
            </a:pPr>
            <a:r>
              <a:rPr lang="en-GB" altLang="en-US" sz="2400"/>
              <a:t>3		{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k</a:t>
            </a:r>
            <a:r>
              <a:rPr lang="en-GB" altLang="en-US" sz="2400" i="1"/>
              <a:t> = </a:t>
            </a:r>
            <a:r>
              <a:rPr lang="en-GB" altLang="en-US" sz="2400">
                <a:solidFill>
                  <a:srgbClr val="990000"/>
                </a:solidFill>
                <a:latin typeface="Courier New" panose="02070309020205020404" pitchFamily="49" charset="0"/>
              </a:rPr>
              <a:t>apriori-gen</a:t>
            </a:r>
            <a:r>
              <a:rPr lang="en-GB" altLang="en-US" sz="2400"/>
              <a:t>(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-1</a:t>
            </a:r>
            <a:r>
              <a:rPr lang="en-GB" altLang="en-US" sz="2400"/>
              <a:t>)</a:t>
            </a:r>
          </a:p>
          <a:p>
            <a:pPr marL="609600" indent="-609600">
              <a:buNone/>
            </a:pPr>
            <a:r>
              <a:rPr lang="en-GB" altLang="en-US" sz="2400"/>
              <a:t>4          For each </a:t>
            </a:r>
            <a:r>
              <a:rPr lang="en-GB" altLang="en-US" sz="2400" i="1"/>
              <a:t>c</a:t>
            </a:r>
            <a:r>
              <a:rPr lang="en-GB" altLang="en-US" sz="2400"/>
              <a:t> in 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k</a:t>
            </a:r>
            <a:r>
              <a:rPr lang="en-GB" altLang="en-US" sz="2400" i="1"/>
              <a:t>, </a:t>
            </a:r>
            <a:r>
              <a:rPr lang="en-GB" altLang="en-US" sz="2400"/>
              <a:t>initialise </a:t>
            </a:r>
            <a:r>
              <a:rPr lang="en-GB" altLang="en-US" sz="2400" i="1"/>
              <a:t>c</a:t>
            </a:r>
            <a:r>
              <a:rPr lang="en-GB" altLang="en-US" sz="2400"/>
              <a:t>.</a:t>
            </a:r>
            <a:r>
              <a:rPr lang="en-GB" altLang="en-US" sz="2400" i="1"/>
              <a:t>count </a:t>
            </a:r>
            <a:r>
              <a:rPr lang="en-GB" altLang="en-US" sz="2400"/>
              <a:t>to zero</a:t>
            </a:r>
            <a:r>
              <a:rPr lang="en-GB" altLang="en-US" sz="2400" i="1"/>
              <a:t> </a:t>
            </a:r>
            <a:endParaRPr lang="en-GB" altLang="en-US" sz="2400"/>
          </a:p>
          <a:p>
            <a:pPr marL="609600" indent="-609600">
              <a:buNone/>
            </a:pPr>
            <a:r>
              <a:rPr lang="en-GB" altLang="en-US" sz="2400"/>
              <a:t>5          For all records </a:t>
            </a:r>
            <a:r>
              <a:rPr lang="en-GB" altLang="en-US" sz="2400" i="1"/>
              <a:t>r </a:t>
            </a:r>
            <a:r>
              <a:rPr lang="en-GB" altLang="en-US" sz="2400"/>
              <a:t>in the DB</a:t>
            </a:r>
          </a:p>
          <a:p>
            <a:pPr marL="609600" indent="-609600">
              <a:buFontTx/>
              <a:buAutoNum type="arabicPlain" startAt="6"/>
            </a:pPr>
            <a:r>
              <a:rPr lang="en-GB" altLang="en-US" sz="2400"/>
              <a:t>      {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r</a:t>
            </a:r>
            <a:r>
              <a:rPr lang="en-GB" altLang="en-US" sz="2400" i="1"/>
              <a:t> = </a:t>
            </a:r>
            <a:r>
              <a:rPr lang="en-GB" altLang="en-US" sz="2400">
                <a:solidFill>
                  <a:srgbClr val="990000"/>
                </a:solidFill>
                <a:latin typeface="Courier New" panose="02070309020205020404" pitchFamily="49" charset="0"/>
              </a:rPr>
              <a:t>subset</a:t>
            </a:r>
            <a:r>
              <a:rPr lang="en-GB" altLang="en-US" sz="2400"/>
              <a:t>(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k</a:t>
            </a:r>
            <a:r>
              <a:rPr lang="en-GB" altLang="en-US" sz="2400"/>
              <a:t>, </a:t>
            </a:r>
            <a:r>
              <a:rPr lang="en-GB" altLang="en-US" sz="2400" i="1"/>
              <a:t>r</a:t>
            </a:r>
            <a:r>
              <a:rPr lang="en-GB" altLang="en-US" sz="2400"/>
              <a:t>); </a:t>
            </a:r>
            <a:r>
              <a:rPr lang="en-GB" altLang="en-US" sz="2400" i="1"/>
              <a:t> </a:t>
            </a:r>
            <a:r>
              <a:rPr lang="en-GB" altLang="en-US" sz="2400"/>
              <a:t>For each </a:t>
            </a:r>
            <a:r>
              <a:rPr lang="en-GB" altLang="en-US" sz="2400" i="1"/>
              <a:t>c </a:t>
            </a:r>
            <a:r>
              <a:rPr lang="en-GB" altLang="en-US" sz="2400"/>
              <a:t>in 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r</a:t>
            </a:r>
            <a:r>
              <a:rPr lang="en-GB" altLang="en-US" sz="2400" i="1"/>
              <a:t> , c.count</a:t>
            </a:r>
            <a:r>
              <a:rPr lang="en-GB" altLang="en-US" sz="2400"/>
              <a:t>++ }</a:t>
            </a:r>
          </a:p>
          <a:p>
            <a:pPr marL="609600" indent="-609600">
              <a:buNone/>
            </a:pPr>
            <a:r>
              <a:rPr lang="en-GB" altLang="en-US" sz="2400"/>
              <a:t>7             Set 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 </a:t>
            </a:r>
            <a:r>
              <a:rPr lang="en-GB" altLang="en-US" sz="2400"/>
              <a:t>:= all </a:t>
            </a:r>
            <a:r>
              <a:rPr lang="en-GB" altLang="en-US" sz="2400" i="1"/>
              <a:t>c </a:t>
            </a:r>
            <a:r>
              <a:rPr lang="en-GB" altLang="en-US" sz="2400"/>
              <a:t>in 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k</a:t>
            </a:r>
            <a:r>
              <a:rPr lang="en-GB" altLang="en-US" sz="2400" i="1"/>
              <a:t> </a:t>
            </a:r>
            <a:r>
              <a:rPr lang="en-GB" altLang="en-US" sz="2400"/>
              <a:t>whose </a:t>
            </a:r>
            <a:r>
              <a:rPr lang="en-GB" altLang="en-US" sz="2400" i="1"/>
              <a:t>count</a:t>
            </a:r>
            <a:r>
              <a:rPr lang="en-GB" altLang="en-US" sz="2400"/>
              <a:t> &gt;=  </a:t>
            </a:r>
            <a:r>
              <a:rPr lang="en-GB" altLang="en-US" sz="2400" i="1"/>
              <a:t>minsup</a:t>
            </a:r>
          </a:p>
          <a:p>
            <a:pPr marL="609600" indent="-609600">
              <a:buNone/>
            </a:pPr>
            <a:r>
              <a:rPr lang="en-GB" altLang="en-US" sz="2400" i="1"/>
              <a:t>8         </a:t>
            </a:r>
            <a:r>
              <a:rPr lang="en-GB" altLang="en-US" sz="2400"/>
              <a:t>}  /*  end   -- return all of the 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 </a:t>
            </a:r>
            <a:r>
              <a:rPr lang="en-GB" altLang="en-US" sz="2400"/>
              <a:t>sets.</a:t>
            </a:r>
            <a:endParaRPr lang="en-GB" altLang="en-US" sz="2400" i="1" baseline="-25000"/>
          </a:p>
        </p:txBody>
      </p:sp>
    </p:spTree>
    <p:extLst>
      <p:ext uri="{BB962C8B-B14F-4D97-AF65-F5344CB8AC3E}">
        <p14:creationId xmlns:p14="http://schemas.microsoft.com/office/powerpoint/2010/main" val="175826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000"/>
              <a:t>The Apriori algorithm for finding large itemsets efficiently in big DBs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89888" cy="457200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1:  Find all large 1-itemsets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2:  For (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k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= 2 ; while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-1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is non-empty;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++)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3		{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= </a:t>
            </a:r>
            <a:r>
              <a:rPr lang="en-GB" altLang="en-US" sz="2400" dirty="0" err="1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apriori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-gen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(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-1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)  </a:t>
            </a:r>
            <a:r>
              <a:rPr lang="en-GB" altLang="en-US" sz="2400" b="1" dirty="0">
                <a:solidFill>
                  <a:srgbClr val="FF0000"/>
                </a:solidFill>
              </a:rPr>
              <a:t> </a:t>
            </a:r>
            <a:endParaRPr lang="en-GB" altLang="en-US" sz="2400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4          For each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in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,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initialise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dirty="0" err="1">
                <a:solidFill>
                  <a:schemeClr val="accent3">
                    <a:lumMod val="65000"/>
                  </a:schemeClr>
                </a:solidFill>
              </a:rPr>
              <a:t>.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count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to zero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endParaRPr lang="en-GB" altLang="en-US" sz="2400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5          For all records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r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the DB</a:t>
            </a:r>
          </a:p>
          <a:p>
            <a:pPr marL="609600" indent="-609600">
              <a:buFontTx/>
              <a:buAutoNum type="arabicPlain" startAt="6"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     {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=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subset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(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,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);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For each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,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c.count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++ }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7             Set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:= all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whose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count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&gt;= 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minsup</a:t>
            </a:r>
            <a:endParaRPr lang="en-GB" altLang="en-US" sz="2400" i="1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8        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}  /*  end   -- return all of the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sets</a:t>
            </a:r>
            <a:r>
              <a:rPr lang="en-GB" altLang="en-US" sz="2400" dirty="0"/>
              <a:t>.</a:t>
            </a:r>
            <a:endParaRPr lang="en-GB" altLang="en-US" sz="2400" i="1" baseline="-25000" dirty="0"/>
          </a:p>
        </p:txBody>
      </p:sp>
      <p:sp>
        <p:nvSpPr>
          <p:cNvPr id="22532" name="TextBox 1"/>
          <p:cNvSpPr txBox="1">
            <a:spLocks noChangeArrowheads="1"/>
          </p:cNvSpPr>
          <p:nvPr/>
        </p:nvSpPr>
        <p:spPr bwMode="auto">
          <a:xfrm>
            <a:off x="4467225" y="2492375"/>
            <a:ext cx="617855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Generate candidate 2-itemsets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Prune them to leave the valid ones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(those with enough support)</a:t>
            </a:r>
          </a:p>
        </p:txBody>
      </p:sp>
    </p:spTree>
    <p:extLst>
      <p:ext uri="{BB962C8B-B14F-4D97-AF65-F5344CB8AC3E}">
        <p14:creationId xmlns:p14="http://schemas.microsoft.com/office/powerpoint/2010/main" val="269722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000"/>
              <a:t>The Apriori algorithm for finding large itemsets efficiently in big DBs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89888" cy="457200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1:  Find all large 1-itemsets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2:  For (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k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= 2 ; while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-1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is non-empty;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++)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3		{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= </a:t>
            </a:r>
            <a:r>
              <a:rPr lang="en-GB" altLang="en-US" sz="2400" dirty="0" err="1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apriori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-gen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(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-1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)  </a:t>
            </a:r>
            <a:r>
              <a:rPr lang="en-GB" altLang="en-US" sz="2400" b="1" dirty="0">
                <a:solidFill>
                  <a:srgbClr val="FF0000"/>
                </a:solidFill>
              </a:rPr>
              <a:t> </a:t>
            </a:r>
            <a:endParaRPr lang="en-GB" altLang="en-US" sz="2400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4          For each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in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,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initialise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dirty="0" err="1">
                <a:solidFill>
                  <a:schemeClr val="accent3">
                    <a:lumMod val="65000"/>
                  </a:schemeClr>
                </a:solidFill>
              </a:rPr>
              <a:t>.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count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to zero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endParaRPr lang="en-GB" altLang="en-US" sz="2400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5          For all records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r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the DB</a:t>
            </a:r>
          </a:p>
          <a:p>
            <a:pPr marL="609600" indent="-609600">
              <a:buFontTx/>
              <a:buAutoNum type="arabicPlain" startAt="6"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     {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=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subset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(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,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);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For each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,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c.count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++ }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7             Set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:= all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whose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count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&gt;= 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minsup</a:t>
            </a:r>
            <a:endParaRPr lang="en-GB" altLang="en-US" sz="2400" i="1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8        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}  /*  end   -- return all of the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sets</a:t>
            </a:r>
            <a:r>
              <a:rPr lang="en-GB" altLang="en-US" sz="2400" dirty="0"/>
              <a:t>.</a:t>
            </a:r>
            <a:endParaRPr lang="en-GB" altLang="en-US" sz="2400" i="1" baseline="-25000" dirty="0"/>
          </a:p>
        </p:txBody>
      </p:sp>
      <p:sp>
        <p:nvSpPr>
          <p:cNvPr id="23556" name="TextBox 1"/>
          <p:cNvSpPr txBox="1">
            <a:spLocks noChangeArrowheads="1"/>
          </p:cNvSpPr>
          <p:nvPr/>
        </p:nvSpPr>
        <p:spPr bwMode="auto">
          <a:xfrm>
            <a:off x="4467225" y="2492375"/>
            <a:ext cx="617855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Generate candidate 3-itemsets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Prune them to leave the valid ones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(those with enough support)</a:t>
            </a:r>
          </a:p>
        </p:txBody>
      </p:sp>
    </p:spTree>
    <p:extLst>
      <p:ext uri="{BB962C8B-B14F-4D97-AF65-F5344CB8AC3E}">
        <p14:creationId xmlns:p14="http://schemas.microsoft.com/office/powerpoint/2010/main" val="266473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000"/>
              <a:t>The Apriori algorithm for finding large itemsets efficiently in big DBs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89888" cy="457200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1:  Find all large 1-itemsets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2:  For (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k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= 2 ; while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-1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is non-empty;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++)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3		{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= </a:t>
            </a:r>
            <a:r>
              <a:rPr lang="en-GB" altLang="en-US" sz="2400" dirty="0" err="1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apriori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-gen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(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-1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)  </a:t>
            </a:r>
            <a:r>
              <a:rPr lang="en-GB" altLang="en-US" sz="2400" b="1" dirty="0">
                <a:solidFill>
                  <a:srgbClr val="FF0000"/>
                </a:solidFill>
              </a:rPr>
              <a:t> </a:t>
            </a:r>
            <a:endParaRPr lang="en-GB" altLang="en-US" sz="2400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4          For each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in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,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initialise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dirty="0" err="1">
                <a:solidFill>
                  <a:schemeClr val="accent3">
                    <a:lumMod val="65000"/>
                  </a:schemeClr>
                </a:solidFill>
              </a:rPr>
              <a:t>.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count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to zero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endParaRPr lang="en-GB" altLang="en-US" sz="2400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5          For all records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r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the DB</a:t>
            </a:r>
          </a:p>
          <a:p>
            <a:pPr marL="609600" indent="-609600">
              <a:buFontTx/>
              <a:buAutoNum type="arabicPlain" startAt="6"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     {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=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  <a:latin typeface="Courier New" pitchFamily="49" charset="0"/>
              </a:rPr>
              <a:t>subset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(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,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);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For each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r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,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c.count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++ }</a:t>
            </a:r>
          </a:p>
          <a:p>
            <a:pPr marL="609600" indent="-609600">
              <a:buNone/>
              <a:defRPr/>
            </a:pP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7             Set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:= all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in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C</a:t>
            </a:r>
            <a:r>
              <a:rPr lang="en-GB" altLang="en-US" sz="2400" i="1" baseline="-25000" dirty="0" err="1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whose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count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 &gt;=  </a:t>
            </a:r>
            <a:r>
              <a:rPr lang="en-GB" altLang="en-US" sz="2400" i="1" dirty="0" err="1">
                <a:solidFill>
                  <a:schemeClr val="accent3">
                    <a:lumMod val="65000"/>
                  </a:schemeClr>
                </a:solidFill>
              </a:rPr>
              <a:t>minsup</a:t>
            </a:r>
            <a:endParaRPr lang="en-GB" altLang="en-US" sz="2400" i="1" dirty="0">
              <a:solidFill>
                <a:schemeClr val="accent3">
                  <a:lumMod val="65000"/>
                </a:schemeClr>
              </a:solidFill>
            </a:endParaRPr>
          </a:p>
          <a:p>
            <a:pPr marL="609600" indent="-609600">
              <a:buNone/>
              <a:defRPr/>
            </a:pP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8        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}  /*  end   -- return all of the </a:t>
            </a:r>
            <a:r>
              <a:rPr lang="en-GB" altLang="en-US" sz="2400" i="1" dirty="0">
                <a:solidFill>
                  <a:schemeClr val="accent3">
                    <a:lumMod val="65000"/>
                  </a:schemeClr>
                </a:solidFill>
              </a:rPr>
              <a:t>L</a:t>
            </a:r>
            <a:r>
              <a:rPr lang="en-GB" altLang="en-US" sz="2400" i="1" baseline="-25000" dirty="0">
                <a:solidFill>
                  <a:schemeClr val="accent3">
                    <a:lumMod val="65000"/>
                  </a:schemeClr>
                </a:solidFill>
              </a:rPr>
              <a:t>k</a:t>
            </a:r>
            <a:r>
              <a:rPr lang="en-GB" altLang="en-US" sz="2400" baseline="-25000" dirty="0">
                <a:solidFill>
                  <a:schemeClr val="accent3">
                    <a:lumMod val="65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accent3">
                    <a:lumMod val="65000"/>
                  </a:schemeClr>
                </a:solidFill>
              </a:rPr>
              <a:t>sets</a:t>
            </a:r>
            <a:r>
              <a:rPr lang="en-GB" altLang="en-US" sz="2400" dirty="0"/>
              <a:t>.</a:t>
            </a:r>
            <a:endParaRPr lang="en-GB" altLang="en-US" sz="2400" i="1" baseline="-25000" dirty="0"/>
          </a:p>
        </p:txBody>
      </p:sp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4467225" y="2492376"/>
            <a:ext cx="617855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Generate candidate 4-itemsets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Prune them to leave the valid ones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(those with enough support)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</a:rPr>
              <a:t>                          … etc …</a:t>
            </a:r>
          </a:p>
        </p:txBody>
      </p:sp>
    </p:spTree>
    <p:extLst>
      <p:ext uri="{BB962C8B-B14F-4D97-AF65-F5344CB8AC3E}">
        <p14:creationId xmlns:p14="http://schemas.microsoft.com/office/powerpoint/2010/main" val="30157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Generating candidate itemsets …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135188" y="1412876"/>
            <a:ext cx="7847012" cy="4683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Suppose these are the only 3-itemsets all have &gt;10% support: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{a, b, c}</a:t>
            </a:r>
          </a:p>
          <a:p>
            <a:pPr marL="0" indent="0">
              <a:buNone/>
            </a:pPr>
            <a:r>
              <a:rPr lang="en-GB" altLang="en-US" sz="2400"/>
              <a:t>{a, e, g}</a:t>
            </a:r>
          </a:p>
          <a:p>
            <a:pPr marL="0" indent="0">
              <a:buNone/>
            </a:pPr>
            <a:r>
              <a:rPr lang="en-GB" altLang="en-US" sz="2400"/>
              <a:t>{e, f,  h}</a:t>
            </a:r>
          </a:p>
          <a:p>
            <a:pPr marL="0" indent="0">
              <a:buNone/>
            </a:pPr>
            <a:r>
              <a:rPr lang="en-GB" altLang="en-US" sz="2400"/>
              <a:t>{e, f,  k}</a:t>
            </a:r>
          </a:p>
          <a:p>
            <a:pPr marL="0" indent="0">
              <a:buNone/>
            </a:pPr>
            <a:r>
              <a:rPr lang="en-GB" altLang="en-US" sz="2400"/>
              <a:t>{p, q, r}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.. How do we generate candidate 4-itemsets that </a:t>
            </a:r>
            <a:r>
              <a:rPr lang="en-GB" altLang="en-US" sz="2400" i="1"/>
              <a:t>might </a:t>
            </a:r>
            <a:r>
              <a:rPr lang="en-GB" altLang="en-US" sz="2400"/>
              <a:t>have 10% support?</a:t>
            </a:r>
          </a:p>
        </p:txBody>
      </p:sp>
    </p:spTree>
    <p:extLst>
      <p:ext uri="{BB962C8B-B14F-4D97-AF65-F5344CB8AC3E}">
        <p14:creationId xmlns:p14="http://schemas.microsoft.com/office/powerpoint/2010/main" val="185964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Generating candidate itemsets …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2135188" y="1412876"/>
            <a:ext cx="7847012" cy="4683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Suppose these are the only 3-itemsets all have &gt;10% support: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{a, b, c}</a:t>
            </a:r>
          </a:p>
          <a:p>
            <a:pPr marL="0" indent="0">
              <a:buNone/>
            </a:pPr>
            <a:r>
              <a:rPr lang="en-GB" altLang="en-US" sz="2400"/>
              <a:t>{a, e, g}</a:t>
            </a:r>
          </a:p>
          <a:p>
            <a:pPr marL="0" indent="0">
              <a:buNone/>
            </a:pPr>
            <a:r>
              <a:rPr lang="en-GB" altLang="en-US" sz="2400"/>
              <a:t>{e, f,  h}</a:t>
            </a:r>
          </a:p>
          <a:p>
            <a:pPr marL="0" indent="0">
              <a:buNone/>
            </a:pPr>
            <a:r>
              <a:rPr lang="en-GB" altLang="en-US" sz="2400"/>
              <a:t>{e, f,  k}</a:t>
            </a:r>
          </a:p>
          <a:p>
            <a:pPr marL="0" indent="0">
              <a:buNone/>
            </a:pPr>
            <a:r>
              <a:rPr lang="en-GB" altLang="en-US" sz="2400"/>
              <a:t>{p, q, r}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26628" name="TextBox 1"/>
          <p:cNvSpPr txBox="1">
            <a:spLocks noChangeArrowheads="1"/>
          </p:cNvSpPr>
          <p:nvPr/>
        </p:nvSpPr>
        <p:spPr bwMode="auto">
          <a:xfrm>
            <a:off x="4511675" y="1989138"/>
            <a:ext cx="5232400" cy="30464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One possibility: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1.  note all the items involved: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              {a, b, c, e, f, g, h, k, p, q, r}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2.  generate all subsets of 4 of these: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{a,b,c,e}, {a,,b,c,f}, {a,b,c,g}, {a,b,c,h},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{a,b,c,k}, {a,b,c, p},… etc … there are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330 possible subsets in this case !</a:t>
            </a:r>
          </a:p>
        </p:txBody>
      </p:sp>
    </p:spTree>
    <p:extLst>
      <p:ext uri="{BB962C8B-B14F-4D97-AF65-F5344CB8AC3E}">
        <p14:creationId xmlns:p14="http://schemas.microsoft.com/office/powerpoint/2010/main" val="325294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Generating candidate itemsets …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135188" y="1412876"/>
            <a:ext cx="7847012" cy="4683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Suppose these are the only 3-itemsets all have &gt;10% support: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{a, b, c}</a:t>
            </a:r>
          </a:p>
          <a:p>
            <a:pPr marL="0" indent="0">
              <a:buNone/>
            </a:pPr>
            <a:r>
              <a:rPr lang="en-GB" altLang="en-US" sz="2400"/>
              <a:t>{a, e, g}</a:t>
            </a:r>
          </a:p>
          <a:p>
            <a:pPr marL="0" indent="0">
              <a:buNone/>
            </a:pPr>
            <a:r>
              <a:rPr lang="en-GB" altLang="en-US" sz="2400"/>
              <a:t>{e, f,  h}</a:t>
            </a:r>
          </a:p>
          <a:p>
            <a:pPr marL="0" indent="0">
              <a:buNone/>
            </a:pPr>
            <a:r>
              <a:rPr lang="en-GB" altLang="en-US" sz="2400"/>
              <a:t>{e, f,  k}</a:t>
            </a:r>
          </a:p>
          <a:p>
            <a:pPr marL="0" indent="0">
              <a:buNone/>
            </a:pPr>
            <a:r>
              <a:rPr lang="en-GB" altLang="en-US" sz="2400"/>
              <a:t>{p, q, r}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27652" name="TextBox 1"/>
          <p:cNvSpPr txBox="1">
            <a:spLocks noChangeArrowheads="1"/>
          </p:cNvSpPr>
          <p:nvPr/>
        </p:nvSpPr>
        <p:spPr bwMode="auto">
          <a:xfrm>
            <a:off x="4511675" y="1989138"/>
            <a:ext cx="5232400" cy="30464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One possibility: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1.  note all the items involved: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              {a, b, c, e, f, g, h, k, p, q, r}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2.  generate all subsets of 4 of these: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  <a:r>
              <a:rPr lang="en-GB" altLang="en-US" sz="2400">
                <a:solidFill>
                  <a:srgbClr val="FF0000"/>
                </a:solidFill>
              </a:rPr>
              <a:t>{a,b,c,e}</a:t>
            </a:r>
            <a:r>
              <a:rPr lang="en-GB" altLang="en-US" sz="2400"/>
              <a:t>, {a,b,c,f}, {a,b,c,g}, {a,b,c,h},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{a,b,c,k}, {a,b,c, p},… etc … there are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330 possible subsets in this case !</a:t>
            </a:r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1992313" y="5157788"/>
            <a:ext cx="7904162" cy="8302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But, hold on:  we can easily see that </a:t>
            </a:r>
            <a:r>
              <a:rPr lang="en-GB" altLang="en-US" sz="2400">
                <a:solidFill>
                  <a:srgbClr val="FF0000"/>
                </a:solidFill>
              </a:rPr>
              <a:t>{a,b,c,e}  </a:t>
            </a:r>
            <a:r>
              <a:rPr lang="en-GB" altLang="en-US" sz="2400"/>
              <a:t>couldn’t have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10% support – because </a:t>
            </a:r>
            <a:r>
              <a:rPr lang="en-GB" altLang="en-US" sz="2400">
                <a:solidFill>
                  <a:srgbClr val="0033CC"/>
                </a:solidFill>
              </a:rPr>
              <a:t>{a,b,e} </a:t>
            </a:r>
            <a:r>
              <a:rPr lang="en-GB" altLang="en-US" sz="2400">
                <a:solidFill>
                  <a:schemeClr val="tx2"/>
                </a:solidFill>
              </a:rPr>
              <a:t>is </a:t>
            </a:r>
            <a:r>
              <a:rPr lang="en-GB" altLang="en-US" sz="2400" i="1">
                <a:solidFill>
                  <a:schemeClr val="tx2"/>
                </a:solidFill>
              </a:rPr>
              <a:t>not </a:t>
            </a:r>
            <a:r>
              <a:rPr lang="en-GB" altLang="en-US" sz="2400">
                <a:solidFill>
                  <a:schemeClr val="tx2"/>
                </a:solidFill>
              </a:rPr>
              <a:t>one of our 3-itsemsets</a:t>
            </a:r>
          </a:p>
        </p:txBody>
      </p:sp>
    </p:spTree>
    <p:extLst>
      <p:ext uri="{BB962C8B-B14F-4D97-AF65-F5344CB8AC3E}">
        <p14:creationId xmlns:p14="http://schemas.microsoft.com/office/powerpoint/2010/main" val="196858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Generating candidate itemsets …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135188" y="1412876"/>
            <a:ext cx="7847012" cy="4683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Suppose these are the only 3-itemsets all have &gt;10% support: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{a, b, c}</a:t>
            </a:r>
          </a:p>
          <a:p>
            <a:pPr marL="0" indent="0">
              <a:buNone/>
            </a:pPr>
            <a:r>
              <a:rPr lang="en-GB" altLang="en-US" sz="2400"/>
              <a:t>{a, e, g}</a:t>
            </a:r>
          </a:p>
          <a:p>
            <a:pPr marL="0" indent="0">
              <a:buNone/>
            </a:pPr>
            <a:r>
              <a:rPr lang="en-GB" altLang="en-US" sz="2400"/>
              <a:t>{e, f,  h}</a:t>
            </a:r>
          </a:p>
          <a:p>
            <a:pPr marL="0" indent="0">
              <a:buNone/>
            </a:pPr>
            <a:r>
              <a:rPr lang="en-GB" altLang="en-US" sz="2400"/>
              <a:t>{e, f,  k}</a:t>
            </a:r>
          </a:p>
          <a:p>
            <a:pPr marL="0" indent="0">
              <a:buNone/>
            </a:pPr>
            <a:r>
              <a:rPr lang="en-GB" altLang="en-US" sz="2400"/>
              <a:t>{p, q, r}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28676" name="TextBox 1"/>
          <p:cNvSpPr txBox="1">
            <a:spLocks noChangeArrowheads="1"/>
          </p:cNvSpPr>
          <p:nvPr/>
        </p:nvSpPr>
        <p:spPr bwMode="auto">
          <a:xfrm>
            <a:off x="4511675" y="1989138"/>
            <a:ext cx="5232400" cy="30464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One possibility: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1.  note all the items involved: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              {a, b, c, e, f, g, h, k, p, q, r}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2.  generate all subsets of 4 of these: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  <a:r>
              <a:rPr lang="en-GB" altLang="en-US" sz="2400">
                <a:solidFill>
                  <a:srgbClr val="FF0000"/>
                </a:solidFill>
              </a:rPr>
              <a:t>{a,b,c,e}</a:t>
            </a:r>
            <a:r>
              <a:rPr lang="en-GB" altLang="en-US" sz="2400"/>
              <a:t>, {a,b,c,f}, {a,b,c,g}, {a,b,c,h},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{a,b,c,k}, {a,b,c, p},… etc … there are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330 possible subsets in this case !</a:t>
            </a:r>
          </a:p>
        </p:txBody>
      </p:sp>
      <p:sp>
        <p:nvSpPr>
          <p:cNvPr id="28677" name="TextBox 4"/>
          <p:cNvSpPr txBox="1">
            <a:spLocks noChangeArrowheads="1"/>
          </p:cNvSpPr>
          <p:nvPr/>
        </p:nvSpPr>
        <p:spPr bwMode="auto">
          <a:xfrm>
            <a:off x="1992313" y="5157788"/>
            <a:ext cx="7904162" cy="8302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But, hold on:   the same goes for several other of these subsets …</a:t>
            </a:r>
            <a:endParaRPr lang="en-GB" altLang="en-US" sz="2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06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A neat Apriori trick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135188" y="1412876"/>
            <a:ext cx="7847012" cy="4683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 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{a, b, c}</a:t>
            </a:r>
          </a:p>
          <a:p>
            <a:pPr marL="0" indent="0">
              <a:buNone/>
            </a:pPr>
            <a:r>
              <a:rPr lang="en-GB" altLang="en-US" sz="2400"/>
              <a:t>{a, e, g}</a:t>
            </a:r>
          </a:p>
          <a:p>
            <a:pPr marL="0" indent="0">
              <a:buNone/>
            </a:pPr>
            <a:r>
              <a:rPr lang="en-GB" altLang="en-US" sz="2400"/>
              <a:t>{</a:t>
            </a:r>
            <a:r>
              <a:rPr lang="en-GB" altLang="en-US" sz="2400">
                <a:solidFill>
                  <a:srgbClr val="008000"/>
                </a:solidFill>
              </a:rPr>
              <a:t>e, f</a:t>
            </a:r>
            <a:r>
              <a:rPr lang="en-GB" altLang="en-US" sz="2400"/>
              <a:t>,  h}</a:t>
            </a:r>
          </a:p>
          <a:p>
            <a:pPr marL="0" indent="0">
              <a:buNone/>
            </a:pPr>
            <a:r>
              <a:rPr lang="en-GB" altLang="en-US" sz="2400"/>
              <a:t>{</a:t>
            </a:r>
            <a:r>
              <a:rPr lang="en-GB" altLang="en-US" sz="2400">
                <a:solidFill>
                  <a:srgbClr val="008000"/>
                </a:solidFill>
              </a:rPr>
              <a:t>e, f</a:t>
            </a:r>
            <a:r>
              <a:rPr lang="en-GB" altLang="en-US" sz="2400"/>
              <a:t>,  k}</a:t>
            </a:r>
          </a:p>
          <a:p>
            <a:pPr marL="0" indent="0">
              <a:buNone/>
            </a:pPr>
            <a:r>
              <a:rPr lang="en-GB" altLang="en-US" sz="2400"/>
              <a:t>{p, q, r}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2" name="TextBox 1"/>
          <p:cNvSpPr txBox="1"/>
          <p:nvPr/>
        </p:nvSpPr>
        <p:spPr>
          <a:xfrm>
            <a:off x="4440239" y="1412876"/>
            <a:ext cx="4827347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514350" indent="-514350">
              <a:buFontTx/>
              <a:buAutoNum type="romanLcPeriod"/>
              <a:defRPr/>
            </a:pPr>
            <a:r>
              <a:rPr lang="en-GB" dirty="0">
                <a:cs typeface="Arial" charset="0"/>
              </a:rPr>
              <a:t>enforce that subsets are always arranged 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‘lexicographically’ (or similar), as they are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already on the left </a:t>
            </a:r>
          </a:p>
          <a:p>
            <a:pPr>
              <a:defRPr/>
            </a:pPr>
            <a:endParaRPr lang="en-GB" b="1" dirty="0">
              <a:cs typeface="Arial" charset="0"/>
            </a:endParaRPr>
          </a:p>
          <a:p>
            <a:pPr marL="514350" indent="-514350">
              <a:buFontTx/>
              <a:buAutoNum type="romanLcPeriod" startAt="2"/>
              <a:defRPr/>
            </a:pPr>
            <a:r>
              <a:rPr lang="en-GB" b="1" dirty="0">
                <a:cs typeface="Arial" charset="0"/>
              </a:rPr>
              <a:t>Only </a:t>
            </a:r>
            <a:r>
              <a:rPr lang="en-GB" dirty="0">
                <a:cs typeface="Arial" charset="0"/>
              </a:rPr>
              <a:t>generate </a:t>
            </a:r>
            <a:r>
              <a:rPr lang="en-GB" i="1" dirty="0">
                <a:cs typeface="Arial" charset="0"/>
              </a:rPr>
              <a:t>k</a:t>
            </a:r>
            <a:r>
              <a:rPr lang="en-GB" dirty="0">
                <a:cs typeface="Arial" charset="0"/>
              </a:rPr>
              <a:t>+1-itemset candidates from </a:t>
            </a:r>
          </a:p>
          <a:p>
            <a:pPr>
              <a:defRPr/>
            </a:pPr>
            <a:r>
              <a:rPr lang="en-GB" i="1" dirty="0">
                <a:cs typeface="Arial" charset="0"/>
              </a:rPr>
              <a:t>k-</a:t>
            </a:r>
            <a:r>
              <a:rPr lang="en-GB" dirty="0" err="1">
                <a:cs typeface="Arial" charset="0"/>
              </a:rPr>
              <a:t>itemsets</a:t>
            </a:r>
            <a:r>
              <a:rPr lang="en-GB" dirty="0">
                <a:cs typeface="Arial" charset="0"/>
              </a:rPr>
              <a:t> </a:t>
            </a:r>
            <a:r>
              <a:rPr lang="en-GB" i="1" dirty="0">
                <a:cs typeface="Arial" charset="0"/>
              </a:rPr>
              <a:t> </a:t>
            </a:r>
            <a:r>
              <a:rPr lang="en-GB" dirty="0">
                <a:cs typeface="Arial" charset="0"/>
              </a:rPr>
              <a:t>that differ </a:t>
            </a:r>
            <a:r>
              <a:rPr lang="en-GB" u="sng" dirty="0">
                <a:cs typeface="Arial" charset="0"/>
              </a:rPr>
              <a:t>in the last item</a:t>
            </a:r>
            <a:r>
              <a:rPr lang="en-GB" dirty="0">
                <a:cs typeface="Arial" charset="0"/>
              </a:rPr>
              <a:t>.</a:t>
            </a:r>
          </a:p>
          <a:p>
            <a:pPr>
              <a:defRPr/>
            </a:pPr>
            <a:endParaRPr lang="en-GB" dirty="0">
              <a:cs typeface="Arial" charset="0"/>
            </a:endParaRPr>
          </a:p>
          <a:p>
            <a:pPr>
              <a:defRPr/>
            </a:pPr>
            <a:r>
              <a:rPr lang="en-GB" dirty="0">
                <a:cs typeface="Arial" charset="0"/>
              </a:rPr>
              <a:t>So, in this case, the only candidate 4-itemset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would be:</a:t>
            </a:r>
          </a:p>
          <a:p>
            <a:pPr>
              <a:defRPr/>
            </a:pPr>
            <a:endParaRPr lang="en-GB" dirty="0">
              <a:cs typeface="Arial" charset="0"/>
            </a:endParaRPr>
          </a:p>
          <a:p>
            <a:pPr>
              <a:defRPr/>
            </a:pPr>
            <a:r>
              <a:rPr lang="en-GB" dirty="0">
                <a:cs typeface="Arial" charset="0"/>
              </a:rPr>
              <a:t> {e, f, h, k}  </a:t>
            </a:r>
          </a:p>
        </p:txBody>
      </p:sp>
    </p:spTree>
    <p:extLst>
      <p:ext uri="{BB962C8B-B14F-4D97-AF65-F5344CB8AC3E}">
        <p14:creationId xmlns:p14="http://schemas.microsoft.com/office/powerpoint/2010/main" val="98311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A neat Apriori trick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2135188" y="1412876"/>
            <a:ext cx="7847012" cy="4683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 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{a, b, c, e}</a:t>
            </a:r>
          </a:p>
          <a:p>
            <a:pPr marL="0" indent="0">
              <a:buNone/>
            </a:pPr>
            <a:r>
              <a:rPr lang="en-GB" altLang="en-US" sz="2400"/>
              <a:t>{</a:t>
            </a:r>
            <a:r>
              <a:rPr lang="en-GB" altLang="en-US" sz="2400">
                <a:solidFill>
                  <a:srgbClr val="008000"/>
                </a:solidFill>
              </a:rPr>
              <a:t>a, e, g</a:t>
            </a:r>
            <a:r>
              <a:rPr lang="en-GB" altLang="en-US" sz="2400"/>
              <a:t>, r}</a:t>
            </a:r>
          </a:p>
          <a:p>
            <a:pPr marL="0" indent="0">
              <a:buNone/>
            </a:pPr>
            <a:r>
              <a:rPr lang="en-GB" altLang="en-US" sz="2400"/>
              <a:t>{</a:t>
            </a:r>
            <a:r>
              <a:rPr lang="en-GB" altLang="en-US" sz="2400">
                <a:solidFill>
                  <a:srgbClr val="008000"/>
                </a:solidFill>
              </a:rPr>
              <a:t>a, e</a:t>
            </a:r>
            <a:r>
              <a:rPr lang="en-GB" altLang="en-US" sz="2400"/>
              <a:t>,</a:t>
            </a:r>
            <a:r>
              <a:rPr lang="en-GB" altLang="en-US" sz="2400">
                <a:solidFill>
                  <a:srgbClr val="008000"/>
                </a:solidFill>
              </a:rPr>
              <a:t> g</a:t>
            </a:r>
            <a:r>
              <a:rPr lang="en-GB" altLang="en-US" sz="2400"/>
              <a:t>, w}</a:t>
            </a:r>
          </a:p>
          <a:p>
            <a:pPr marL="0" indent="0">
              <a:buNone/>
            </a:pPr>
            <a:r>
              <a:rPr lang="en-GB" altLang="en-US" sz="2400"/>
              <a:t>{e, f,  k, p}</a:t>
            </a:r>
          </a:p>
          <a:p>
            <a:pPr marL="0" indent="0">
              <a:buNone/>
            </a:pPr>
            <a:r>
              <a:rPr lang="en-GB" altLang="en-US" sz="2400"/>
              <a:t>{</a:t>
            </a:r>
            <a:r>
              <a:rPr lang="en-GB" altLang="en-US" sz="2400">
                <a:solidFill>
                  <a:srgbClr val="008000"/>
                </a:solidFill>
              </a:rPr>
              <a:t>n, q, r</a:t>
            </a:r>
            <a:r>
              <a:rPr lang="en-GB" altLang="en-US" sz="2400"/>
              <a:t>, t }</a:t>
            </a:r>
          </a:p>
          <a:p>
            <a:pPr marL="0" indent="0">
              <a:buNone/>
            </a:pPr>
            <a:r>
              <a:rPr lang="en-GB" altLang="en-US" sz="2400"/>
              <a:t>{</a:t>
            </a:r>
            <a:r>
              <a:rPr lang="en-GB" altLang="en-US" sz="2400">
                <a:solidFill>
                  <a:srgbClr val="008000"/>
                </a:solidFill>
              </a:rPr>
              <a:t>n, q, r</a:t>
            </a:r>
            <a:r>
              <a:rPr lang="en-GB" altLang="en-US" sz="2400"/>
              <a:t>, v }</a:t>
            </a:r>
          </a:p>
          <a:p>
            <a:pPr marL="0" indent="0">
              <a:buNone/>
            </a:pPr>
            <a:r>
              <a:rPr lang="en-GB" altLang="en-US" sz="2400"/>
              <a:t>{n, q, s, v }</a:t>
            </a:r>
          </a:p>
          <a:p>
            <a:pPr marL="0" indent="0">
              <a:buNone/>
            </a:pP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2" name="TextBox 1"/>
          <p:cNvSpPr txBox="1"/>
          <p:nvPr/>
        </p:nvSpPr>
        <p:spPr>
          <a:xfrm>
            <a:off x="4440239" y="1412876"/>
            <a:ext cx="4827347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514350" indent="-514350">
              <a:buFontTx/>
              <a:buAutoNum type="romanLcPeriod"/>
              <a:defRPr/>
            </a:pPr>
            <a:r>
              <a:rPr lang="en-GB" dirty="0">
                <a:cs typeface="Arial" charset="0"/>
              </a:rPr>
              <a:t>enforce that subsets are always arranged 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‘lexicographically’ (or similar), as they are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already on the left </a:t>
            </a:r>
          </a:p>
          <a:p>
            <a:pPr>
              <a:defRPr/>
            </a:pPr>
            <a:endParaRPr lang="en-GB" b="1" dirty="0">
              <a:cs typeface="Arial" charset="0"/>
            </a:endParaRPr>
          </a:p>
          <a:p>
            <a:pPr marL="514350" indent="-514350">
              <a:buFontTx/>
              <a:buAutoNum type="romanLcPeriod" startAt="2"/>
              <a:defRPr/>
            </a:pPr>
            <a:r>
              <a:rPr lang="en-GB" b="1" dirty="0">
                <a:cs typeface="Arial" charset="0"/>
              </a:rPr>
              <a:t>Only </a:t>
            </a:r>
            <a:r>
              <a:rPr lang="en-GB" dirty="0">
                <a:cs typeface="Arial" charset="0"/>
              </a:rPr>
              <a:t>generate </a:t>
            </a:r>
            <a:r>
              <a:rPr lang="en-GB" i="1" dirty="0">
                <a:cs typeface="Arial" charset="0"/>
              </a:rPr>
              <a:t>k</a:t>
            </a:r>
            <a:r>
              <a:rPr lang="en-GB" dirty="0">
                <a:cs typeface="Arial" charset="0"/>
              </a:rPr>
              <a:t>+1-itemset candidates from </a:t>
            </a:r>
          </a:p>
          <a:p>
            <a:pPr>
              <a:defRPr/>
            </a:pPr>
            <a:r>
              <a:rPr lang="en-GB" i="1" dirty="0">
                <a:cs typeface="Arial" charset="0"/>
              </a:rPr>
              <a:t>k-</a:t>
            </a:r>
            <a:r>
              <a:rPr lang="en-GB" dirty="0" err="1">
                <a:cs typeface="Arial" charset="0"/>
              </a:rPr>
              <a:t>itemsets</a:t>
            </a:r>
            <a:r>
              <a:rPr lang="en-GB" dirty="0">
                <a:cs typeface="Arial" charset="0"/>
              </a:rPr>
              <a:t> </a:t>
            </a:r>
            <a:r>
              <a:rPr lang="en-GB" i="1" dirty="0">
                <a:cs typeface="Arial" charset="0"/>
              </a:rPr>
              <a:t> </a:t>
            </a:r>
            <a:r>
              <a:rPr lang="en-GB" dirty="0">
                <a:cs typeface="Arial" charset="0"/>
              </a:rPr>
              <a:t>that differ </a:t>
            </a:r>
            <a:r>
              <a:rPr lang="en-GB" u="sng" dirty="0">
                <a:cs typeface="Arial" charset="0"/>
              </a:rPr>
              <a:t>in the last item</a:t>
            </a:r>
            <a:r>
              <a:rPr lang="en-GB" dirty="0">
                <a:cs typeface="Arial" charset="0"/>
              </a:rPr>
              <a:t>.</a:t>
            </a:r>
          </a:p>
          <a:p>
            <a:pPr>
              <a:defRPr/>
            </a:pPr>
            <a:endParaRPr lang="en-GB" dirty="0">
              <a:cs typeface="Arial" charset="0"/>
            </a:endParaRPr>
          </a:p>
          <a:p>
            <a:pPr>
              <a:defRPr/>
            </a:pPr>
            <a:r>
              <a:rPr lang="en-GB" dirty="0">
                <a:cs typeface="Arial" charset="0"/>
              </a:rPr>
              <a:t>And in this case, the only candidate 5-itemsets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would be:</a:t>
            </a:r>
          </a:p>
          <a:p>
            <a:pPr>
              <a:defRPr/>
            </a:pPr>
            <a:endParaRPr lang="en-GB" dirty="0">
              <a:cs typeface="Arial" charset="0"/>
            </a:endParaRPr>
          </a:p>
          <a:p>
            <a:pPr>
              <a:defRPr/>
            </a:pPr>
            <a:r>
              <a:rPr lang="en-GB" dirty="0">
                <a:cs typeface="Arial" charset="0"/>
              </a:rPr>
              <a:t> {a, e, g, r, w},   {n, q, r, t, v}  </a:t>
            </a:r>
          </a:p>
        </p:txBody>
      </p:sp>
    </p:spTree>
    <p:extLst>
      <p:ext uri="{BB962C8B-B14F-4D97-AF65-F5344CB8AC3E}">
        <p14:creationId xmlns:p14="http://schemas.microsoft.com/office/powerpoint/2010/main" val="285842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A neat Apriori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9289" y="1773238"/>
            <a:ext cx="8353425" cy="28623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dirty="0">
                <a:cs typeface="Arial" charset="0"/>
              </a:rPr>
              <a:t>This trick</a:t>
            </a:r>
          </a:p>
          <a:p>
            <a:pPr>
              <a:defRPr/>
            </a:pPr>
            <a:r>
              <a:rPr lang="en-GB" dirty="0">
                <a:cs typeface="Arial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cs typeface="Arial" charset="0"/>
              </a:rPr>
              <a:t>guarantees </a:t>
            </a:r>
            <a:r>
              <a:rPr lang="en-GB" dirty="0">
                <a:cs typeface="Arial" charset="0"/>
              </a:rPr>
              <a:t>to capture the </a:t>
            </a:r>
            <a:r>
              <a:rPr lang="en-GB" dirty="0" err="1">
                <a:cs typeface="Arial" charset="0"/>
              </a:rPr>
              <a:t>itemsets</a:t>
            </a:r>
            <a:r>
              <a:rPr lang="en-GB" dirty="0">
                <a:cs typeface="Arial" charset="0"/>
              </a:rPr>
              <a:t> that have enough  support,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GB" dirty="0"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dirty="0">
                <a:cs typeface="Arial" charset="0"/>
              </a:rPr>
              <a:t>will still generate </a:t>
            </a:r>
            <a:r>
              <a:rPr lang="en-GB" b="1" dirty="0">
                <a:cs typeface="Arial" charset="0"/>
              </a:rPr>
              <a:t>some</a:t>
            </a:r>
            <a:r>
              <a:rPr lang="en-GB" dirty="0">
                <a:cs typeface="Arial" charset="0"/>
              </a:rPr>
              <a:t> candidates that don’t have enough support, so we still have to check them in the ‘pruning’ step, 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GB" dirty="0"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dirty="0">
                <a:cs typeface="Arial" charset="0"/>
              </a:rPr>
              <a:t>is particularly convenient for implementation in a standard relational style transaction database; it is a certain type of ‘self-Join’ operation. </a:t>
            </a:r>
          </a:p>
          <a:p>
            <a:pPr>
              <a:defRPr/>
            </a:pPr>
            <a:endParaRPr lang="en-GB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90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Explaining the Apriori Algorithm …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68413"/>
            <a:ext cx="7924800" cy="4572000"/>
          </a:xfrm>
        </p:spPr>
        <p:txBody>
          <a:bodyPr/>
          <a:lstStyle/>
          <a:p>
            <a:pPr marL="609600" indent="-609600">
              <a:buNone/>
            </a:pPr>
            <a:r>
              <a:rPr lang="en-GB" altLang="en-US" sz="2400"/>
              <a:t>1:  Find all large 1-itemsets</a:t>
            </a:r>
          </a:p>
          <a:p>
            <a:pPr marL="609600" indent="-609600">
              <a:buNone/>
            </a:pPr>
            <a:endParaRPr lang="en-GB" altLang="en-US" sz="2400"/>
          </a:p>
          <a:p>
            <a:pPr marL="609600" indent="-609600">
              <a:buNone/>
            </a:pPr>
            <a:r>
              <a:rPr lang="en-GB" altLang="en-US"/>
              <a:t> To start off, we simply find all of the large               1-itemsets. This is done by a basic scan of the DB. We take each item in turn, and count the number of times that item appears in a basket. In our running example, suppose minimum support was 60%, then the only large 1-itemsets would be: {a}, {b}, {c}, {d} and {f}. So we get</a:t>
            </a:r>
          </a:p>
          <a:p>
            <a:pPr marL="609600" indent="-609600">
              <a:buNone/>
            </a:pPr>
            <a:r>
              <a:rPr lang="en-GB" altLang="en-US"/>
              <a:t>                 </a:t>
            </a:r>
            <a:r>
              <a:rPr lang="en-GB" altLang="en-US" i="1"/>
              <a:t>L</a:t>
            </a:r>
            <a:r>
              <a:rPr lang="en-GB" altLang="en-US" baseline="-25000"/>
              <a:t>1</a:t>
            </a:r>
            <a:r>
              <a:rPr lang="en-GB" altLang="en-US" i="1"/>
              <a:t> = </a:t>
            </a:r>
            <a:r>
              <a:rPr lang="en-GB" altLang="en-US"/>
              <a:t>{ {a}, {b}, {c}, {d}, {f}}</a:t>
            </a:r>
            <a:endParaRPr lang="en-GB" altLang="en-US" baseline="-25000"/>
          </a:p>
        </p:txBody>
      </p:sp>
    </p:spTree>
    <p:extLst>
      <p:ext uri="{BB962C8B-B14F-4D97-AF65-F5344CB8AC3E}">
        <p14:creationId xmlns:p14="http://schemas.microsoft.com/office/powerpoint/2010/main" val="299232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Explaining the Apriori Algorithm …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24800" cy="4572000"/>
          </a:xfrm>
        </p:spPr>
        <p:txBody>
          <a:bodyPr/>
          <a:lstStyle/>
          <a:p>
            <a:pPr marL="609600" indent="-609600">
              <a:buNone/>
            </a:pPr>
            <a:r>
              <a:rPr lang="en-GB" altLang="en-US"/>
              <a:t>1</a:t>
            </a:r>
            <a:r>
              <a:rPr lang="en-GB" altLang="en-US" sz="2400"/>
              <a:t>:  Find all large 1-itemsets</a:t>
            </a:r>
          </a:p>
          <a:p>
            <a:pPr marL="609600" indent="-609600">
              <a:buNone/>
            </a:pPr>
            <a:r>
              <a:rPr lang="en-GB" altLang="en-US" sz="2400">
                <a:solidFill>
                  <a:srgbClr val="990000"/>
                </a:solidFill>
              </a:rPr>
              <a:t>2:  For (</a:t>
            </a:r>
            <a:r>
              <a:rPr lang="en-GB" altLang="en-US" sz="2400" i="1">
                <a:solidFill>
                  <a:srgbClr val="990000"/>
                </a:solidFill>
              </a:rPr>
              <a:t>k </a:t>
            </a:r>
            <a:r>
              <a:rPr lang="en-GB" altLang="en-US" sz="2400">
                <a:solidFill>
                  <a:srgbClr val="990000"/>
                </a:solidFill>
              </a:rPr>
              <a:t>= 2 ; while </a:t>
            </a:r>
            <a:r>
              <a:rPr lang="en-GB" altLang="en-US" sz="2400" i="1">
                <a:solidFill>
                  <a:srgbClr val="990000"/>
                </a:solidFill>
              </a:rPr>
              <a:t>L</a:t>
            </a:r>
            <a:r>
              <a:rPr lang="en-GB" altLang="en-US" sz="2400" i="1" baseline="-25000">
                <a:solidFill>
                  <a:srgbClr val="990000"/>
                </a:solidFill>
              </a:rPr>
              <a:t>k</a:t>
            </a:r>
            <a:r>
              <a:rPr lang="en-GB" altLang="en-US" sz="2400" baseline="-25000">
                <a:solidFill>
                  <a:srgbClr val="990000"/>
                </a:solidFill>
              </a:rPr>
              <a:t>-1 </a:t>
            </a:r>
            <a:r>
              <a:rPr lang="en-GB" altLang="en-US" sz="2400">
                <a:solidFill>
                  <a:srgbClr val="990000"/>
                </a:solidFill>
              </a:rPr>
              <a:t>is non-empty; </a:t>
            </a:r>
            <a:r>
              <a:rPr lang="en-GB" altLang="en-US" sz="2400" i="1">
                <a:solidFill>
                  <a:srgbClr val="990000"/>
                </a:solidFill>
              </a:rPr>
              <a:t>k</a:t>
            </a:r>
            <a:r>
              <a:rPr lang="en-GB" altLang="en-US" sz="2400">
                <a:solidFill>
                  <a:srgbClr val="990000"/>
                </a:solidFill>
              </a:rPr>
              <a:t>++)</a:t>
            </a:r>
          </a:p>
          <a:p>
            <a:pPr marL="609600" indent="-609600">
              <a:buNone/>
            </a:pPr>
            <a:r>
              <a:rPr lang="en-GB" altLang="en-US" sz="2400">
                <a:solidFill>
                  <a:srgbClr val="990000"/>
                </a:solidFill>
              </a:rPr>
              <a:t>     </a:t>
            </a:r>
            <a:endParaRPr lang="en-GB" altLang="en-US" sz="2400"/>
          </a:p>
          <a:p>
            <a:pPr marL="609600" indent="-609600">
              <a:buNone/>
            </a:pPr>
            <a:r>
              <a:rPr lang="en-GB" altLang="en-US" sz="2400"/>
              <a:t>     We already have </a:t>
            </a:r>
            <a:r>
              <a:rPr lang="en-GB" altLang="en-US" sz="2400" i="1">
                <a:solidFill>
                  <a:srgbClr val="990000"/>
                </a:solidFill>
              </a:rPr>
              <a:t>L</a:t>
            </a:r>
            <a:r>
              <a:rPr lang="en-GB" altLang="en-US" sz="2400" baseline="-25000">
                <a:solidFill>
                  <a:srgbClr val="990000"/>
                </a:solidFill>
              </a:rPr>
              <a:t>1</a:t>
            </a:r>
            <a:r>
              <a:rPr lang="en-GB" altLang="en-US" sz="2400"/>
              <a:t>. This next bit just means that the remainder of the algorithm generates L</a:t>
            </a:r>
            <a:r>
              <a:rPr lang="en-GB" altLang="en-US" sz="2400" baseline="-25000"/>
              <a:t>2</a:t>
            </a:r>
            <a:r>
              <a:rPr lang="en-GB" altLang="en-US" sz="2400"/>
              <a:t>,  L</a:t>
            </a:r>
            <a:r>
              <a:rPr lang="en-GB" altLang="en-US" sz="2400" baseline="-25000"/>
              <a:t>3 , </a:t>
            </a:r>
            <a:r>
              <a:rPr lang="en-GB" altLang="en-US" sz="2400"/>
              <a:t>and so on until we get to an L</a:t>
            </a:r>
            <a:r>
              <a:rPr lang="en-GB" altLang="en-US" sz="2400" baseline="-25000"/>
              <a:t>k</a:t>
            </a:r>
            <a:r>
              <a:rPr lang="en-GB" altLang="en-US" sz="2400"/>
              <a:t> that’s empty.</a:t>
            </a:r>
          </a:p>
          <a:p>
            <a:pPr marL="609600" indent="-609600">
              <a:buNone/>
            </a:pPr>
            <a:r>
              <a:rPr lang="en-GB" altLang="en-US" sz="2400"/>
              <a:t>     How these are generated is like this:</a:t>
            </a:r>
          </a:p>
          <a:p>
            <a:pPr marL="609600" indent="-609600">
              <a:buNone/>
            </a:pPr>
            <a:endParaRPr lang="en-GB" altLang="en-US" sz="2400" baseline="-25000"/>
          </a:p>
        </p:txBody>
      </p:sp>
    </p:spTree>
    <p:extLst>
      <p:ext uri="{BB962C8B-B14F-4D97-AF65-F5344CB8AC3E}">
        <p14:creationId xmlns:p14="http://schemas.microsoft.com/office/powerpoint/2010/main" val="106221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Explaining the Apriori Algorithm …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24800" cy="4572000"/>
          </a:xfrm>
        </p:spPr>
        <p:txBody>
          <a:bodyPr/>
          <a:lstStyle/>
          <a:p>
            <a:pPr marL="609600" indent="-609600">
              <a:buNone/>
            </a:pPr>
            <a:r>
              <a:rPr lang="en-GB" altLang="en-US"/>
              <a:t>1</a:t>
            </a:r>
            <a:r>
              <a:rPr lang="en-GB" altLang="en-US" sz="2400"/>
              <a:t>:  Find all large 1-itemsets</a:t>
            </a:r>
          </a:p>
          <a:p>
            <a:pPr marL="609600" indent="-609600">
              <a:buNone/>
            </a:pPr>
            <a:r>
              <a:rPr lang="en-GB" altLang="en-US" sz="2400"/>
              <a:t>2:  For (</a:t>
            </a:r>
            <a:r>
              <a:rPr lang="en-GB" altLang="en-US" sz="2400" i="1"/>
              <a:t>k </a:t>
            </a:r>
            <a:r>
              <a:rPr lang="en-GB" altLang="en-US" sz="2400"/>
              <a:t>= 2 ; while 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-1 </a:t>
            </a:r>
            <a:r>
              <a:rPr lang="en-GB" altLang="en-US" sz="2400"/>
              <a:t>is non-empty; </a:t>
            </a:r>
            <a:r>
              <a:rPr lang="en-GB" altLang="en-US" sz="2400" i="1"/>
              <a:t>k</a:t>
            </a:r>
            <a:r>
              <a:rPr lang="en-GB" altLang="en-US" sz="2400"/>
              <a:t>++)</a:t>
            </a:r>
          </a:p>
          <a:p>
            <a:pPr marL="609600" indent="-609600">
              <a:buNone/>
            </a:pPr>
            <a:r>
              <a:rPr lang="en-GB" altLang="en-US" sz="2400">
                <a:solidFill>
                  <a:srgbClr val="990000"/>
                </a:solidFill>
              </a:rPr>
              <a:t>3     </a:t>
            </a:r>
            <a:r>
              <a:rPr lang="en-GB" altLang="en-US">
                <a:solidFill>
                  <a:srgbClr val="990000"/>
                </a:solidFill>
              </a:rPr>
              <a:t>{</a:t>
            </a:r>
            <a:r>
              <a:rPr lang="en-GB" altLang="en-US" i="1">
                <a:solidFill>
                  <a:srgbClr val="990000"/>
                </a:solidFill>
              </a:rPr>
              <a:t>C</a:t>
            </a:r>
            <a:r>
              <a:rPr lang="en-GB" altLang="en-US" i="1" baseline="-25000">
                <a:solidFill>
                  <a:srgbClr val="990000"/>
                </a:solidFill>
              </a:rPr>
              <a:t>k</a:t>
            </a:r>
            <a:r>
              <a:rPr lang="en-GB" altLang="en-US" i="1">
                <a:solidFill>
                  <a:srgbClr val="990000"/>
                </a:solidFill>
              </a:rPr>
              <a:t> = </a:t>
            </a:r>
            <a:r>
              <a:rPr lang="en-GB" altLang="en-US">
                <a:solidFill>
                  <a:srgbClr val="990000"/>
                </a:solidFill>
                <a:latin typeface="Courier New" panose="02070309020205020404" pitchFamily="49" charset="0"/>
              </a:rPr>
              <a:t>apriori-gen</a:t>
            </a:r>
            <a:r>
              <a:rPr lang="en-GB" altLang="en-US">
                <a:solidFill>
                  <a:srgbClr val="990000"/>
                </a:solidFill>
              </a:rPr>
              <a:t>(</a:t>
            </a:r>
            <a:r>
              <a:rPr lang="en-GB" altLang="en-US" i="1">
                <a:solidFill>
                  <a:srgbClr val="990000"/>
                </a:solidFill>
              </a:rPr>
              <a:t>L</a:t>
            </a:r>
            <a:r>
              <a:rPr lang="en-GB" altLang="en-US" i="1" baseline="-25000">
                <a:solidFill>
                  <a:srgbClr val="990000"/>
                </a:solidFill>
              </a:rPr>
              <a:t>k</a:t>
            </a:r>
            <a:r>
              <a:rPr lang="en-GB" altLang="en-US" baseline="-25000">
                <a:solidFill>
                  <a:srgbClr val="990000"/>
                </a:solidFill>
              </a:rPr>
              <a:t>-1</a:t>
            </a:r>
            <a:r>
              <a:rPr lang="en-GB" altLang="en-US">
                <a:solidFill>
                  <a:srgbClr val="990000"/>
                </a:solidFill>
              </a:rPr>
              <a:t>)</a:t>
            </a:r>
          </a:p>
          <a:p>
            <a:pPr marL="609600" indent="-609600">
              <a:buNone/>
            </a:pPr>
            <a:endParaRPr lang="en-GB" altLang="en-US">
              <a:solidFill>
                <a:srgbClr val="990000"/>
              </a:solidFill>
            </a:endParaRPr>
          </a:p>
          <a:p>
            <a:pPr marL="609600" indent="-609600">
              <a:buNone/>
            </a:pPr>
            <a:r>
              <a:rPr lang="en-GB" altLang="en-US" sz="2400"/>
              <a:t>  Given the large </a:t>
            </a:r>
            <a:r>
              <a:rPr lang="en-GB" altLang="en-US" sz="2400" i="1"/>
              <a:t>k</a:t>
            </a:r>
            <a:r>
              <a:rPr lang="en-GB" altLang="en-US" sz="2400"/>
              <a:t>-1-itemsets, this step generates some candidate </a:t>
            </a:r>
            <a:r>
              <a:rPr lang="en-GB" altLang="en-US" sz="2400" i="1"/>
              <a:t>k</a:t>
            </a:r>
            <a:r>
              <a:rPr lang="en-GB" altLang="en-US" sz="2400"/>
              <a:t>-itemsets that </a:t>
            </a:r>
            <a:r>
              <a:rPr lang="en-GB" altLang="en-US" sz="2400" i="1"/>
              <a:t>might</a:t>
            </a:r>
            <a:r>
              <a:rPr lang="en-GB" altLang="en-US" sz="2400"/>
              <a:t> be large. Because of how </a:t>
            </a:r>
            <a:r>
              <a:rPr lang="en-GB" altLang="en-US">
                <a:solidFill>
                  <a:srgbClr val="990000"/>
                </a:solidFill>
                <a:latin typeface="Courier New" panose="02070309020205020404" pitchFamily="49" charset="0"/>
              </a:rPr>
              <a:t>apriori-gen</a:t>
            </a:r>
            <a:r>
              <a:rPr lang="en-GB" altLang="en-US" sz="2400"/>
              <a:t> works, the set </a:t>
            </a:r>
            <a:r>
              <a:rPr lang="en-GB" altLang="en-US" i="1">
                <a:solidFill>
                  <a:srgbClr val="990000"/>
                </a:solidFill>
              </a:rPr>
              <a:t>C</a:t>
            </a:r>
            <a:r>
              <a:rPr lang="en-GB" altLang="en-US" i="1" baseline="-25000">
                <a:solidFill>
                  <a:srgbClr val="990000"/>
                </a:solidFill>
              </a:rPr>
              <a:t>k</a:t>
            </a:r>
            <a:r>
              <a:rPr lang="en-GB" altLang="en-US" i="1">
                <a:solidFill>
                  <a:srgbClr val="990000"/>
                </a:solidFill>
              </a:rPr>
              <a:t> </a:t>
            </a:r>
            <a:r>
              <a:rPr lang="en-GB" altLang="en-US" sz="2400"/>
              <a:t>is guaranteed to contain all the large </a:t>
            </a:r>
            <a:r>
              <a:rPr lang="en-GB" altLang="en-US" sz="2400" i="1"/>
              <a:t>k</a:t>
            </a:r>
            <a:r>
              <a:rPr lang="en-GB" altLang="en-US" sz="2400"/>
              <a:t>-itemsets, but also contains some that will turn out not to be `large’.</a:t>
            </a:r>
          </a:p>
          <a:p>
            <a:pPr marL="609600" indent="-609600">
              <a:buNone/>
            </a:pPr>
            <a:r>
              <a:rPr lang="en-GB" altLang="en-US" sz="2400"/>
              <a:t> </a:t>
            </a:r>
          </a:p>
          <a:p>
            <a:pPr marL="609600" indent="-609600">
              <a:buNone/>
            </a:pPr>
            <a:endParaRPr lang="en-GB" altLang="en-US" sz="2400" baseline="-25000"/>
          </a:p>
        </p:txBody>
      </p:sp>
    </p:spTree>
    <p:extLst>
      <p:ext uri="{BB962C8B-B14F-4D97-AF65-F5344CB8AC3E}">
        <p14:creationId xmlns:p14="http://schemas.microsoft.com/office/powerpoint/2010/main" val="406459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Explaining the Apriori Algorithm …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924800" cy="4572000"/>
          </a:xfrm>
          <a:ln>
            <a:solidFill>
              <a:srgbClr val="C00000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609600" indent="-609600">
              <a:spcBef>
                <a:spcPct val="5000"/>
              </a:spcBef>
              <a:buNone/>
            </a:pPr>
            <a:r>
              <a:rPr lang="en-GB" altLang="en-US"/>
              <a:t>1</a:t>
            </a:r>
            <a:r>
              <a:rPr lang="en-GB" altLang="en-US" sz="2400"/>
              <a:t>:  Find all large 1-itemsets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400"/>
              <a:t>2:  For (</a:t>
            </a:r>
            <a:r>
              <a:rPr lang="en-GB" altLang="en-US" sz="2400" i="1"/>
              <a:t>k </a:t>
            </a:r>
            <a:r>
              <a:rPr lang="en-GB" altLang="en-US" sz="2400"/>
              <a:t>= 2 ; while 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-1 </a:t>
            </a:r>
            <a:r>
              <a:rPr lang="en-GB" altLang="en-US" sz="2400"/>
              <a:t>is non-empty; </a:t>
            </a:r>
            <a:r>
              <a:rPr lang="en-GB" altLang="en-US" sz="2400" i="1"/>
              <a:t>k</a:t>
            </a:r>
            <a:r>
              <a:rPr lang="en-GB" altLang="en-US" sz="2400"/>
              <a:t>++)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400"/>
              <a:t>3       {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k</a:t>
            </a:r>
            <a:r>
              <a:rPr lang="en-GB" altLang="en-US" sz="2400" i="1"/>
              <a:t> = </a:t>
            </a:r>
            <a:r>
              <a:rPr lang="en-GB" altLang="en-US" sz="2400">
                <a:latin typeface="Courier New" panose="02070309020205020404" pitchFamily="49" charset="0"/>
              </a:rPr>
              <a:t>apriori-gen</a:t>
            </a:r>
            <a:r>
              <a:rPr lang="en-GB" altLang="en-US" sz="2400"/>
              <a:t>(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r>
              <a:rPr lang="en-GB" altLang="en-US" sz="2400" baseline="-25000"/>
              <a:t>-1</a:t>
            </a:r>
            <a:r>
              <a:rPr lang="en-GB" altLang="en-US" sz="2400"/>
              <a:t>)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400">
                <a:solidFill>
                  <a:srgbClr val="CC3300"/>
                </a:solidFill>
              </a:rPr>
              <a:t>4       For each 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>
                <a:solidFill>
                  <a:srgbClr val="CC3300"/>
                </a:solidFill>
              </a:rPr>
              <a:t> in 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 i="1" baseline="-25000">
                <a:solidFill>
                  <a:srgbClr val="CC3300"/>
                </a:solidFill>
              </a:rPr>
              <a:t>k</a:t>
            </a:r>
            <a:r>
              <a:rPr lang="en-GB" altLang="en-US" sz="2400" i="1">
                <a:solidFill>
                  <a:srgbClr val="CC3300"/>
                </a:solidFill>
              </a:rPr>
              <a:t>, </a:t>
            </a:r>
            <a:r>
              <a:rPr lang="en-GB" altLang="en-US" sz="2400">
                <a:solidFill>
                  <a:srgbClr val="CC3300"/>
                </a:solidFill>
              </a:rPr>
              <a:t>initialise 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>
                <a:solidFill>
                  <a:srgbClr val="CC3300"/>
                </a:solidFill>
              </a:rPr>
              <a:t>.</a:t>
            </a:r>
            <a:r>
              <a:rPr lang="en-GB" altLang="en-US" sz="2400" i="1">
                <a:solidFill>
                  <a:srgbClr val="CC3300"/>
                </a:solidFill>
              </a:rPr>
              <a:t>count </a:t>
            </a:r>
            <a:r>
              <a:rPr lang="en-GB" altLang="en-US" sz="2400">
                <a:solidFill>
                  <a:srgbClr val="CC3300"/>
                </a:solidFill>
              </a:rPr>
              <a:t>to zero</a:t>
            </a:r>
            <a:r>
              <a:rPr lang="en-GB" altLang="en-US" sz="2400" i="1">
                <a:solidFill>
                  <a:srgbClr val="CC3300"/>
                </a:solidFill>
              </a:rPr>
              <a:t> </a:t>
            </a:r>
            <a:endParaRPr lang="en-GB" altLang="en-US" sz="2400">
              <a:solidFill>
                <a:srgbClr val="CC3300"/>
              </a:solidFill>
            </a:endParaRP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400">
                <a:solidFill>
                  <a:srgbClr val="CC3300"/>
                </a:solidFill>
              </a:rPr>
              <a:t>5            For all records </a:t>
            </a:r>
            <a:r>
              <a:rPr lang="en-GB" altLang="en-US" sz="2400" i="1">
                <a:solidFill>
                  <a:srgbClr val="CC3300"/>
                </a:solidFill>
              </a:rPr>
              <a:t>r </a:t>
            </a:r>
            <a:r>
              <a:rPr lang="en-GB" altLang="en-US" sz="2400">
                <a:solidFill>
                  <a:srgbClr val="CC3300"/>
                </a:solidFill>
              </a:rPr>
              <a:t>in the DB</a:t>
            </a:r>
          </a:p>
          <a:p>
            <a:pPr marL="609600" indent="-609600">
              <a:spcBef>
                <a:spcPct val="5000"/>
              </a:spcBef>
              <a:buFontTx/>
              <a:buAutoNum type="arabicPlain" startAt="6"/>
            </a:pPr>
            <a:r>
              <a:rPr lang="en-GB" altLang="en-US" sz="2400">
                <a:solidFill>
                  <a:srgbClr val="CC3300"/>
                </a:solidFill>
              </a:rPr>
              <a:t>      {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 i="1" baseline="-25000">
                <a:solidFill>
                  <a:srgbClr val="CC3300"/>
                </a:solidFill>
              </a:rPr>
              <a:t>r</a:t>
            </a:r>
            <a:r>
              <a:rPr lang="en-GB" altLang="en-US" sz="2400" i="1">
                <a:solidFill>
                  <a:srgbClr val="CC3300"/>
                </a:solidFill>
              </a:rPr>
              <a:t> = </a:t>
            </a:r>
            <a:r>
              <a:rPr lang="en-GB" altLang="en-US" sz="2400">
                <a:solidFill>
                  <a:srgbClr val="CC3300"/>
                </a:solidFill>
                <a:latin typeface="Courier New" panose="02070309020205020404" pitchFamily="49" charset="0"/>
              </a:rPr>
              <a:t>subset</a:t>
            </a:r>
            <a:r>
              <a:rPr lang="en-GB" altLang="en-US" sz="2400">
                <a:solidFill>
                  <a:srgbClr val="CC3300"/>
                </a:solidFill>
              </a:rPr>
              <a:t>(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 i="1" baseline="-25000">
                <a:solidFill>
                  <a:srgbClr val="CC3300"/>
                </a:solidFill>
              </a:rPr>
              <a:t>k</a:t>
            </a:r>
            <a:r>
              <a:rPr lang="en-GB" altLang="en-US" sz="2400">
                <a:solidFill>
                  <a:srgbClr val="CC3300"/>
                </a:solidFill>
              </a:rPr>
              <a:t>, </a:t>
            </a:r>
            <a:r>
              <a:rPr lang="en-GB" altLang="en-US" sz="2400" i="1">
                <a:solidFill>
                  <a:srgbClr val="CC3300"/>
                </a:solidFill>
              </a:rPr>
              <a:t>r</a:t>
            </a:r>
            <a:r>
              <a:rPr lang="en-GB" altLang="en-US" sz="2400">
                <a:solidFill>
                  <a:srgbClr val="CC3300"/>
                </a:solidFill>
              </a:rPr>
              <a:t>); </a:t>
            </a:r>
            <a:r>
              <a:rPr lang="en-GB" altLang="en-US" sz="2400" i="1">
                <a:solidFill>
                  <a:srgbClr val="CC3300"/>
                </a:solidFill>
              </a:rPr>
              <a:t> </a:t>
            </a:r>
            <a:r>
              <a:rPr lang="en-GB" altLang="en-US" sz="2400">
                <a:solidFill>
                  <a:srgbClr val="CC3300"/>
                </a:solidFill>
              </a:rPr>
              <a:t>For each </a:t>
            </a:r>
            <a:r>
              <a:rPr lang="en-GB" altLang="en-US" sz="2400" i="1">
                <a:solidFill>
                  <a:srgbClr val="CC3300"/>
                </a:solidFill>
              </a:rPr>
              <a:t>c </a:t>
            </a:r>
            <a:r>
              <a:rPr lang="en-GB" altLang="en-US" sz="2400">
                <a:solidFill>
                  <a:srgbClr val="CC3300"/>
                </a:solidFill>
              </a:rPr>
              <a:t>in 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 i="1" baseline="-25000">
                <a:solidFill>
                  <a:srgbClr val="CC3300"/>
                </a:solidFill>
              </a:rPr>
              <a:t>r</a:t>
            </a:r>
            <a:r>
              <a:rPr lang="en-GB" altLang="en-US" sz="2400" i="1">
                <a:solidFill>
                  <a:srgbClr val="CC3300"/>
                </a:solidFill>
              </a:rPr>
              <a:t> , c.count</a:t>
            </a:r>
            <a:r>
              <a:rPr lang="en-GB" altLang="en-US" sz="2400">
                <a:solidFill>
                  <a:srgbClr val="CC3300"/>
                </a:solidFill>
              </a:rPr>
              <a:t>++ }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400">
                <a:solidFill>
                  <a:srgbClr val="CC3300"/>
                </a:solidFill>
              </a:rPr>
              <a:t>7             Set </a:t>
            </a:r>
            <a:r>
              <a:rPr lang="en-GB" altLang="en-US" sz="2400" i="1">
                <a:solidFill>
                  <a:srgbClr val="CC3300"/>
                </a:solidFill>
              </a:rPr>
              <a:t>L</a:t>
            </a:r>
            <a:r>
              <a:rPr lang="en-GB" altLang="en-US" sz="2400" i="1" baseline="-25000">
                <a:solidFill>
                  <a:srgbClr val="CC3300"/>
                </a:solidFill>
              </a:rPr>
              <a:t>k</a:t>
            </a:r>
            <a:r>
              <a:rPr lang="en-GB" altLang="en-US" sz="2400" baseline="-25000">
                <a:solidFill>
                  <a:srgbClr val="CC3300"/>
                </a:solidFill>
              </a:rPr>
              <a:t> </a:t>
            </a:r>
            <a:r>
              <a:rPr lang="en-GB" altLang="en-US" sz="2400">
                <a:solidFill>
                  <a:srgbClr val="CC3300"/>
                </a:solidFill>
              </a:rPr>
              <a:t>:= all </a:t>
            </a:r>
            <a:r>
              <a:rPr lang="en-GB" altLang="en-US" sz="2400" i="1">
                <a:solidFill>
                  <a:srgbClr val="CC3300"/>
                </a:solidFill>
              </a:rPr>
              <a:t>c </a:t>
            </a:r>
            <a:r>
              <a:rPr lang="en-GB" altLang="en-US" sz="2400">
                <a:solidFill>
                  <a:srgbClr val="CC3300"/>
                </a:solidFill>
              </a:rPr>
              <a:t>in </a:t>
            </a:r>
            <a:r>
              <a:rPr lang="en-GB" altLang="en-US" sz="2400" i="1">
                <a:solidFill>
                  <a:srgbClr val="CC3300"/>
                </a:solidFill>
              </a:rPr>
              <a:t>C</a:t>
            </a:r>
            <a:r>
              <a:rPr lang="en-GB" altLang="en-US" sz="2400" i="1" baseline="-25000">
                <a:solidFill>
                  <a:srgbClr val="CC3300"/>
                </a:solidFill>
              </a:rPr>
              <a:t>k</a:t>
            </a:r>
            <a:r>
              <a:rPr lang="en-GB" altLang="en-US" sz="2400" i="1">
                <a:solidFill>
                  <a:srgbClr val="CC3300"/>
                </a:solidFill>
              </a:rPr>
              <a:t> </a:t>
            </a:r>
            <a:r>
              <a:rPr lang="en-GB" altLang="en-US" sz="2400">
                <a:solidFill>
                  <a:srgbClr val="CC3300"/>
                </a:solidFill>
              </a:rPr>
              <a:t>whose </a:t>
            </a:r>
            <a:r>
              <a:rPr lang="en-GB" altLang="en-US" sz="2400" i="1">
                <a:solidFill>
                  <a:srgbClr val="CC3300"/>
                </a:solidFill>
              </a:rPr>
              <a:t>count</a:t>
            </a:r>
            <a:r>
              <a:rPr lang="en-GB" altLang="en-US" sz="2400">
                <a:solidFill>
                  <a:srgbClr val="CC3300"/>
                </a:solidFill>
              </a:rPr>
              <a:t> &gt;=  </a:t>
            </a:r>
            <a:r>
              <a:rPr lang="en-GB" altLang="en-US" sz="2400" i="1">
                <a:solidFill>
                  <a:srgbClr val="CC3300"/>
                </a:solidFill>
              </a:rPr>
              <a:t>minsup</a:t>
            </a:r>
            <a:endParaRPr lang="en-GB" altLang="en-US" sz="2400">
              <a:solidFill>
                <a:srgbClr val="CC3300"/>
              </a:solidFill>
            </a:endParaRPr>
          </a:p>
          <a:p>
            <a:pPr marL="609600" indent="-609600">
              <a:buNone/>
            </a:pPr>
            <a:r>
              <a:rPr lang="en-GB" altLang="en-US" sz="2400"/>
              <a:t>        Here, we are simply scanning through the DB to count</a:t>
            </a:r>
          </a:p>
          <a:p>
            <a:pPr marL="609600" indent="-609600">
              <a:buNone/>
            </a:pPr>
            <a:r>
              <a:rPr lang="en-GB" altLang="en-US" sz="2400"/>
              <a:t>        the support for each of our candidates in 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k</a:t>
            </a:r>
            <a:r>
              <a:rPr lang="en-GB" altLang="en-US" sz="2400"/>
              <a:t> , throwing</a:t>
            </a:r>
          </a:p>
          <a:p>
            <a:pPr marL="609600" indent="-609600">
              <a:buNone/>
            </a:pPr>
            <a:r>
              <a:rPr lang="en-GB" altLang="en-US" sz="2400"/>
              <a:t>        out the ones without enough support, and the rest become</a:t>
            </a:r>
          </a:p>
          <a:p>
            <a:pPr marL="609600" indent="-609600">
              <a:buNone/>
            </a:pPr>
            <a:r>
              <a:rPr lang="en-GB" altLang="en-US" sz="2400"/>
              <a:t>        our set of ‘large’ </a:t>
            </a:r>
            <a:r>
              <a:rPr lang="en-GB" altLang="en-US" sz="2400" i="1"/>
              <a:t>k</a:t>
            </a:r>
            <a:r>
              <a:rPr lang="en-GB" altLang="en-US" sz="2400"/>
              <a:t>-itemsets, </a:t>
            </a:r>
            <a:r>
              <a:rPr lang="en-GB" altLang="en-US" sz="2400" i="1"/>
              <a:t>L</a:t>
            </a:r>
            <a:r>
              <a:rPr lang="en-GB" altLang="en-US" sz="2400" i="1" baseline="-25000"/>
              <a:t>k</a:t>
            </a:r>
            <a:endParaRPr lang="en-GB" altLang="en-US" sz="2400"/>
          </a:p>
        </p:txBody>
      </p:sp>
    </p:spTree>
    <p:extLst>
      <p:ext uri="{BB962C8B-B14F-4D97-AF65-F5344CB8AC3E}">
        <p14:creationId xmlns:p14="http://schemas.microsoft.com/office/powerpoint/2010/main" val="150218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Explaining the Apriori Algorithm …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8458200" cy="4953000"/>
          </a:xfrm>
        </p:spPr>
        <p:txBody>
          <a:bodyPr/>
          <a:lstStyle/>
          <a:p>
            <a:pPr marL="609600" indent="-609600">
              <a:spcBef>
                <a:spcPct val="5000"/>
              </a:spcBef>
              <a:buNone/>
            </a:pPr>
            <a:r>
              <a:rPr lang="en-GB" altLang="en-US" sz="2400"/>
              <a:t>1</a:t>
            </a:r>
            <a:r>
              <a:rPr lang="en-GB" altLang="en-US" sz="2000"/>
              <a:t>:  Find all large 1-itemsets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000"/>
              <a:t>2:  For (</a:t>
            </a:r>
            <a:r>
              <a:rPr lang="en-GB" altLang="en-US" sz="2000" i="1"/>
              <a:t>k </a:t>
            </a:r>
            <a:r>
              <a:rPr lang="en-GB" altLang="en-US" sz="2000"/>
              <a:t>= 2 ; while </a:t>
            </a:r>
            <a:r>
              <a:rPr lang="en-GB" altLang="en-US" sz="2000" i="1"/>
              <a:t>L</a:t>
            </a:r>
            <a:r>
              <a:rPr lang="en-GB" altLang="en-US" sz="2000" i="1" baseline="-25000"/>
              <a:t>k</a:t>
            </a:r>
            <a:r>
              <a:rPr lang="en-GB" altLang="en-US" sz="2000" baseline="-25000"/>
              <a:t>-1 </a:t>
            </a:r>
            <a:r>
              <a:rPr lang="en-GB" altLang="en-US" sz="2000"/>
              <a:t>is non-empty; </a:t>
            </a:r>
            <a:r>
              <a:rPr lang="en-GB" altLang="en-US" sz="2000" i="1"/>
              <a:t>k</a:t>
            </a:r>
            <a:r>
              <a:rPr lang="en-GB" altLang="en-US" sz="2000"/>
              <a:t>++)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000"/>
              <a:t>3       {</a:t>
            </a:r>
            <a:r>
              <a:rPr lang="en-GB" altLang="en-US" sz="2000" i="1"/>
              <a:t>C</a:t>
            </a:r>
            <a:r>
              <a:rPr lang="en-GB" altLang="en-US" sz="2000" i="1" baseline="-25000"/>
              <a:t>k</a:t>
            </a:r>
            <a:r>
              <a:rPr lang="en-GB" altLang="en-US" sz="2000" i="1"/>
              <a:t> = </a:t>
            </a:r>
            <a:r>
              <a:rPr lang="en-GB" altLang="en-US" sz="2000">
                <a:latin typeface="Courier New" panose="02070309020205020404" pitchFamily="49" charset="0"/>
              </a:rPr>
              <a:t>apriori-gen</a:t>
            </a:r>
            <a:r>
              <a:rPr lang="en-GB" altLang="en-US" sz="2000"/>
              <a:t>(</a:t>
            </a:r>
            <a:r>
              <a:rPr lang="en-GB" altLang="en-US" sz="2000" i="1"/>
              <a:t>L</a:t>
            </a:r>
            <a:r>
              <a:rPr lang="en-GB" altLang="en-US" sz="2000" i="1" baseline="-25000"/>
              <a:t>k</a:t>
            </a:r>
            <a:r>
              <a:rPr lang="en-GB" altLang="en-US" sz="2000" baseline="-25000"/>
              <a:t>-1</a:t>
            </a:r>
            <a:r>
              <a:rPr lang="en-GB" altLang="en-US" sz="2000"/>
              <a:t>)</a:t>
            </a:r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000"/>
              <a:t>4       For each </a:t>
            </a:r>
            <a:r>
              <a:rPr lang="en-GB" altLang="en-US" sz="2000" i="1"/>
              <a:t>c</a:t>
            </a:r>
            <a:r>
              <a:rPr lang="en-GB" altLang="en-US" sz="2000"/>
              <a:t> in </a:t>
            </a:r>
            <a:r>
              <a:rPr lang="en-GB" altLang="en-US" sz="2000" i="1"/>
              <a:t>C</a:t>
            </a:r>
            <a:r>
              <a:rPr lang="en-GB" altLang="en-US" sz="2000" i="1" baseline="-25000"/>
              <a:t>k</a:t>
            </a:r>
            <a:r>
              <a:rPr lang="en-GB" altLang="en-US" sz="2000" i="1"/>
              <a:t>, </a:t>
            </a:r>
            <a:r>
              <a:rPr lang="en-GB" altLang="en-US" sz="2000"/>
              <a:t>initialise </a:t>
            </a:r>
            <a:r>
              <a:rPr lang="en-GB" altLang="en-US" sz="2000" i="1"/>
              <a:t>c</a:t>
            </a:r>
            <a:r>
              <a:rPr lang="en-GB" altLang="en-US" sz="2000"/>
              <a:t>.</a:t>
            </a:r>
            <a:r>
              <a:rPr lang="en-GB" altLang="en-US" sz="2000" i="1"/>
              <a:t>count </a:t>
            </a:r>
            <a:r>
              <a:rPr lang="en-GB" altLang="en-US" sz="2000"/>
              <a:t>to zero</a:t>
            </a:r>
            <a:r>
              <a:rPr lang="en-GB" altLang="en-US" sz="2000" i="1"/>
              <a:t> </a:t>
            </a:r>
            <a:endParaRPr lang="en-GB" altLang="en-US" sz="2000"/>
          </a:p>
          <a:p>
            <a:pPr marL="609600" indent="-609600">
              <a:spcBef>
                <a:spcPct val="5000"/>
              </a:spcBef>
              <a:buNone/>
            </a:pPr>
            <a:r>
              <a:rPr lang="en-GB" altLang="en-US" sz="2000"/>
              <a:t>5</a:t>
            </a:r>
            <a:r>
              <a:rPr lang="en-GB" altLang="en-US" sz="2000">
                <a:solidFill>
                  <a:srgbClr val="990000"/>
                </a:solidFill>
              </a:rPr>
              <a:t>            </a:t>
            </a:r>
            <a:r>
              <a:rPr lang="en-GB" altLang="en-US" sz="2000"/>
              <a:t>For all records </a:t>
            </a:r>
            <a:r>
              <a:rPr lang="en-GB" altLang="en-US" sz="2000" i="1"/>
              <a:t>r </a:t>
            </a:r>
            <a:r>
              <a:rPr lang="en-GB" altLang="en-US" sz="2000"/>
              <a:t>in the DB</a:t>
            </a:r>
          </a:p>
          <a:p>
            <a:pPr marL="609600" indent="-609600">
              <a:spcBef>
                <a:spcPct val="5000"/>
              </a:spcBef>
              <a:buFontTx/>
              <a:buAutoNum type="arabicPlain" startAt="6"/>
            </a:pPr>
            <a:r>
              <a:rPr lang="en-GB" altLang="en-US" sz="2000"/>
              <a:t>      {</a:t>
            </a:r>
            <a:r>
              <a:rPr lang="en-GB" altLang="en-US" sz="2000" i="1"/>
              <a:t>C</a:t>
            </a:r>
            <a:r>
              <a:rPr lang="en-GB" altLang="en-US" sz="2000" i="1" baseline="-25000"/>
              <a:t>r</a:t>
            </a:r>
            <a:r>
              <a:rPr lang="en-GB" altLang="en-US" sz="2000" i="1"/>
              <a:t> = </a:t>
            </a:r>
            <a:r>
              <a:rPr lang="en-GB" altLang="en-US" sz="2000">
                <a:latin typeface="Courier New" panose="02070309020205020404" pitchFamily="49" charset="0"/>
              </a:rPr>
              <a:t>subset</a:t>
            </a:r>
            <a:r>
              <a:rPr lang="en-GB" altLang="en-US" sz="2000"/>
              <a:t>(</a:t>
            </a:r>
            <a:r>
              <a:rPr lang="en-GB" altLang="en-US" sz="2000" i="1"/>
              <a:t>C</a:t>
            </a:r>
            <a:r>
              <a:rPr lang="en-GB" altLang="en-US" sz="2000" i="1" baseline="-25000"/>
              <a:t>k</a:t>
            </a:r>
            <a:r>
              <a:rPr lang="en-GB" altLang="en-US" sz="2000"/>
              <a:t>, </a:t>
            </a:r>
            <a:r>
              <a:rPr lang="en-GB" altLang="en-US" sz="2000" i="1"/>
              <a:t>r</a:t>
            </a:r>
            <a:r>
              <a:rPr lang="en-GB" altLang="en-US" sz="2000"/>
              <a:t>); </a:t>
            </a:r>
            <a:r>
              <a:rPr lang="en-GB" altLang="en-US" sz="2000" i="1"/>
              <a:t> </a:t>
            </a:r>
            <a:r>
              <a:rPr lang="en-GB" altLang="en-US" sz="2000"/>
              <a:t>For each </a:t>
            </a:r>
            <a:r>
              <a:rPr lang="en-GB" altLang="en-US" sz="2000" i="1"/>
              <a:t>c </a:t>
            </a:r>
            <a:r>
              <a:rPr lang="en-GB" altLang="en-US" sz="2000"/>
              <a:t>in </a:t>
            </a:r>
            <a:r>
              <a:rPr lang="en-GB" altLang="en-US" sz="2000" i="1"/>
              <a:t>C</a:t>
            </a:r>
            <a:r>
              <a:rPr lang="en-GB" altLang="en-US" sz="2000" i="1" baseline="-25000"/>
              <a:t>r</a:t>
            </a:r>
            <a:r>
              <a:rPr lang="en-GB" altLang="en-US" sz="2000" i="1"/>
              <a:t> , c.count</a:t>
            </a:r>
            <a:r>
              <a:rPr lang="en-GB" altLang="en-US" sz="2000"/>
              <a:t>++ }</a:t>
            </a:r>
          </a:p>
          <a:p>
            <a:pPr marL="609600" indent="-609600">
              <a:spcBef>
                <a:spcPct val="5000"/>
              </a:spcBef>
              <a:buFontTx/>
              <a:buAutoNum type="arabicPlain" startAt="7"/>
            </a:pPr>
            <a:r>
              <a:rPr lang="en-GB" altLang="en-US" sz="2000"/>
              <a:t>       Set </a:t>
            </a:r>
            <a:r>
              <a:rPr lang="en-GB" altLang="en-US" sz="2000" i="1"/>
              <a:t>L</a:t>
            </a:r>
            <a:r>
              <a:rPr lang="en-GB" altLang="en-US" sz="2000" i="1" baseline="-25000"/>
              <a:t>k</a:t>
            </a:r>
            <a:r>
              <a:rPr lang="en-GB" altLang="en-US" sz="2000" baseline="-25000"/>
              <a:t> </a:t>
            </a:r>
            <a:r>
              <a:rPr lang="en-GB" altLang="en-US" sz="2000"/>
              <a:t>:= all </a:t>
            </a:r>
            <a:r>
              <a:rPr lang="en-GB" altLang="en-US" sz="2000" i="1"/>
              <a:t>c </a:t>
            </a:r>
            <a:r>
              <a:rPr lang="en-GB" altLang="en-US" sz="2000"/>
              <a:t>in </a:t>
            </a:r>
            <a:r>
              <a:rPr lang="en-GB" altLang="en-US" sz="2000" i="1"/>
              <a:t>C</a:t>
            </a:r>
            <a:r>
              <a:rPr lang="en-GB" altLang="en-US" sz="2000" i="1" baseline="-25000"/>
              <a:t>k</a:t>
            </a:r>
            <a:r>
              <a:rPr lang="en-GB" altLang="en-US" sz="2000" i="1"/>
              <a:t> </a:t>
            </a:r>
            <a:r>
              <a:rPr lang="en-GB" altLang="en-US" sz="2000"/>
              <a:t>whose </a:t>
            </a:r>
            <a:r>
              <a:rPr lang="en-GB" altLang="en-US" sz="2000" i="1"/>
              <a:t>count</a:t>
            </a:r>
            <a:r>
              <a:rPr lang="en-GB" altLang="en-US" sz="2000"/>
              <a:t> &gt;=  </a:t>
            </a:r>
            <a:r>
              <a:rPr lang="en-GB" altLang="en-US" sz="2000" i="1"/>
              <a:t>minsup</a:t>
            </a:r>
          </a:p>
          <a:p>
            <a:pPr marL="609600" indent="-609600">
              <a:buNone/>
            </a:pPr>
            <a:r>
              <a:rPr lang="en-GB" altLang="en-US" sz="2000" i="1">
                <a:solidFill>
                  <a:srgbClr val="990000"/>
                </a:solidFill>
              </a:rPr>
              <a:t>8         </a:t>
            </a:r>
            <a:r>
              <a:rPr lang="en-GB" altLang="en-US" sz="2000">
                <a:solidFill>
                  <a:srgbClr val="990000"/>
                </a:solidFill>
              </a:rPr>
              <a:t>}  /*  end   -- return all of the </a:t>
            </a:r>
            <a:r>
              <a:rPr lang="en-GB" altLang="en-US" sz="2000" i="1">
                <a:solidFill>
                  <a:srgbClr val="990000"/>
                </a:solidFill>
              </a:rPr>
              <a:t>L</a:t>
            </a:r>
            <a:r>
              <a:rPr lang="en-GB" altLang="en-US" sz="2000" i="1" baseline="-25000">
                <a:solidFill>
                  <a:srgbClr val="990000"/>
                </a:solidFill>
              </a:rPr>
              <a:t>k</a:t>
            </a:r>
            <a:r>
              <a:rPr lang="en-GB" altLang="en-US" sz="2000" baseline="-25000">
                <a:solidFill>
                  <a:srgbClr val="990000"/>
                </a:solidFill>
              </a:rPr>
              <a:t> </a:t>
            </a:r>
            <a:r>
              <a:rPr lang="en-GB" altLang="en-US" sz="2000">
                <a:solidFill>
                  <a:srgbClr val="990000"/>
                </a:solidFill>
              </a:rPr>
              <a:t>sets.</a:t>
            </a:r>
            <a:endParaRPr lang="en-GB" altLang="en-US" sz="2000" i="1" baseline="-25000">
              <a:solidFill>
                <a:srgbClr val="990000"/>
              </a:solidFill>
            </a:endParaRPr>
          </a:p>
          <a:p>
            <a:pPr marL="609600" indent="-609600">
              <a:spcBef>
                <a:spcPct val="5000"/>
              </a:spcBef>
              <a:buFontTx/>
              <a:buAutoNum type="arabicPlain" startAt="7"/>
            </a:pPr>
            <a:endParaRPr lang="en-GB" altLang="en-US" sz="2000">
              <a:solidFill>
                <a:srgbClr val="990000"/>
              </a:solidFill>
            </a:endParaRPr>
          </a:p>
          <a:p>
            <a:pPr marL="609600" indent="-609600">
              <a:buNone/>
            </a:pPr>
            <a:r>
              <a:rPr lang="en-GB" altLang="en-US" sz="2000"/>
              <a:t>We finish at the point where we get an empty </a:t>
            </a:r>
            <a:r>
              <a:rPr lang="en-GB" altLang="en-US" sz="2000" i="1">
                <a:solidFill>
                  <a:srgbClr val="990000"/>
                </a:solidFill>
              </a:rPr>
              <a:t>L</a:t>
            </a:r>
            <a:r>
              <a:rPr lang="en-GB" altLang="en-US" sz="2000" i="1" baseline="-25000">
                <a:solidFill>
                  <a:srgbClr val="990000"/>
                </a:solidFill>
              </a:rPr>
              <a:t>k</a:t>
            </a:r>
            <a:r>
              <a:rPr lang="en-GB" altLang="en-US" sz="2000" baseline="-25000">
                <a:solidFill>
                  <a:srgbClr val="990000"/>
                </a:solidFill>
              </a:rPr>
              <a:t> </a:t>
            </a:r>
            <a:r>
              <a:rPr lang="en-GB" altLang="en-US" sz="2000" i="1"/>
              <a:t>.</a:t>
            </a:r>
          </a:p>
          <a:p>
            <a:pPr marL="609600" indent="-609600">
              <a:buNone/>
            </a:pPr>
            <a:r>
              <a:rPr lang="en-GB" altLang="en-US" sz="2000" i="1"/>
              <a:t>          </a:t>
            </a:r>
            <a:r>
              <a:rPr lang="en-GB" altLang="en-US" sz="2000"/>
              <a:t>The algorithm returns </a:t>
            </a:r>
            <a:r>
              <a:rPr lang="en-GB" altLang="en-US" sz="2000" u="sng"/>
              <a:t>all</a:t>
            </a:r>
            <a:r>
              <a:rPr lang="en-GB" altLang="en-US" sz="2000"/>
              <a:t> of the (non-empty) </a:t>
            </a:r>
            <a:r>
              <a:rPr lang="en-GB" altLang="en-US" sz="2000" i="1">
                <a:solidFill>
                  <a:srgbClr val="990000"/>
                </a:solidFill>
              </a:rPr>
              <a:t>L</a:t>
            </a:r>
            <a:r>
              <a:rPr lang="en-GB" altLang="en-US" sz="2000" i="1" baseline="-25000">
                <a:solidFill>
                  <a:srgbClr val="990000"/>
                </a:solidFill>
              </a:rPr>
              <a:t>k </a:t>
            </a:r>
            <a:r>
              <a:rPr lang="en-GB" altLang="en-US" sz="2000"/>
              <a:t>sets, from </a:t>
            </a:r>
            <a:r>
              <a:rPr lang="en-GB" altLang="en-US" sz="2000" i="1"/>
              <a:t>L</a:t>
            </a:r>
            <a:r>
              <a:rPr lang="en-GB" altLang="en-US" sz="2000" baseline="-25000"/>
              <a:t>1</a:t>
            </a:r>
            <a:r>
              <a:rPr lang="en-GB" altLang="en-US" sz="2000" i="1"/>
              <a:t> </a:t>
            </a:r>
            <a:r>
              <a:rPr lang="en-GB" altLang="en-US" sz="2000"/>
              <a:t>through to whichever was the last non-empty one. This gives us an excellent start in finding interesting rules (although the large itemsets themselves will usually be very interesting and useful).</a:t>
            </a:r>
          </a:p>
        </p:txBody>
      </p:sp>
    </p:spTree>
    <p:extLst>
      <p:ext uri="{BB962C8B-B14F-4D97-AF65-F5344CB8AC3E}">
        <p14:creationId xmlns:p14="http://schemas.microsoft.com/office/powerpoint/2010/main" val="300664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8077200" cy="838200"/>
          </a:xfrm>
        </p:spPr>
        <p:txBody>
          <a:bodyPr/>
          <a:lstStyle/>
          <a:p>
            <a:pPr eaLnBrk="1" hangingPunct="1"/>
            <a:r>
              <a:rPr lang="en-GB" altLang="en-US" smtClean="0"/>
              <a:t>From itemsets to rules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14400"/>
            <a:ext cx="8229600" cy="2514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400"/>
              <a:t> </a:t>
            </a:r>
          </a:p>
          <a:p>
            <a:pPr eaLnBrk="1" hangingPunct="1">
              <a:buFontTx/>
              <a:buNone/>
            </a:pPr>
            <a:r>
              <a:rPr lang="en-GB" altLang="en-US" sz="2400"/>
              <a:t>The Apriori algorithm finds interesting (i.e. frequent) itemsets.</a:t>
            </a:r>
          </a:p>
          <a:p>
            <a:pPr eaLnBrk="1" hangingPunct="1">
              <a:buFontTx/>
              <a:buNone/>
            </a:pPr>
            <a:endParaRPr lang="en-GB" altLang="en-US" sz="2400"/>
          </a:p>
          <a:p>
            <a:pPr eaLnBrk="1" hangingPunct="1">
              <a:buFontTx/>
              <a:buNone/>
            </a:pPr>
            <a:r>
              <a:rPr lang="en-GB" altLang="en-US" sz="2400"/>
              <a:t>E.g. it may find that {apples, bananas, milk} has coverage 30%</a:t>
            </a:r>
          </a:p>
          <a:p>
            <a:pPr eaLnBrk="1" hangingPunct="1">
              <a:buFontTx/>
              <a:buNone/>
            </a:pPr>
            <a:r>
              <a:rPr lang="en-GB" altLang="en-US" sz="2400"/>
              <a:t>-- so 30% of transactions contain each of these three things.</a:t>
            </a:r>
          </a:p>
          <a:p>
            <a:pPr eaLnBrk="1" hangingPunct="1">
              <a:buFontTx/>
              <a:buNone/>
            </a:pPr>
            <a:endParaRPr lang="en-GB" altLang="en-US" i="1" smtClean="0">
              <a:solidFill>
                <a:srgbClr val="990000"/>
              </a:solidFill>
            </a:endParaRPr>
          </a:p>
        </p:txBody>
      </p:sp>
      <p:grpSp>
        <p:nvGrpSpPr>
          <p:cNvPr id="300036" name="Group 4"/>
          <p:cNvGrpSpPr>
            <a:grpSpLocks/>
          </p:cNvGrpSpPr>
          <p:nvPr/>
        </p:nvGrpSpPr>
        <p:grpSpPr bwMode="auto">
          <a:xfrm>
            <a:off x="2243138" y="3200401"/>
            <a:ext cx="7053262" cy="1025525"/>
            <a:chOff x="422" y="3290"/>
            <a:chExt cx="4443" cy="646"/>
          </a:xfrm>
        </p:grpSpPr>
        <p:sp>
          <p:nvSpPr>
            <p:cNvPr id="37895" name="Text Box 5"/>
            <p:cNvSpPr txBox="1">
              <a:spLocks noChangeArrowheads="1"/>
            </p:cNvSpPr>
            <p:nvPr/>
          </p:nvSpPr>
          <p:spPr bwMode="auto">
            <a:xfrm>
              <a:off x="422" y="3290"/>
              <a:ext cx="44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What can you say about the coverage of {apples, milk}?</a:t>
              </a:r>
            </a:p>
          </p:txBody>
        </p:sp>
        <p:pic>
          <p:nvPicPr>
            <p:cNvPr id="37896" name="Picture 6" descr="HM00334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3566"/>
              <a:ext cx="48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2270126" y="4537076"/>
            <a:ext cx="8196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We can invent several potential rules, e.g.: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 IF basket contains apples and bananas, it also contains MILK.</a:t>
            </a:r>
          </a:p>
        </p:txBody>
      </p:sp>
      <p:sp>
        <p:nvSpPr>
          <p:cNvPr id="300040" name="Text Box 8"/>
          <p:cNvSpPr txBox="1">
            <a:spLocks noChangeArrowheads="1"/>
          </p:cNvSpPr>
          <p:nvPr/>
        </p:nvSpPr>
        <p:spPr bwMode="auto">
          <a:xfrm>
            <a:off x="1905000" y="5680075"/>
            <a:ext cx="8758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Suppose support of {a, b} is 40%;  what is the confidence of this rule?</a:t>
            </a:r>
          </a:p>
        </p:txBody>
      </p:sp>
    </p:spTree>
    <p:extLst>
      <p:ext uri="{BB962C8B-B14F-4D97-AF65-F5344CB8AC3E}">
        <p14:creationId xmlns:p14="http://schemas.microsoft.com/office/powerpoint/2010/main" val="84647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9" grpId="0" autoUpdateAnimBg="0"/>
      <p:bldP spid="30004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business-files.unl.edu/public/cbainternal/facStaffUploads/KM3MarketBasket.ppt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https://www.macs.hw.ac.uk/~</a:t>
            </a:r>
            <a:r>
              <a:rPr lang="en-US" dirty="0" smtClean="0">
                <a:hlinkClick r:id="rId3"/>
              </a:rPr>
              <a:t>dwcorne/Teaching/DMML/DMML4_apriori.ppt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1386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Appendix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altLang="en-US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27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457200"/>
            <a:ext cx="7772400" cy="533400"/>
          </a:xfrm>
        </p:spPr>
        <p:txBody>
          <a:bodyPr/>
          <a:lstStyle/>
          <a:p>
            <a:pPr algn="r" eaLnBrk="1" hangingPunct="1"/>
            <a:r>
              <a:rPr lang="en-GB" altLang="en-US" sz="2000" u="sng"/>
              <a:t>A full run through of Apriori</a:t>
            </a:r>
          </a:p>
        </p:txBody>
      </p:sp>
      <p:graphicFrame>
        <p:nvGraphicFramePr>
          <p:cNvPr id="305155" name="Group 3"/>
          <p:cNvGraphicFramePr>
            <a:graphicFrameLocks noGrp="1"/>
          </p:cNvGraphicFramePr>
          <p:nvPr/>
        </p:nvGraphicFramePr>
        <p:xfrm>
          <a:off x="2133600" y="446088"/>
          <a:ext cx="4452938" cy="5513384"/>
        </p:xfrm>
        <a:graphic>
          <a:graphicData uri="http://schemas.openxmlformats.org/drawingml/2006/table">
            <a:tbl>
              <a:tblPr/>
              <a:tblGrid>
                <a:gridCol w="555625"/>
                <a:gridCol w="557213"/>
                <a:gridCol w="557212"/>
                <a:gridCol w="557213"/>
                <a:gridCol w="555625"/>
                <a:gridCol w="555625"/>
                <a:gridCol w="557212"/>
                <a:gridCol w="557213"/>
              </a:tblGrid>
              <a:tr h="2873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156" name="Text Box 196"/>
          <p:cNvSpPr txBox="1">
            <a:spLocks noChangeArrowheads="1"/>
          </p:cNvSpPr>
          <p:nvPr/>
        </p:nvSpPr>
        <p:spPr bwMode="auto">
          <a:xfrm>
            <a:off x="2209801" y="-26988"/>
            <a:ext cx="4233863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/>
              <a:t>ID    a,       b,      c,      d,     e,      f,      g</a:t>
            </a:r>
            <a:endParaRPr lang="en-GB" altLang="en-US" sz="1800" b="1"/>
          </a:p>
        </p:txBody>
      </p:sp>
      <p:sp>
        <p:nvSpPr>
          <p:cNvPr id="41157" name="Text Box 197"/>
          <p:cNvSpPr txBox="1">
            <a:spLocks noChangeArrowheads="1"/>
          </p:cNvSpPr>
          <p:nvPr/>
        </p:nvSpPr>
        <p:spPr bwMode="auto">
          <a:xfrm>
            <a:off x="7527926" y="1233489"/>
            <a:ext cx="29876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We will assume this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our transaction database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i="1"/>
              <a:t>D </a:t>
            </a:r>
            <a:r>
              <a:rPr lang="en-GB" altLang="en-US" sz="2000"/>
              <a:t>and we will assume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i="1"/>
              <a:t>minsup</a:t>
            </a:r>
            <a:r>
              <a:rPr lang="en-GB" altLang="en-US" sz="2000"/>
              <a:t> is 4 (20%)</a:t>
            </a:r>
            <a:endParaRPr lang="en-GB" altLang="en-US" sz="2000" i="1"/>
          </a:p>
        </p:txBody>
      </p:sp>
      <p:sp>
        <p:nvSpPr>
          <p:cNvPr id="41158" name="Text Box 198"/>
          <p:cNvSpPr txBox="1">
            <a:spLocks noChangeArrowheads="1"/>
          </p:cNvSpPr>
          <p:nvPr/>
        </p:nvSpPr>
        <p:spPr bwMode="auto">
          <a:xfrm>
            <a:off x="7680326" y="2879726"/>
            <a:ext cx="29876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This will not be run through in the lecture; it is here to help with revision</a:t>
            </a:r>
            <a:endParaRPr lang="en-GB" altLang="en-US" sz="2000" i="1"/>
          </a:p>
        </p:txBody>
      </p:sp>
    </p:spTree>
    <p:extLst>
      <p:ext uri="{BB962C8B-B14F-4D97-AF65-F5344CB8AC3E}">
        <p14:creationId xmlns:p14="http://schemas.microsoft.com/office/powerpoint/2010/main" val="295765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117725" y="727075"/>
            <a:ext cx="8057014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First we find all the large 1-itemsets. I.e., in this case, all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1-itemsets that are contained by at least 4 records in the DB.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In this example, that’s all of them. So,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L</a:t>
            </a:r>
            <a:r>
              <a:rPr lang="en-GB" altLang="en-US" sz="2400" baseline="-25000"/>
              <a:t>1</a:t>
            </a:r>
            <a:r>
              <a:rPr lang="en-GB" altLang="en-US" sz="2400"/>
              <a:t> = {{a}, {b}, {c}, {d}, {e}, {f}, {g}}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Now we set </a:t>
            </a:r>
            <a:r>
              <a:rPr lang="en-GB" altLang="en-US" sz="2400" i="1"/>
              <a:t>k</a:t>
            </a:r>
            <a:r>
              <a:rPr lang="en-GB" altLang="en-US" sz="2400"/>
              <a:t> = 2 and run </a:t>
            </a:r>
            <a:r>
              <a:rPr lang="en-GB" altLang="en-US" sz="2400" i="1"/>
              <a:t>apriori-gen</a:t>
            </a:r>
            <a:r>
              <a:rPr lang="en-GB" altLang="en-US" sz="2400"/>
              <a:t> to generate </a:t>
            </a:r>
            <a:r>
              <a:rPr lang="en-GB" altLang="en-US" sz="2400" i="1"/>
              <a:t>C</a:t>
            </a:r>
            <a:r>
              <a:rPr lang="en-GB" altLang="en-US" sz="2400" baseline="-25000"/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The </a:t>
            </a:r>
            <a:r>
              <a:rPr lang="en-GB" altLang="en-US" sz="2400" i="1"/>
              <a:t>join</a:t>
            </a:r>
            <a:r>
              <a:rPr lang="en-GB" altLang="en-US" sz="2400"/>
              <a:t> step when </a:t>
            </a:r>
            <a:r>
              <a:rPr lang="en-GB" altLang="en-US" sz="2400" i="1"/>
              <a:t>k</a:t>
            </a:r>
            <a:r>
              <a:rPr lang="en-GB" altLang="en-US" sz="2400"/>
              <a:t>=2</a:t>
            </a:r>
            <a:r>
              <a:rPr lang="en-GB" altLang="en-US" sz="2400" i="1"/>
              <a:t> </a:t>
            </a:r>
            <a:r>
              <a:rPr lang="en-GB" altLang="en-US" sz="2400"/>
              <a:t>just gives us the set of all alphabetically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ordered pairs from </a:t>
            </a:r>
            <a:r>
              <a:rPr lang="en-GB" altLang="en-US" sz="2400" i="1"/>
              <a:t>L</a:t>
            </a:r>
            <a:r>
              <a:rPr lang="en-GB" altLang="en-US" sz="2400" baseline="-25000"/>
              <a:t>1</a:t>
            </a:r>
            <a:r>
              <a:rPr lang="en-GB" altLang="en-US" sz="2400"/>
              <a:t>, and we cannot prune any away, so we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have  </a:t>
            </a:r>
            <a:r>
              <a:rPr lang="en-GB" altLang="en-US" sz="2400" i="1"/>
              <a:t>C</a:t>
            </a:r>
            <a:r>
              <a:rPr lang="en-GB" altLang="en-US" sz="2400" baseline="-25000"/>
              <a:t>2</a:t>
            </a:r>
            <a:r>
              <a:rPr lang="en-GB" altLang="en-US" sz="2400"/>
              <a:t> = {{a, b}, {a, c}, {a, d}, {a, e}, {a, f}, {a, g}, {b, c},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      {b, d}, {b, e}, {b, f}, {b, g}, {c, d}, {c, e}, {c, f}, {c, g},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      {d, e}, {d, f}, {d, g}, {e, f}, {e, g}, {f, g}}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aseline="-25000"/>
          </a:p>
        </p:txBody>
      </p:sp>
    </p:spTree>
    <p:extLst>
      <p:ext uri="{BB962C8B-B14F-4D97-AF65-F5344CB8AC3E}">
        <p14:creationId xmlns:p14="http://schemas.microsoft.com/office/powerpoint/2010/main" val="181860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2117726" y="115889"/>
            <a:ext cx="809307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So we have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</a:t>
            </a:r>
            <a:r>
              <a:rPr lang="en-GB" altLang="en-US" sz="2400" i="1"/>
              <a:t>C</a:t>
            </a:r>
            <a:r>
              <a:rPr lang="en-GB" altLang="en-US" sz="2400" baseline="-25000"/>
              <a:t>2</a:t>
            </a:r>
            <a:r>
              <a:rPr lang="en-GB" altLang="en-US" sz="2400"/>
              <a:t> = </a:t>
            </a:r>
            <a:r>
              <a:rPr lang="en-GB" altLang="en-US" sz="1600"/>
              <a:t>{{a, b}, {a, c}, {a, d}, {a, e}, {a, f}, {a, g}, {b, c}, {b, d}, {b, e}, {b, f}, {b, g}, {c, d}, {c, e}, {c, f}, {c, g}, {d, e}, {d, f}, {d, g}, {e, f}, {e, g}, {f, g}}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Line 4 of the Apriori algorithm now tells us set a counter for each of these to 0. Line 5 now prepares us to take each record in the DB in turn, and find which of those in </a:t>
            </a:r>
            <a:r>
              <a:rPr lang="en-GB" altLang="en-US" sz="2400" i="1"/>
              <a:t>C</a:t>
            </a:r>
            <a:r>
              <a:rPr lang="en-GB" altLang="en-US" sz="2400" baseline="-25000"/>
              <a:t>2</a:t>
            </a:r>
            <a:r>
              <a:rPr lang="en-GB" altLang="en-US" sz="2400"/>
              <a:t> are contained in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</a:t>
            </a:r>
            <a:r>
              <a:rPr lang="en-GB" altLang="en-US" sz="2400">
                <a:solidFill>
                  <a:srgbClr val="006600"/>
                </a:solidFill>
              </a:rPr>
              <a:t>The first record </a:t>
            </a:r>
            <a:r>
              <a:rPr lang="en-GB" altLang="en-US" sz="2400" i="1">
                <a:solidFill>
                  <a:srgbClr val="006600"/>
                </a:solidFill>
              </a:rPr>
              <a:t>r</a:t>
            </a:r>
            <a:r>
              <a:rPr lang="en-GB" altLang="en-US" sz="2400">
                <a:solidFill>
                  <a:srgbClr val="006600"/>
                </a:solidFill>
              </a:rPr>
              <a:t>1</a:t>
            </a:r>
            <a:r>
              <a:rPr lang="en-GB" altLang="en-US" sz="2400"/>
              <a:t> is: {a, b, d, g}. Those of </a:t>
            </a:r>
            <a:r>
              <a:rPr lang="en-GB" altLang="en-US" sz="2400" i="1"/>
              <a:t>C</a:t>
            </a:r>
            <a:r>
              <a:rPr lang="en-GB" altLang="en-US" sz="2400" baseline="-25000"/>
              <a:t>2</a:t>
            </a:r>
            <a:r>
              <a:rPr lang="en-GB" altLang="en-US" sz="2400"/>
              <a:t> it contains are: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{a, b}, {a, d}, {a, g}, {a, d}, {a, g}, {b, d}, {b, g}, {d, g}.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Hence 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r1 </a:t>
            </a:r>
            <a:r>
              <a:rPr lang="en-GB" altLang="en-US" sz="2400"/>
              <a:t>= </a:t>
            </a:r>
            <a:r>
              <a:rPr lang="en-GB" altLang="en-US" sz="2000"/>
              <a:t>{{a, b}, {a, d}, {a, g}, {a, d}, {a, g}, {b, d}, {b, g}, {d, g}}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 and the rest of line 6 tells us to increment the counters of these itemsets.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 </a:t>
            </a:r>
            <a:r>
              <a:rPr lang="en-GB" altLang="en-US" sz="2400">
                <a:solidFill>
                  <a:srgbClr val="006600"/>
                </a:solidFill>
              </a:rPr>
              <a:t>The second record </a:t>
            </a:r>
            <a:r>
              <a:rPr lang="en-GB" altLang="en-US" sz="2400" i="1">
                <a:solidFill>
                  <a:srgbClr val="006600"/>
                </a:solidFill>
              </a:rPr>
              <a:t>r</a:t>
            </a:r>
            <a:r>
              <a:rPr lang="en-GB" altLang="en-US" sz="2400">
                <a:solidFill>
                  <a:srgbClr val="006600"/>
                </a:solidFill>
              </a:rPr>
              <a:t>2 </a:t>
            </a:r>
            <a:r>
              <a:rPr lang="en-GB" altLang="en-US" sz="2400"/>
              <a:t>is:{c, d, e};  </a:t>
            </a:r>
            <a:r>
              <a:rPr lang="en-GB" altLang="en-US" sz="2400" i="1"/>
              <a:t>C</a:t>
            </a:r>
            <a:r>
              <a:rPr lang="en-GB" altLang="en-US" sz="2400" i="1" baseline="-25000"/>
              <a:t>r2 </a:t>
            </a:r>
            <a:r>
              <a:rPr lang="en-GB" altLang="en-US" sz="2400"/>
              <a:t>= </a:t>
            </a:r>
            <a:r>
              <a:rPr lang="en-GB" altLang="en-US" sz="2000"/>
              <a:t>{{c, d}, {c, e}, {d, e}},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 and we increment the counters for these three itemsets.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After all 20 records, we look at the counters, and in this case we will find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that the itemsets with &gt;= minsup (4) counters are: {a, d}, {c, e}.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    So, </a:t>
            </a:r>
            <a:r>
              <a:rPr lang="en-GB" altLang="en-US" sz="2400" i="1"/>
              <a:t>L</a:t>
            </a:r>
            <a:r>
              <a:rPr lang="en-GB" altLang="en-US" sz="2400" baseline="-25000"/>
              <a:t>2</a:t>
            </a:r>
            <a:r>
              <a:rPr lang="en-GB" altLang="en-US" sz="2400"/>
              <a:t> = </a:t>
            </a:r>
            <a:r>
              <a:rPr lang="en-GB" altLang="en-US" sz="2000"/>
              <a:t>{{a, c}, {a, d}, {c, d},  {c, e}, {c, f}}</a:t>
            </a:r>
            <a:r>
              <a:rPr lang="en-GB" altLang="en-US" sz="1600"/>
              <a:t> </a:t>
            </a:r>
            <a:endParaRPr lang="en-GB" altLang="en-US" sz="2000" i="1" baseline="-25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12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117726" y="727075"/>
            <a:ext cx="8093075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So we have </a:t>
            </a:r>
            <a:r>
              <a:rPr lang="en-GB" altLang="en-US" sz="2400" i="1"/>
              <a:t>L</a:t>
            </a:r>
            <a:r>
              <a:rPr lang="en-GB" altLang="en-US" sz="2400" baseline="-25000"/>
              <a:t>2</a:t>
            </a:r>
            <a:r>
              <a:rPr lang="en-GB" altLang="en-US" sz="2400"/>
              <a:t> = </a:t>
            </a:r>
            <a:r>
              <a:rPr lang="en-GB" altLang="en-US" sz="2000"/>
              <a:t>{{a, c}, {a, d}, {c, d}, {c, e}, {c, f}}</a:t>
            </a:r>
            <a:r>
              <a:rPr lang="en-GB" altLang="en-US" sz="1600"/>
              <a:t> </a:t>
            </a:r>
            <a:endParaRPr lang="en-GB" altLang="en-US" sz="2000" i="1" baseline="-250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We now set </a:t>
            </a:r>
            <a:r>
              <a:rPr lang="en-GB" altLang="en-US" sz="2400" i="1"/>
              <a:t>k</a:t>
            </a:r>
            <a:r>
              <a:rPr lang="en-GB" altLang="en-US" sz="2400"/>
              <a:t> = 3 and run </a:t>
            </a:r>
            <a:r>
              <a:rPr lang="en-GB" altLang="en-US" sz="2400" i="1"/>
              <a:t>apriori-gen</a:t>
            </a:r>
            <a:r>
              <a:rPr lang="en-GB" altLang="en-US" sz="2400"/>
              <a:t> on </a:t>
            </a:r>
            <a:r>
              <a:rPr lang="en-GB" altLang="en-US" sz="2400" i="1"/>
              <a:t>L</a:t>
            </a:r>
            <a:r>
              <a:rPr lang="en-GB" altLang="en-US" sz="2400" baseline="-25000"/>
              <a:t>2</a:t>
            </a:r>
            <a:r>
              <a:rPr lang="en-GB" altLang="en-US" sz="2400"/>
              <a:t> 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The join step finds the following pairs that meet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required pattern:  </a:t>
            </a:r>
            <a:r>
              <a:rPr lang="en-GB" altLang="en-US" sz="2000"/>
              <a:t>{a, c}:{a, d}   {c, d}:{c, e}   {c, d}:{c, f}   {c, e}:{c, f}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This leads to the candidates 3-itemsets: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{a, c, d},  {c, d, e}, {c, d, f}, {c, e, f}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  We prune {c, d, e} since {d, e} is not in L</a:t>
            </a:r>
            <a:r>
              <a:rPr lang="en-GB" altLang="en-US" sz="2400" baseline="-25000"/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  We prune {c, d, f} since {d, f} is not in L</a:t>
            </a:r>
            <a:r>
              <a:rPr lang="en-GB" altLang="en-US" sz="2400" baseline="-25000"/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  We prune {c, e, f} since {e, f} is not in L</a:t>
            </a:r>
            <a:r>
              <a:rPr lang="en-GB" altLang="en-US" sz="2400" baseline="-25000"/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i="1" baseline="-25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We are left with  </a:t>
            </a:r>
            <a:r>
              <a:rPr lang="en-GB" altLang="en-US" sz="2400" i="1"/>
              <a:t>C</a:t>
            </a:r>
            <a:r>
              <a:rPr lang="en-GB" altLang="en-US" sz="2400" baseline="-25000"/>
              <a:t>3</a:t>
            </a:r>
            <a:r>
              <a:rPr lang="en-GB" altLang="en-US" sz="2400" i="1"/>
              <a:t> </a:t>
            </a:r>
            <a:r>
              <a:rPr lang="en-GB" altLang="en-US" sz="2400"/>
              <a:t> = </a:t>
            </a:r>
            <a:r>
              <a:rPr lang="en-GB" altLang="en-US" sz="2000"/>
              <a:t>{a, c, d}</a:t>
            </a: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We now run lines 5—7, to count how many records contain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{a, c, d}. The count is 4, so   </a:t>
            </a:r>
            <a:r>
              <a:rPr lang="en-GB" altLang="en-US" sz="2400" i="1"/>
              <a:t>L</a:t>
            </a:r>
            <a:r>
              <a:rPr lang="en-GB" altLang="en-US" sz="2400" baseline="-25000"/>
              <a:t>3</a:t>
            </a:r>
            <a:r>
              <a:rPr lang="en-GB" altLang="en-US" sz="2400" i="1"/>
              <a:t> </a:t>
            </a:r>
            <a:r>
              <a:rPr lang="en-GB" altLang="en-US" sz="2400"/>
              <a:t> = </a:t>
            </a:r>
            <a:r>
              <a:rPr lang="en-GB" altLang="en-US" sz="2000"/>
              <a:t>{a, c, d}</a:t>
            </a: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  <a:r>
              <a:rPr lang="en-GB" alt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67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117726" y="727075"/>
            <a:ext cx="8093075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So we have </a:t>
            </a:r>
            <a:r>
              <a:rPr lang="en-GB" altLang="en-US" sz="2400" i="1"/>
              <a:t>L</a:t>
            </a:r>
            <a:r>
              <a:rPr lang="en-GB" altLang="en-US" sz="2400" baseline="-25000"/>
              <a:t>3</a:t>
            </a:r>
            <a:r>
              <a:rPr lang="en-GB" altLang="en-US" sz="2400" i="1"/>
              <a:t> </a:t>
            </a:r>
            <a:r>
              <a:rPr lang="en-GB" altLang="en-US" sz="2400"/>
              <a:t> = </a:t>
            </a:r>
            <a:r>
              <a:rPr lang="en-GB" altLang="en-US" sz="2000"/>
              <a:t>{a, c, d}</a:t>
            </a: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We now set </a:t>
            </a:r>
            <a:r>
              <a:rPr lang="en-GB" altLang="en-US" sz="2400" i="1"/>
              <a:t>k </a:t>
            </a:r>
            <a:r>
              <a:rPr lang="en-GB" altLang="en-US" sz="2400"/>
              <a:t>= 4, but when we run  </a:t>
            </a:r>
            <a:r>
              <a:rPr lang="en-GB" altLang="en-US" sz="2400" i="1"/>
              <a:t>apriori-gen</a:t>
            </a:r>
            <a:r>
              <a:rPr lang="en-GB" altLang="en-US" sz="2400"/>
              <a:t> on </a:t>
            </a:r>
            <a:r>
              <a:rPr lang="en-GB" altLang="en-US" sz="2400" i="1"/>
              <a:t>L</a:t>
            </a:r>
            <a:r>
              <a:rPr lang="en-GB" altLang="en-US" sz="2400" baseline="-25000"/>
              <a:t>3</a:t>
            </a:r>
            <a:r>
              <a:rPr lang="en-GB" altLang="en-US" sz="2400"/>
              <a:t> we get the empty set, and hence eventually we find  </a:t>
            </a:r>
            <a:r>
              <a:rPr lang="en-GB" altLang="en-US" sz="2400" i="1"/>
              <a:t>L</a:t>
            </a:r>
            <a:r>
              <a:rPr lang="en-GB" altLang="en-US" sz="2400" baseline="-25000"/>
              <a:t>4</a:t>
            </a:r>
            <a:r>
              <a:rPr lang="en-GB" altLang="en-US" sz="2400" i="1"/>
              <a:t> </a:t>
            </a:r>
            <a:r>
              <a:rPr lang="en-GB" altLang="en-US" sz="2400"/>
              <a:t> = {}</a:t>
            </a:r>
            <a:endParaRPr lang="en-GB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This means we now finish, and return the set of all of the non-empty </a:t>
            </a:r>
            <a:r>
              <a:rPr lang="en-GB" altLang="en-US" sz="2400" i="1"/>
              <a:t>L</a:t>
            </a:r>
            <a:r>
              <a:rPr lang="en-GB" altLang="en-US" sz="2400"/>
              <a:t>s – these are all of the large itemsets: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Result = </a:t>
            </a:r>
            <a:r>
              <a:rPr lang="en-GB" altLang="en-US" sz="2000"/>
              <a:t>{{a}, {b}, {c}, {d}, {e}, {f}, {g}, {a, c}, {a, d}, {c, d},  {c, e}, {c, f}, {a, c, d}}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Each large itemset is intrinsically interesting, and may be of business value.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/>
              <a:t>Simple rule-generation algorithms can now use the large itemsets as a starting point.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000"/>
          </a:p>
        </p:txBody>
      </p:sp>
    </p:spTree>
    <p:extLst>
      <p:ext uri="{BB962C8B-B14F-4D97-AF65-F5344CB8AC3E}">
        <p14:creationId xmlns:p14="http://schemas.microsoft.com/office/powerpoint/2010/main" val="68619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8077200" cy="838200"/>
          </a:xfrm>
        </p:spPr>
        <p:txBody>
          <a:bodyPr/>
          <a:lstStyle/>
          <a:p>
            <a:pPr eaLnBrk="1" hangingPunct="1"/>
            <a:r>
              <a:rPr lang="en-GB" altLang="en-US" smtClean="0"/>
              <a:t>Test yourself: Understanding rules 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14400"/>
            <a:ext cx="8229600" cy="2514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/>
              <a:t> </a:t>
            </a:r>
            <a:r>
              <a:rPr lang="en-GB" altLang="en-US" sz="2000"/>
              <a:t> Suppose itemset </a:t>
            </a:r>
            <a:r>
              <a:rPr lang="en-GB" altLang="en-US" sz="2000" i="1"/>
              <a:t>A</a:t>
            </a:r>
            <a:r>
              <a:rPr lang="en-GB" altLang="en-US" sz="2000"/>
              <a:t> = {beer, cheese, eggs} has 30% support in the DB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{beer, cheese} has 40%,  {beer, eggs} has 30%, {cheese, eggs}  has 50%,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and each of beer, cheese, and eggs alone has 50% support..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What is the confidence of: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  IF basket contains Beer and Cheese,  THEN basket also contains Eggs ?               </a:t>
            </a:r>
            <a:endParaRPr lang="en-GB" altLang="en-US" i="1">
              <a:solidFill>
                <a:srgbClr val="990000"/>
              </a:solidFill>
            </a:endParaRPr>
          </a:p>
        </p:txBody>
      </p:sp>
      <p:sp>
        <p:nvSpPr>
          <p:cNvPr id="301060" name="Text Box 4"/>
          <p:cNvSpPr txBox="1">
            <a:spLocks noChangeArrowheads="1"/>
          </p:cNvSpPr>
          <p:nvPr/>
        </p:nvSpPr>
        <p:spPr bwMode="auto">
          <a:xfrm>
            <a:off x="2270125" y="4537075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2041525" y="5680075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2193925" y="3394076"/>
            <a:ext cx="594585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The confidence of a rule  if </a:t>
            </a:r>
            <a:r>
              <a:rPr lang="en-GB" altLang="en-US" sz="2400" i="1"/>
              <a:t>A</a:t>
            </a:r>
            <a:r>
              <a:rPr lang="en-GB" altLang="en-US" sz="2400"/>
              <a:t> then </a:t>
            </a:r>
            <a:r>
              <a:rPr lang="en-GB" altLang="en-US" sz="2400" i="1"/>
              <a:t>B </a:t>
            </a:r>
            <a:r>
              <a:rPr lang="en-GB" altLang="en-US" sz="2400"/>
              <a:t>is simply: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  </a:t>
            </a:r>
            <a:r>
              <a:rPr lang="en-GB" altLang="en-US" sz="2400" i="1"/>
              <a:t>support</a:t>
            </a:r>
            <a:r>
              <a:rPr lang="en-GB" altLang="en-US" sz="2400"/>
              <a:t>(</a:t>
            </a:r>
            <a:r>
              <a:rPr lang="en-GB" altLang="en-US" sz="2400" i="1"/>
              <a:t>A</a:t>
            </a:r>
            <a:r>
              <a:rPr lang="en-GB" altLang="en-US" sz="2400"/>
              <a:t> + </a:t>
            </a:r>
            <a:r>
              <a:rPr lang="en-GB" altLang="en-US" sz="2400" i="1"/>
              <a:t>B</a:t>
            </a:r>
            <a:r>
              <a:rPr lang="en-GB" altLang="en-US" sz="2400"/>
              <a:t>) / </a:t>
            </a:r>
            <a:r>
              <a:rPr lang="en-GB" altLang="en-US" sz="2400" i="1"/>
              <a:t>support(A).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2346326" y="4267200"/>
            <a:ext cx="6581775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chemeClr val="bg1"/>
                </a:solidFill>
              </a:rPr>
              <a:t>So it’s  30/40 = 0.75 ; this rule has 75% confidence  </a:t>
            </a:r>
            <a:endParaRPr lang="en-GB" altLang="en-US" sz="2400" i="1">
              <a:solidFill>
                <a:schemeClr val="bg1"/>
              </a:solidFill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2362200" y="4800600"/>
            <a:ext cx="8001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What is the confidence of: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  IF basket contains Beer,  THEN basket also contains Cheese and Eggs ?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/>
              <a:t>               </a:t>
            </a:r>
            <a:endParaRPr lang="en-GB" altLang="en-US" sz="2800" i="1">
              <a:solidFill>
                <a:srgbClr val="990000"/>
              </a:solidFill>
            </a:endParaRP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2359026" y="5680075"/>
            <a:ext cx="6016625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  <a:r>
              <a:rPr lang="en-GB" altLang="en-US" sz="2400">
                <a:solidFill>
                  <a:schemeClr val="bg1"/>
                </a:solidFill>
              </a:rPr>
              <a:t>30 / 50 </a:t>
            </a:r>
            <a:r>
              <a:rPr lang="en-GB" altLang="en-US" sz="2400" i="1">
                <a:solidFill>
                  <a:schemeClr val="bg1"/>
                </a:solidFill>
              </a:rPr>
              <a:t> = </a:t>
            </a:r>
            <a:r>
              <a:rPr lang="en-GB" altLang="en-US" sz="2400">
                <a:solidFill>
                  <a:schemeClr val="bg1"/>
                </a:solidFill>
              </a:rPr>
              <a:t>0.6   so this rule has 60% confidence</a:t>
            </a:r>
            <a:endParaRPr lang="en-GB" altLang="en-US" sz="2400" i="1">
              <a:solidFill>
                <a:schemeClr val="bg1"/>
              </a:solidFill>
            </a:endParaRPr>
          </a:p>
        </p:txBody>
      </p:sp>
      <p:sp>
        <p:nvSpPr>
          <p:cNvPr id="46090" name="TextBox 1"/>
          <p:cNvSpPr txBox="1">
            <a:spLocks noChangeArrowheads="1"/>
          </p:cNvSpPr>
          <p:nvPr/>
        </p:nvSpPr>
        <p:spPr bwMode="auto">
          <a:xfrm>
            <a:off x="2135188" y="6367464"/>
            <a:ext cx="7067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i="1"/>
              <a:t>The answers are in the above boxes in white font colour</a:t>
            </a:r>
          </a:p>
        </p:txBody>
      </p:sp>
    </p:spTree>
    <p:extLst>
      <p:ext uri="{BB962C8B-B14F-4D97-AF65-F5344CB8AC3E}">
        <p14:creationId xmlns:p14="http://schemas.microsoft.com/office/powerpoint/2010/main" val="220840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autoUpdateAnimBg="0"/>
      <p:bldP spid="301061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8077200" cy="838200"/>
          </a:xfrm>
        </p:spPr>
        <p:txBody>
          <a:bodyPr/>
          <a:lstStyle/>
          <a:p>
            <a:pPr eaLnBrk="1" hangingPunct="1"/>
            <a:r>
              <a:rPr lang="en-GB" altLang="en-US" smtClean="0"/>
              <a:t>Test yourself: Understanding rules 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914400"/>
            <a:ext cx="8229600" cy="2514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400"/>
              <a:t> </a:t>
            </a:r>
          </a:p>
          <a:p>
            <a:pPr eaLnBrk="1" hangingPunct="1">
              <a:buFontTx/>
              <a:buNone/>
            </a:pPr>
            <a:r>
              <a:rPr lang="en-GB" altLang="en-US">
                <a:solidFill>
                  <a:srgbClr val="990000"/>
                </a:solidFill>
              </a:rPr>
              <a:t> </a:t>
            </a:r>
            <a:r>
              <a:rPr lang="en-GB" altLang="en-US" sz="2400">
                <a:solidFill>
                  <a:srgbClr val="990000"/>
                </a:solidFill>
              </a:rPr>
              <a:t> If the following rule has confidence </a:t>
            </a:r>
            <a:r>
              <a:rPr lang="en-GB" altLang="en-US" sz="2400" i="1">
                <a:solidFill>
                  <a:srgbClr val="990000"/>
                </a:solidFill>
              </a:rPr>
              <a:t>c</a:t>
            </a:r>
            <a:r>
              <a:rPr lang="en-GB" altLang="en-US" sz="2400">
                <a:solidFill>
                  <a:srgbClr val="990000"/>
                </a:solidFill>
              </a:rPr>
              <a:t>:</a:t>
            </a:r>
            <a:r>
              <a:rPr lang="en-GB" altLang="en-US" i="1">
                <a:solidFill>
                  <a:srgbClr val="990000"/>
                </a:solidFill>
              </a:rPr>
              <a:t>    If </a:t>
            </a:r>
            <a:r>
              <a:rPr lang="en-GB" altLang="en-US">
                <a:solidFill>
                  <a:srgbClr val="990000"/>
                </a:solidFill>
              </a:rPr>
              <a:t>A</a:t>
            </a:r>
            <a:r>
              <a:rPr lang="en-GB" altLang="en-US" i="1">
                <a:solidFill>
                  <a:srgbClr val="990000"/>
                </a:solidFill>
              </a:rPr>
              <a:t> then </a:t>
            </a:r>
            <a:r>
              <a:rPr lang="en-GB" altLang="en-US">
                <a:solidFill>
                  <a:srgbClr val="990000"/>
                </a:solidFill>
              </a:rPr>
              <a:t>B </a:t>
            </a:r>
          </a:p>
          <a:p>
            <a:pPr eaLnBrk="1" hangingPunct="1">
              <a:buFontTx/>
              <a:buNone/>
            </a:pPr>
            <a:r>
              <a:rPr lang="en-GB" altLang="en-US">
                <a:solidFill>
                  <a:srgbClr val="990000"/>
                </a:solidFill>
              </a:rPr>
              <a:t>    and if support(A) = 2 * support(B),  what can be said about the confidence of:</a:t>
            </a:r>
            <a:r>
              <a:rPr lang="en-GB" altLang="en-US" i="1">
                <a:solidFill>
                  <a:srgbClr val="990000"/>
                </a:solidFill>
              </a:rPr>
              <a:t>                If </a:t>
            </a:r>
            <a:r>
              <a:rPr lang="en-GB" altLang="en-US">
                <a:solidFill>
                  <a:srgbClr val="990000"/>
                </a:solidFill>
              </a:rPr>
              <a:t>B </a:t>
            </a:r>
            <a:r>
              <a:rPr lang="en-GB" altLang="en-US" i="1">
                <a:solidFill>
                  <a:srgbClr val="990000"/>
                </a:solidFill>
              </a:rPr>
              <a:t>then </a:t>
            </a:r>
            <a:r>
              <a:rPr lang="en-GB" altLang="en-US">
                <a:solidFill>
                  <a:srgbClr val="990000"/>
                </a:solidFill>
              </a:rPr>
              <a:t>A</a:t>
            </a:r>
          </a:p>
          <a:p>
            <a:pPr eaLnBrk="1" hangingPunct="1">
              <a:buFontTx/>
              <a:buNone/>
            </a:pPr>
            <a:endParaRPr lang="en-GB" altLang="en-US" i="1">
              <a:solidFill>
                <a:srgbClr val="990000"/>
              </a:solidFill>
            </a:endParaRPr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2270125" y="4537075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</a:p>
        </p:txBody>
      </p:sp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2041525" y="5680075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2530476" y="2959100"/>
            <a:ext cx="7407275" cy="193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chemeClr val="bg1"/>
                </a:solidFill>
              </a:rPr>
              <a:t>confidence</a:t>
            </a:r>
            <a:r>
              <a:rPr lang="en-GB" altLang="en-US" sz="2400" i="1">
                <a:solidFill>
                  <a:schemeClr val="bg1"/>
                </a:solidFill>
              </a:rPr>
              <a:t> c </a:t>
            </a:r>
            <a:r>
              <a:rPr lang="en-GB" altLang="en-US" sz="2400">
                <a:solidFill>
                  <a:schemeClr val="bg1"/>
                </a:solidFill>
              </a:rPr>
              <a:t>is </a:t>
            </a:r>
            <a:r>
              <a:rPr lang="en-GB" altLang="en-US" sz="2400" i="1">
                <a:solidFill>
                  <a:schemeClr val="bg1"/>
                </a:solidFill>
              </a:rPr>
              <a:t>support</a:t>
            </a:r>
            <a:r>
              <a:rPr lang="en-GB" altLang="en-US" sz="2400">
                <a:solidFill>
                  <a:schemeClr val="bg1"/>
                </a:solidFill>
              </a:rPr>
              <a:t>(A + B) / </a:t>
            </a:r>
            <a:r>
              <a:rPr lang="en-GB" altLang="en-US" sz="2400" i="1">
                <a:solidFill>
                  <a:schemeClr val="bg1"/>
                </a:solidFill>
              </a:rPr>
              <a:t>support</a:t>
            </a:r>
            <a:r>
              <a:rPr lang="en-GB" altLang="en-US" sz="2400">
                <a:solidFill>
                  <a:schemeClr val="bg1"/>
                </a:solidFill>
              </a:rPr>
              <a:t>(A)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chemeClr val="bg1"/>
                </a:solidFill>
              </a:rPr>
              <a:t>= support(A + B) / 2 * support(B)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chemeClr val="bg1"/>
                </a:solidFill>
              </a:rPr>
              <a:t>Let </a:t>
            </a:r>
            <a:r>
              <a:rPr lang="en-GB" altLang="en-US" sz="2400" i="1">
                <a:solidFill>
                  <a:schemeClr val="bg1"/>
                </a:solidFill>
              </a:rPr>
              <a:t>d </a:t>
            </a:r>
            <a:r>
              <a:rPr lang="en-GB" altLang="en-US" sz="2400">
                <a:solidFill>
                  <a:schemeClr val="bg1"/>
                </a:solidFill>
              </a:rPr>
              <a:t>be the confidence of  ``If B then A’’.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chemeClr val="bg1"/>
                </a:solidFill>
              </a:rPr>
              <a:t>d </a:t>
            </a:r>
            <a:r>
              <a:rPr lang="en-GB" altLang="en-US" sz="2400">
                <a:solidFill>
                  <a:schemeClr val="bg1"/>
                </a:solidFill>
              </a:rPr>
              <a:t>is support(A+B / support(B)         --  </a:t>
            </a:r>
            <a:r>
              <a:rPr lang="en-GB" altLang="en-US" sz="2400" i="1">
                <a:solidFill>
                  <a:schemeClr val="bg1"/>
                </a:solidFill>
              </a:rPr>
              <a:t>Clearly, </a:t>
            </a:r>
            <a:r>
              <a:rPr lang="en-GB" altLang="en-US" sz="2400">
                <a:solidFill>
                  <a:schemeClr val="bg1"/>
                </a:solidFill>
              </a:rPr>
              <a:t> </a:t>
            </a:r>
            <a:r>
              <a:rPr lang="en-GB" altLang="en-US" sz="2400" i="1">
                <a:solidFill>
                  <a:schemeClr val="bg1"/>
                </a:solidFill>
              </a:rPr>
              <a:t>d </a:t>
            </a:r>
            <a:r>
              <a:rPr lang="en-GB" altLang="en-US" sz="2400">
                <a:solidFill>
                  <a:schemeClr val="bg1"/>
                </a:solidFill>
              </a:rPr>
              <a:t>= 2c</a:t>
            </a:r>
            <a:endParaRPr lang="en-GB" altLang="en-US" sz="2400" i="1">
              <a:solidFill>
                <a:schemeClr val="bg1"/>
              </a:solidFill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041526" y="5146675"/>
            <a:ext cx="614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6600"/>
                </a:solidFill>
              </a:rPr>
              <a:t>E.g. </a:t>
            </a:r>
            <a:r>
              <a:rPr lang="en-GB" altLang="en-US" sz="2400" i="1">
                <a:solidFill>
                  <a:srgbClr val="006600"/>
                </a:solidFill>
              </a:rPr>
              <a:t>A</a:t>
            </a:r>
            <a:r>
              <a:rPr lang="en-GB" altLang="en-US" sz="2400">
                <a:solidFill>
                  <a:srgbClr val="006600"/>
                </a:solidFill>
              </a:rPr>
              <a:t> might be milk and </a:t>
            </a:r>
            <a:r>
              <a:rPr lang="en-GB" altLang="en-US" sz="2400" i="1">
                <a:solidFill>
                  <a:srgbClr val="006600"/>
                </a:solidFill>
              </a:rPr>
              <a:t>B </a:t>
            </a:r>
            <a:r>
              <a:rPr lang="en-GB" altLang="en-US" sz="2400">
                <a:solidFill>
                  <a:srgbClr val="006600"/>
                </a:solidFill>
              </a:rPr>
              <a:t>might be newspapers</a:t>
            </a:r>
          </a:p>
        </p:txBody>
      </p:sp>
      <p:sp>
        <p:nvSpPr>
          <p:cNvPr id="47112" name="TextBox 7"/>
          <p:cNvSpPr txBox="1">
            <a:spLocks noChangeArrowheads="1"/>
          </p:cNvSpPr>
          <p:nvPr/>
        </p:nvSpPr>
        <p:spPr bwMode="auto">
          <a:xfrm>
            <a:off x="2135188" y="6367464"/>
            <a:ext cx="7067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i="1"/>
              <a:t>The answers are in the above box in white font colour</a:t>
            </a:r>
          </a:p>
        </p:txBody>
      </p:sp>
    </p:spTree>
    <p:extLst>
      <p:ext uri="{BB962C8B-B14F-4D97-AF65-F5344CB8AC3E}">
        <p14:creationId xmlns:p14="http://schemas.microsoft.com/office/powerpoint/2010/main" val="197390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autoUpdateAnimBg="0"/>
      <p:bldP spid="302085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87" y="2576062"/>
            <a:ext cx="10515600" cy="1325563"/>
          </a:xfrm>
        </p:spPr>
        <p:txBody>
          <a:bodyPr/>
          <a:lstStyle/>
          <a:p>
            <a:pPr algn="ctr"/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19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4696</Words>
  <Application>Microsoft Office PowerPoint</Application>
  <PresentationFormat>Widescreen</PresentationFormat>
  <Paragraphs>770</Paragraphs>
  <Slides>57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Times New Roman</vt:lpstr>
      <vt:lpstr>Office Theme</vt:lpstr>
      <vt:lpstr>Microsoft Clip Gallery</vt:lpstr>
      <vt:lpstr>PowerPoint Presentation</vt:lpstr>
      <vt:lpstr>`Basket data’</vt:lpstr>
      <vt:lpstr>PowerPoint Presentation</vt:lpstr>
      <vt:lpstr>MARKET BASKET ANALYSIS</vt:lpstr>
      <vt:lpstr>Market Basket Analysis</vt:lpstr>
      <vt:lpstr>Market Basket Analysis</vt:lpstr>
      <vt:lpstr>Market Basket Analysis</vt:lpstr>
      <vt:lpstr>Market Basket Analysis</vt:lpstr>
      <vt:lpstr>Possible Market Baskets</vt:lpstr>
      <vt:lpstr>Co-occurrence Table</vt:lpstr>
      <vt:lpstr>Purchase Profiles</vt:lpstr>
      <vt:lpstr>Purchase Profiles</vt:lpstr>
      <vt:lpstr>Purchase Profiles</vt:lpstr>
      <vt:lpstr>Market Basket Analysis</vt:lpstr>
      <vt:lpstr>Market Basket Analysis</vt:lpstr>
      <vt:lpstr>Market Basket Analysis</vt:lpstr>
      <vt:lpstr>Numbers</vt:lpstr>
      <vt:lpstr>Discovering Rules A common and useful application of data mining</vt:lpstr>
      <vt:lpstr>Example:</vt:lpstr>
      <vt:lpstr>PowerPoint Presentation</vt:lpstr>
      <vt:lpstr>Interesting/Useful rules</vt:lpstr>
      <vt:lpstr>Bread and washing up powder</vt:lpstr>
      <vt:lpstr>Interesting means surprising</vt:lpstr>
      <vt:lpstr>Finding surprising rules</vt:lpstr>
      <vt:lpstr>The Apriori Algorithm</vt:lpstr>
      <vt:lpstr>Find rules in two stages</vt:lpstr>
      <vt:lpstr>PowerPoint Presentation</vt:lpstr>
      <vt:lpstr>Terminology</vt:lpstr>
      <vt:lpstr>Terminology</vt:lpstr>
      <vt:lpstr>PowerPoint Presentation</vt:lpstr>
      <vt:lpstr>The Apriori algorithm for finding large itemsets efficiently in big DBs</vt:lpstr>
      <vt:lpstr>The Apriori algorithm for finding large itemsets efficiently in big DBs</vt:lpstr>
      <vt:lpstr>The Apriori algorithm for finding large itemsets efficiently in big DBs</vt:lpstr>
      <vt:lpstr>The Apriori algorithm for finding large itemsets efficiently in big DBs</vt:lpstr>
      <vt:lpstr>Generating candidate itemsets …</vt:lpstr>
      <vt:lpstr>Generating candidate itemsets …</vt:lpstr>
      <vt:lpstr>Generating candidate itemsets …</vt:lpstr>
      <vt:lpstr>Generating candidate itemsets …</vt:lpstr>
      <vt:lpstr>A neat Apriori trick</vt:lpstr>
      <vt:lpstr>A neat Apriori trick</vt:lpstr>
      <vt:lpstr>A neat Apriori trick</vt:lpstr>
      <vt:lpstr>Explaining the Apriori Algorithm …</vt:lpstr>
      <vt:lpstr>Explaining the Apriori Algorithm …</vt:lpstr>
      <vt:lpstr>Explaining the Apriori Algorithm …</vt:lpstr>
      <vt:lpstr>Explaining the Apriori Algorithm …</vt:lpstr>
      <vt:lpstr>Explaining the Apriori Algorithm …</vt:lpstr>
      <vt:lpstr>From itemsets to rules</vt:lpstr>
      <vt:lpstr>Reference</vt:lpstr>
      <vt:lpstr>Appendix</vt:lpstr>
      <vt:lpstr>A full run through of Apriori</vt:lpstr>
      <vt:lpstr>PowerPoint Presentation</vt:lpstr>
      <vt:lpstr>PowerPoint Presentation</vt:lpstr>
      <vt:lpstr>PowerPoint Presentation</vt:lpstr>
      <vt:lpstr>PowerPoint Presentation</vt:lpstr>
      <vt:lpstr>Test yourself: Understanding rules </vt:lpstr>
      <vt:lpstr>Test yourself: Understanding rules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</dc:creator>
  <cp:lastModifiedBy>swagato</cp:lastModifiedBy>
  <cp:revision>21</cp:revision>
  <dcterms:created xsi:type="dcterms:W3CDTF">2020-01-06T04:57:33Z</dcterms:created>
  <dcterms:modified xsi:type="dcterms:W3CDTF">2020-01-28T06:16:35Z</dcterms:modified>
</cp:coreProperties>
</file>