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6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F:\segmentation\cluster%20data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Sheet1!$B$11</c:f>
              <c:strCache>
                <c:ptCount val="1"/>
                <c:pt idx="0">
                  <c:v>Dist</c:v>
                </c:pt>
              </c:strCache>
            </c:strRef>
          </c:tx>
          <c:marker>
            <c:symbol val="none"/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1.4139999999999999</c:v>
                </c:pt>
                <c:pt idx="1">
                  <c:v>1.4139999999999999</c:v>
                </c:pt>
                <c:pt idx="2">
                  <c:v>2</c:v>
                </c:pt>
                <c:pt idx="3">
                  <c:v>2.2360000000000002</c:v>
                </c:pt>
                <c:pt idx="4">
                  <c:v>2.2360000000000002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605792"/>
        <c:axId val="1196603616"/>
      </c:scatterChart>
      <c:valAx>
        <c:axId val="1196605792"/>
        <c:scaling>
          <c:orientation val="minMax"/>
          <c:min val="2"/>
        </c:scaling>
        <c:delete val="0"/>
        <c:axPos val="b"/>
        <c:numFmt formatCode="General" sourceLinked="1"/>
        <c:majorTickMark val="out"/>
        <c:minorTickMark val="none"/>
        <c:tickLblPos val="nextTo"/>
        <c:crossAx val="1196603616"/>
        <c:crosses val="autoZero"/>
        <c:crossBetween val="midCat"/>
      </c:valAx>
      <c:valAx>
        <c:axId val="1196603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660579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9630BF-7B5F-4E32-B810-0310DA0EFB69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308FE44-A6FD-4161-9EEC-523C1D4BAB51}">
      <dgm:prSet phldrT="[Text]"/>
      <dgm:spPr/>
      <dgm:t>
        <a:bodyPr/>
        <a:lstStyle/>
        <a:p>
          <a:r>
            <a:rPr lang="en-US" dirty="0" smtClean="0"/>
            <a:t>Behavior of Consumer: Factor Analysis</a:t>
          </a:r>
          <a:endParaRPr lang="en-US" dirty="0"/>
        </a:p>
      </dgm:t>
    </dgm:pt>
    <dgm:pt modelId="{6F80F1B6-721D-469A-9ED7-DC9CF2A46BA7}" type="parTrans" cxnId="{1F18D2F7-05B4-418B-9B17-503B5AE58734}">
      <dgm:prSet/>
      <dgm:spPr/>
      <dgm:t>
        <a:bodyPr/>
        <a:lstStyle/>
        <a:p>
          <a:endParaRPr lang="en-US"/>
        </a:p>
      </dgm:t>
    </dgm:pt>
    <dgm:pt modelId="{F2C5C8D7-0495-4ABE-839F-88B0D4FB838F}" type="sibTrans" cxnId="{1F18D2F7-05B4-418B-9B17-503B5AE58734}">
      <dgm:prSet/>
      <dgm:spPr/>
      <dgm:t>
        <a:bodyPr/>
        <a:lstStyle/>
        <a:p>
          <a:endParaRPr lang="en-US"/>
        </a:p>
      </dgm:t>
    </dgm:pt>
    <dgm:pt modelId="{FD5110DA-9594-4E88-A47B-BBA1E112B542}">
      <dgm:prSet phldrT="[Text]"/>
      <dgm:spPr/>
      <dgm:t>
        <a:bodyPr/>
        <a:lstStyle/>
        <a:p>
          <a:r>
            <a:rPr lang="en-US" dirty="0" smtClean="0"/>
            <a:t>Creating customer segments: Cluster Analysis</a:t>
          </a:r>
          <a:endParaRPr lang="en-US" dirty="0"/>
        </a:p>
      </dgm:t>
    </dgm:pt>
    <dgm:pt modelId="{F0EF6FB0-BD28-4A05-8DBA-AB79A9FFC51D}" type="parTrans" cxnId="{00371EC3-FFA2-4018-90E8-1CFAE657D413}">
      <dgm:prSet/>
      <dgm:spPr/>
      <dgm:t>
        <a:bodyPr/>
        <a:lstStyle/>
        <a:p>
          <a:endParaRPr lang="en-US"/>
        </a:p>
      </dgm:t>
    </dgm:pt>
    <dgm:pt modelId="{6FBDA805-6623-48FD-BE55-0F7F5C5E7FA5}" type="sibTrans" cxnId="{00371EC3-FFA2-4018-90E8-1CFAE657D413}">
      <dgm:prSet/>
      <dgm:spPr/>
      <dgm:t>
        <a:bodyPr/>
        <a:lstStyle/>
        <a:p>
          <a:endParaRPr lang="en-US"/>
        </a:p>
      </dgm:t>
    </dgm:pt>
    <dgm:pt modelId="{68113A4F-DDD5-483D-BC2B-68D75DDC508B}">
      <dgm:prSet phldrT="[Text]"/>
      <dgm:spPr/>
      <dgm:t>
        <a:bodyPr/>
        <a:lstStyle/>
        <a:p>
          <a:r>
            <a:rPr lang="en-US" dirty="0" smtClean="0"/>
            <a:t>Defining the segments</a:t>
          </a:r>
          <a:endParaRPr lang="en-US" dirty="0"/>
        </a:p>
      </dgm:t>
    </dgm:pt>
    <dgm:pt modelId="{D4E235DC-3A50-404C-95B1-BCFD43718EDE}" type="parTrans" cxnId="{6E33D687-B822-460A-B304-314F57B72EF1}">
      <dgm:prSet/>
      <dgm:spPr/>
      <dgm:t>
        <a:bodyPr/>
        <a:lstStyle/>
        <a:p>
          <a:endParaRPr lang="en-US"/>
        </a:p>
      </dgm:t>
    </dgm:pt>
    <dgm:pt modelId="{ABB0C321-D12C-4AC2-BB67-6CE24B3759C9}" type="sibTrans" cxnId="{6E33D687-B822-460A-B304-314F57B72EF1}">
      <dgm:prSet/>
      <dgm:spPr/>
      <dgm:t>
        <a:bodyPr/>
        <a:lstStyle/>
        <a:p>
          <a:endParaRPr lang="en-US"/>
        </a:p>
      </dgm:t>
    </dgm:pt>
    <dgm:pt modelId="{C9D96EDD-3926-4F28-91E4-5E3A74FD3438}">
      <dgm:prSet phldrT="[Text]"/>
      <dgm:spPr/>
      <dgm:t>
        <a:bodyPr/>
        <a:lstStyle/>
        <a:p>
          <a:r>
            <a:rPr lang="en-US" dirty="0" smtClean="0"/>
            <a:t>Using demographics to create targeting mechanism: Logistic Regression / LDA</a:t>
          </a:r>
          <a:endParaRPr lang="en-US" dirty="0"/>
        </a:p>
      </dgm:t>
    </dgm:pt>
    <dgm:pt modelId="{682F012E-5B5B-4821-9989-C61452DCABC1}" type="parTrans" cxnId="{53F3C1A5-ACBA-4414-8CAF-B2589CC0FCBF}">
      <dgm:prSet/>
      <dgm:spPr/>
      <dgm:t>
        <a:bodyPr/>
        <a:lstStyle/>
        <a:p>
          <a:endParaRPr lang="en-US"/>
        </a:p>
      </dgm:t>
    </dgm:pt>
    <dgm:pt modelId="{835BF0C3-2C55-4227-B5AC-95C763A1560F}" type="sibTrans" cxnId="{53F3C1A5-ACBA-4414-8CAF-B2589CC0FCBF}">
      <dgm:prSet/>
      <dgm:spPr/>
      <dgm:t>
        <a:bodyPr/>
        <a:lstStyle/>
        <a:p>
          <a:endParaRPr lang="en-US"/>
        </a:p>
      </dgm:t>
    </dgm:pt>
    <dgm:pt modelId="{89F7DA2D-3EB4-4286-AA7F-14C4E0E425A9}">
      <dgm:prSet phldrT="[Text]"/>
      <dgm:spPr/>
      <dgm:t>
        <a:bodyPr/>
        <a:lstStyle/>
        <a:p>
          <a:r>
            <a:rPr lang="en-US" dirty="0" smtClean="0"/>
            <a:t>Targeting</a:t>
          </a:r>
          <a:endParaRPr lang="en-US" dirty="0"/>
        </a:p>
      </dgm:t>
    </dgm:pt>
    <dgm:pt modelId="{DD1C126F-EBF6-48B6-B788-62D0D4D9AD51}" type="parTrans" cxnId="{6BB1C350-53D9-4A8F-8A6F-D6D9F9689F3D}">
      <dgm:prSet/>
      <dgm:spPr/>
      <dgm:t>
        <a:bodyPr/>
        <a:lstStyle/>
        <a:p>
          <a:endParaRPr lang="en-US"/>
        </a:p>
      </dgm:t>
    </dgm:pt>
    <dgm:pt modelId="{ABF082F0-97AC-42F1-8215-F1C17EFDD496}" type="sibTrans" cxnId="{6BB1C350-53D9-4A8F-8A6F-D6D9F9689F3D}">
      <dgm:prSet/>
      <dgm:spPr/>
      <dgm:t>
        <a:bodyPr/>
        <a:lstStyle/>
        <a:p>
          <a:endParaRPr lang="en-US"/>
        </a:p>
      </dgm:t>
    </dgm:pt>
    <dgm:pt modelId="{BF385E80-CCA8-4BE5-875E-11156848731A}" type="pres">
      <dgm:prSet presAssocID="{149630BF-7B5F-4E32-B810-0310DA0EFB69}" presName="diagram" presStyleCnt="0">
        <dgm:presLayoutVars>
          <dgm:dir/>
          <dgm:resizeHandles val="exact"/>
        </dgm:presLayoutVars>
      </dgm:prSet>
      <dgm:spPr/>
    </dgm:pt>
    <dgm:pt modelId="{AE853D5B-812B-4E4F-B2A5-DFFCF8806D04}" type="pres">
      <dgm:prSet presAssocID="{F308FE44-A6FD-4161-9EEC-523C1D4BAB5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CABD13-A929-4519-B6F7-5CAC5AE0F6F8}" type="pres">
      <dgm:prSet presAssocID="{F2C5C8D7-0495-4ABE-839F-88B0D4FB838F}" presName="sibTrans" presStyleLbl="sibTrans2D1" presStyleIdx="0" presStyleCnt="4"/>
      <dgm:spPr/>
    </dgm:pt>
    <dgm:pt modelId="{CE364996-3279-49BC-B413-3B4D9AB764C4}" type="pres">
      <dgm:prSet presAssocID="{F2C5C8D7-0495-4ABE-839F-88B0D4FB838F}" presName="connectorText" presStyleLbl="sibTrans2D1" presStyleIdx="0" presStyleCnt="4"/>
      <dgm:spPr/>
    </dgm:pt>
    <dgm:pt modelId="{C8D7469D-6EB7-48A1-95FD-48D101DD005F}" type="pres">
      <dgm:prSet presAssocID="{FD5110DA-9594-4E88-A47B-BBA1E112B542}" presName="node" presStyleLbl="node1" presStyleIdx="1" presStyleCnt="5">
        <dgm:presLayoutVars>
          <dgm:bulletEnabled val="1"/>
        </dgm:presLayoutVars>
      </dgm:prSet>
      <dgm:spPr/>
    </dgm:pt>
    <dgm:pt modelId="{75BE760B-C0EB-4188-9213-D33D2E9F058C}" type="pres">
      <dgm:prSet presAssocID="{6FBDA805-6623-48FD-BE55-0F7F5C5E7FA5}" presName="sibTrans" presStyleLbl="sibTrans2D1" presStyleIdx="1" presStyleCnt="4"/>
      <dgm:spPr/>
    </dgm:pt>
    <dgm:pt modelId="{0008183C-3379-4E12-98E0-460D3B4B7B04}" type="pres">
      <dgm:prSet presAssocID="{6FBDA805-6623-48FD-BE55-0F7F5C5E7FA5}" presName="connectorText" presStyleLbl="sibTrans2D1" presStyleIdx="1" presStyleCnt="4"/>
      <dgm:spPr/>
    </dgm:pt>
    <dgm:pt modelId="{99FA9D3F-5457-4CCA-BB36-C05A40D07D6A}" type="pres">
      <dgm:prSet presAssocID="{68113A4F-DDD5-483D-BC2B-68D75DDC508B}" presName="node" presStyleLbl="node1" presStyleIdx="2" presStyleCnt="5">
        <dgm:presLayoutVars>
          <dgm:bulletEnabled val="1"/>
        </dgm:presLayoutVars>
      </dgm:prSet>
      <dgm:spPr/>
    </dgm:pt>
    <dgm:pt modelId="{E9CB1FD7-AEBA-455D-BC23-5BDA7AC22305}" type="pres">
      <dgm:prSet presAssocID="{ABB0C321-D12C-4AC2-BB67-6CE24B3759C9}" presName="sibTrans" presStyleLbl="sibTrans2D1" presStyleIdx="2" presStyleCnt="4"/>
      <dgm:spPr/>
    </dgm:pt>
    <dgm:pt modelId="{1E2AEA2C-4B14-44C4-9518-46810DB6363C}" type="pres">
      <dgm:prSet presAssocID="{ABB0C321-D12C-4AC2-BB67-6CE24B3759C9}" presName="connectorText" presStyleLbl="sibTrans2D1" presStyleIdx="2" presStyleCnt="4"/>
      <dgm:spPr/>
    </dgm:pt>
    <dgm:pt modelId="{641E6F11-56F3-4DAA-96B8-A0690A9E4045}" type="pres">
      <dgm:prSet presAssocID="{C9D96EDD-3926-4F28-91E4-5E3A74FD343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0D7F05-2E0B-41BC-8E78-5760044E6612}" type="pres">
      <dgm:prSet presAssocID="{835BF0C3-2C55-4227-B5AC-95C763A1560F}" presName="sibTrans" presStyleLbl="sibTrans2D1" presStyleIdx="3" presStyleCnt="4"/>
      <dgm:spPr/>
    </dgm:pt>
    <dgm:pt modelId="{D7F6A876-F594-4FA4-AE7F-875D85E8BA37}" type="pres">
      <dgm:prSet presAssocID="{835BF0C3-2C55-4227-B5AC-95C763A1560F}" presName="connectorText" presStyleLbl="sibTrans2D1" presStyleIdx="3" presStyleCnt="4"/>
      <dgm:spPr/>
    </dgm:pt>
    <dgm:pt modelId="{299609AF-32D3-46C7-9B61-D23F00334E7E}" type="pres">
      <dgm:prSet presAssocID="{89F7DA2D-3EB4-4286-AA7F-14C4E0E425A9}" presName="node" presStyleLbl="node1" presStyleIdx="4" presStyleCnt="5">
        <dgm:presLayoutVars>
          <dgm:bulletEnabled val="1"/>
        </dgm:presLayoutVars>
      </dgm:prSet>
      <dgm:spPr/>
    </dgm:pt>
  </dgm:ptLst>
  <dgm:cxnLst>
    <dgm:cxn modelId="{53F3C1A5-ACBA-4414-8CAF-B2589CC0FCBF}" srcId="{149630BF-7B5F-4E32-B810-0310DA0EFB69}" destId="{C9D96EDD-3926-4F28-91E4-5E3A74FD3438}" srcOrd="3" destOrd="0" parTransId="{682F012E-5B5B-4821-9989-C61452DCABC1}" sibTransId="{835BF0C3-2C55-4227-B5AC-95C763A1560F}"/>
    <dgm:cxn modelId="{1416FF99-1063-4D64-8886-119200EB8A26}" type="presOf" srcId="{C9D96EDD-3926-4F28-91E4-5E3A74FD3438}" destId="{641E6F11-56F3-4DAA-96B8-A0690A9E4045}" srcOrd="0" destOrd="0" presId="urn:microsoft.com/office/officeart/2005/8/layout/process5"/>
    <dgm:cxn modelId="{CEBE2DA6-EA1E-47F4-B15A-0F0AFEEF0099}" type="presOf" srcId="{6FBDA805-6623-48FD-BE55-0F7F5C5E7FA5}" destId="{75BE760B-C0EB-4188-9213-D33D2E9F058C}" srcOrd="0" destOrd="0" presId="urn:microsoft.com/office/officeart/2005/8/layout/process5"/>
    <dgm:cxn modelId="{89A53579-C3AD-4179-90D6-FC6C24B1C9C4}" type="presOf" srcId="{89F7DA2D-3EB4-4286-AA7F-14C4E0E425A9}" destId="{299609AF-32D3-46C7-9B61-D23F00334E7E}" srcOrd="0" destOrd="0" presId="urn:microsoft.com/office/officeart/2005/8/layout/process5"/>
    <dgm:cxn modelId="{3CE1A3AF-F6B3-4BEC-A810-BCB4982194A2}" type="presOf" srcId="{68113A4F-DDD5-483D-BC2B-68D75DDC508B}" destId="{99FA9D3F-5457-4CCA-BB36-C05A40D07D6A}" srcOrd="0" destOrd="0" presId="urn:microsoft.com/office/officeart/2005/8/layout/process5"/>
    <dgm:cxn modelId="{00371EC3-FFA2-4018-90E8-1CFAE657D413}" srcId="{149630BF-7B5F-4E32-B810-0310DA0EFB69}" destId="{FD5110DA-9594-4E88-A47B-BBA1E112B542}" srcOrd="1" destOrd="0" parTransId="{F0EF6FB0-BD28-4A05-8DBA-AB79A9FFC51D}" sibTransId="{6FBDA805-6623-48FD-BE55-0F7F5C5E7FA5}"/>
    <dgm:cxn modelId="{3E2BBE9D-295F-44B9-8180-31298F5585CF}" type="presOf" srcId="{FD5110DA-9594-4E88-A47B-BBA1E112B542}" destId="{C8D7469D-6EB7-48A1-95FD-48D101DD005F}" srcOrd="0" destOrd="0" presId="urn:microsoft.com/office/officeart/2005/8/layout/process5"/>
    <dgm:cxn modelId="{6BB1C350-53D9-4A8F-8A6F-D6D9F9689F3D}" srcId="{149630BF-7B5F-4E32-B810-0310DA0EFB69}" destId="{89F7DA2D-3EB4-4286-AA7F-14C4E0E425A9}" srcOrd="4" destOrd="0" parTransId="{DD1C126F-EBF6-48B6-B788-62D0D4D9AD51}" sibTransId="{ABF082F0-97AC-42F1-8215-F1C17EFDD496}"/>
    <dgm:cxn modelId="{239E23A4-E01B-4233-9C25-76C3795E03BB}" type="presOf" srcId="{149630BF-7B5F-4E32-B810-0310DA0EFB69}" destId="{BF385E80-CCA8-4BE5-875E-11156848731A}" srcOrd="0" destOrd="0" presId="urn:microsoft.com/office/officeart/2005/8/layout/process5"/>
    <dgm:cxn modelId="{1C7103B7-E739-49FD-A1F6-530CF18F0E05}" type="presOf" srcId="{F308FE44-A6FD-4161-9EEC-523C1D4BAB51}" destId="{AE853D5B-812B-4E4F-B2A5-DFFCF8806D04}" srcOrd="0" destOrd="0" presId="urn:microsoft.com/office/officeart/2005/8/layout/process5"/>
    <dgm:cxn modelId="{1F18D2F7-05B4-418B-9B17-503B5AE58734}" srcId="{149630BF-7B5F-4E32-B810-0310DA0EFB69}" destId="{F308FE44-A6FD-4161-9EEC-523C1D4BAB51}" srcOrd="0" destOrd="0" parTransId="{6F80F1B6-721D-469A-9ED7-DC9CF2A46BA7}" sibTransId="{F2C5C8D7-0495-4ABE-839F-88B0D4FB838F}"/>
    <dgm:cxn modelId="{6E33D687-B822-460A-B304-314F57B72EF1}" srcId="{149630BF-7B5F-4E32-B810-0310DA0EFB69}" destId="{68113A4F-DDD5-483D-BC2B-68D75DDC508B}" srcOrd="2" destOrd="0" parTransId="{D4E235DC-3A50-404C-95B1-BCFD43718EDE}" sibTransId="{ABB0C321-D12C-4AC2-BB67-6CE24B3759C9}"/>
    <dgm:cxn modelId="{15FE368F-9F8E-4031-865E-3F4D453E32A6}" type="presOf" srcId="{ABB0C321-D12C-4AC2-BB67-6CE24B3759C9}" destId="{E9CB1FD7-AEBA-455D-BC23-5BDA7AC22305}" srcOrd="0" destOrd="0" presId="urn:microsoft.com/office/officeart/2005/8/layout/process5"/>
    <dgm:cxn modelId="{73A2AD56-AB40-4220-8BD2-D5957A4308C7}" type="presOf" srcId="{835BF0C3-2C55-4227-B5AC-95C763A1560F}" destId="{FE0D7F05-2E0B-41BC-8E78-5760044E6612}" srcOrd="0" destOrd="0" presId="urn:microsoft.com/office/officeart/2005/8/layout/process5"/>
    <dgm:cxn modelId="{01626DFA-A616-46E8-AD8C-9EA40D52E22E}" type="presOf" srcId="{F2C5C8D7-0495-4ABE-839F-88B0D4FB838F}" destId="{2CCABD13-A929-4519-B6F7-5CAC5AE0F6F8}" srcOrd="0" destOrd="0" presId="urn:microsoft.com/office/officeart/2005/8/layout/process5"/>
    <dgm:cxn modelId="{B74A6848-092F-45FD-BD3E-37A5D2306653}" type="presOf" srcId="{6FBDA805-6623-48FD-BE55-0F7F5C5E7FA5}" destId="{0008183C-3379-4E12-98E0-460D3B4B7B04}" srcOrd="1" destOrd="0" presId="urn:microsoft.com/office/officeart/2005/8/layout/process5"/>
    <dgm:cxn modelId="{7714EB27-3F31-48F2-8E46-6A86D91FF21E}" type="presOf" srcId="{F2C5C8D7-0495-4ABE-839F-88B0D4FB838F}" destId="{CE364996-3279-49BC-B413-3B4D9AB764C4}" srcOrd="1" destOrd="0" presId="urn:microsoft.com/office/officeart/2005/8/layout/process5"/>
    <dgm:cxn modelId="{15647DE2-AE9F-4455-A31B-B36062F65C5F}" type="presOf" srcId="{ABB0C321-D12C-4AC2-BB67-6CE24B3759C9}" destId="{1E2AEA2C-4B14-44C4-9518-46810DB6363C}" srcOrd="1" destOrd="0" presId="urn:microsoft.com/office/officeart/2005/8/layout/process5"/>
    <dgm:cxn modelId="{B9520046-15A3-48B6-8B23-9B7B5B95419A}" type="presOf" srcId="{835BF0C3-2C55-4227-B5AC-95C763A1560F}" destId="{D7F6A876-F594-4FA4-AE7F-875D85E8BA37}" srcOrd="1" destOrd="0" presId="urn:microsoft.com/office/officeart/2005/8/layout/process5"/>
    <dgm:cxn modelId="{6F0DD21D-8AA3-48E2-AB45-B804021E2372}" type="presParOf" srcId="{BF385E80-CCA8-4BE5-875E-11156848731A}" destId="{AE853D5B-812B-4E4F-B2A5-DFFCF8806D04}" srcOrd="0" destOrd="0" presId="urn:microsoft.com/office/officeart/2005/8/layout/process5"/>
    <dgm:cxn modelId="{D02D562F-E494-4B18-8703-39B836E75017}" type="presParOf" srcId="{BF385E80-CCA8-4BE5-875E-11156848731A}" destId="{2CCABD13-A929-4519-B6F7-5CAC5AE0F6F8}" srcOrd="1" destOrd="0" presId="urn:microsoft.com/office/officeart/2005/8/layout/process5"/>
    <dgm:cxn modelId="{77C45F19-300F-4B37-B284-F3AD2DE982E9}" type="presParOf" srcId="{2CCABD13-A929-4519-B6F7-5CAC5AE0F6F8}" destId="{CE364996-3279-49BC-B413-3B4D9AB764C4}" srcOrd="0" destOrd="0" presId="urn:microsoft.com/office/officeart/2005/8/layout/process5"/>
    <dgm:cxn modelId="{C57172F4-8AAC-4ACB-A669-03B4BA2D07C9}" type="presParOf" srcId="{BF385E80-CCA8-4BE5-875E-11156848731A}" destId="{C8D7469D-6EB7-48A1-95FD-48D101DD005F}" srcOrd="2" destOrd="0" presId="urn:microsoft.com/office/officeart/2005/8/layout/process5"/>
    <dgm:cxn modelId="{22C19E48-0506-4501-944E-15AC6A2254DF}" type="presParOf" srcId="{BF385E80-CCA8-4BE5-875E-11156848731A}" destId="{75BE760B-C0EB-4188-9213-D33D2E9F058C}" srcOrd="3" destOrd="0" presId="urn:microsoft.com/office/officeart/2005/8/layout/process5"/>
    <dgm:cxn modelId="{0CA06198-CC9B-40E5-AF10-6B9EF2580EC1}" type="presParOf" srcId="{75BE760B-C0EB-4188-9213-D33D2E9F058C}" destId="{0008183C-3379-4E12-98E0-460D3B4B7B04}" srcOrd="0" destOrd="0" presId="urn:microsoft.com/office/officeart/2005/8/layout/process5"/>
    <dgm:cxn modelId="{9751BD1E-2B0F-4711-9534-FD0D14F1D4CA}" type="presParOf" srcId="{BF385E80-CCA8-4BE5-875E-11156848731A}" destId="{99FA9D3F-5457-4CCA-BB36-C05A40D07D6A}" srcOrd="4" destOrd="0" presId="urn:microsoft.com/office/officeart/2005/8/layout/process5"/>
    <dgm:cxn modelId="{03D4354F-1929-4E83-89CD-52DBBCBAE9E0}" type="presParOf" srcId="{BF385E80-CCA8-4BE5-875E-11156848731A}" destId="{E9CB1FD7-AEBA-455D-BC23-5BDA7AC22305}" srcOrd="5" destOrd="0" presId="urn:microsoft.com/office/officeart/2005/8/layout/process5"/>
    <dgm:cxn modelId="{FB7C9BB0-F755-45C9-B4AF-8BC997BDDB2B}" type="presParOf" srcId="{E9CB1FD7-AEBA-455D-BC23-5BDA7AC22305}" destId="{1E2AEA2C-4B14-44C4-9518-46810DB6363C}" srcOrd="0" destOrd="0" presId="urn:microsoft.com/office/officeart/2005/8/layout/process5"/>
    <dgm:cxn modelId="{4AFDC7D5-2BF6-45B8-B7FA-F45AF3A76C89}" type="presParOf" srcId="{BF385E80-CCA8-4BE5-875E-11156848731A}" destId="{641E6F11-56F3-4DAA-96B8-A0690A9E4045}" srcOrd="6" destOrd="0" presId="urn:microsoft.com/office/officeart/2005/8/layout/process5"/>
    <dgm:cxn modelId="{1BBB87D0-F44B-445A-AE6D-745AC55E3144}" type="presParOf" srcId="{BF385E80-CCA8-4BE5-875E-11156848731A}" destId="{FE0D7F05-2E0B-41BC-8E78-5760044E6612}" srcOrd="7" destOrd="0" presId="urn:microsoft.com/office/officeart/2005/8/layout/process5"/>
    <dgm:cxn modelId="{1328A062-9833-45E5-A266-99A7B24B9E44}" type="presParOf" srcId="{FE0D7F05-2E0B-41BC-8E78-5760044E6612}" destId="{D7F6A876-F594-4FA4-AE7F-875D85E8BA37}" srcOrd="0" destOrd="0" presId="urn:microsoft.com/office/officeart/2005/8/layout/process5"/>
    <dgm:cxn modelId="{833EF053-C47A-40E3-869B-707B184C4958}" type="presParOf" srcId="{BF385E80-CCA8-4BE5-875E-11156848731A}" destId="{299609AF-32D3-46C7-9B61-D23F00334E7E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853D5B-812B-4E4F-B2A5-DFFCF8806D04}">
      <dsp:nvSpPr>
        <dsp:cNvPr id="0" name=""/>
        <dsp:cNvSpPr/>
      </dsp:nvSpPr>
      <dsp:spPr>
        <a:xfrm>
          <a:off x="57276" y="1595"/>
          <a:ext cx="2701639" cy="16209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Behavior of Consumer: Factor Analysis</a:t>
          </a:r>
          <a:endParaRPr lang="en-US" sz="2300" kern="1200" dirty="0"/>
        </a:p>
      </dsp:txBody>
      <dsp:txXfrm>
        <a:off x="104753" y="49072"/>
        <a:ext cx="2606685" cy="1526029"/>
      </dsp:txXfrm>
    </dsp:sp>
    <dsp:sp modelId="{2CCABD13-A929-4519-B6F7-5CAC5AE0F6F8}">
      <dsp:nvSpPr>
        <dsp:cNvPr id="0" name=""/>
        <dsp:cNvSpPr/>
      </dsp:nvSpPr>
      <dsp:spPr>
        <a:xfrm>
          <a:off x="2996660" y="477084"/>
          <a:ext cx="572747" cy="670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2996660" y="611085"/>
        <a:ext cx="400923" cy="402004"/>
      </dsp:txXfrm>
    </dsp:sp>
    <dsp:sp modelId="{C8D7469D-6EB7-48A1-95FD-48D101DD005F}">
      <dsp:nvSpPr>
        <dsp:cNvPr id="0" name=""/>
        <dsp:cNvSpPr/>
      </dsp:nvSpPr>
      <dsp:spPr>
        <a:xfrm>
          <a:off x="3839572" y="1595"/>
          <a:ext cx="2701639" cy="16209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Creating customer segments: Cluster Analysis</a:t>
          </a:r>
          <a:endParaRPr lang="en-US" sz="2300" kern="1200" dirty="0"/>
        </a:p>
      </dsp:txBody>
      <dsp:txXfrm>
        <a:off x="3887049" y="49072"/>
        <a:ext cx="2606685" cy="1526029"/>
      </dsp:txXfrm>
    </dsp:sp>
    <dsp:sp modelId="{75BE760B-C0EB-4188-9213-D33D2E9F058C}">
      <dsp:nvSpPr>
        <dsp:cNvPr id="0" name=""/>
        <dsp:cNvSpPr/>
      </dsp:nvSpPr>
      <dsp:spPr>
        <a:xfrm>
          <a:off x="6778956" y="477084"/>
          <a:ext cx="572747" cy="670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6778956" y="611085"/>
        <a:ext cx="400923" cy="402004"/>
      </dsp:txXfrm>
    </dsp:sp>
    <dsp:sp modelId="{99FA9D3F-5457-4CCA-BB36-C05A40D07D6A}">
      <dsp:nvSpPr>
        <dsp:cNvPr id="0" name=""/>
        <dsp:cNvSpPr/>
      </dsp:nvSpPr>
      <dsp:spPr>
        <a:xfrm>
          <a:off x="7621868" y="1595"/>
          <a:ext cx="2701639" cy="16209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Defining the segments</a:t>
          </a:r>
          <a:endParaRPr lang="en-US" sz="2300" kern="1200" dirty="0"/>
        </a:p>
      </dsp:txBody>
      <dsp:txXfrm>
        <a:off x="7669345" y="49072"/>
        <a:ext cx="2606685" cy="1526029"/>
      </dsp:txXfrm>
    </dsp:sp>
    <dsp:sp modelId="{E9CB1FD7-AEBA-455D-BC23-5BDA7AC22305}">
      <dsp:nvSpPr>
        <dsp:cNvPr id="0" name=""/>
        <dsp:cNvSpPr/>
      </dsp:nvSpPr>
      <dsp:spPr>
        <a:xfrm rot="5400000">
          <a:off x="8686314" y="1811694"/>
          <a:ext cx="572747" cy="670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-5400000">
        <a:off x="8771686" y="1860323"/>
        <a:ext cx="402004" cy="400923"/>
      </dsp:txXfrm>
    </dsp:sp>
    <dsp:sp modelId="{641E6F11-56F3-4DAA-96B8-A0690A9E4045}">
      <dsp:nvSpPr>
        <dsp:cNvPr id="0" name=""/>
        <dsp:cNvSpPr/>
      </dsp:nvSpPr>
      <dsp:spPr>
        <a:xfrm>
          <a:off x="7621868" y="2703235"/>
          <a:ext cx="2701639" cy="162098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Using demographics to create targeting mechanism: Logistic Regression / LDA</a:t>
          </a:r>
          <a:endParaRPr lang="en-US" sz="2300" kern="1200" dirty="0"/>
        </a:p>
      </dsp:txBody>
      <dsp:txXfrm>
        <a:off x="7669345" y="2750712"/>
        <a:ext cx="2606685" cy="1526029"/>
      </dsp:txXfrm>
    </dsp:sp>
    <dsp:sp modelId="{FE0D7F05-2E0B-41BC-8E78-5760044E6612}">
      <dsp:nvSpPr>
        <dsp:cNvPr id="0" name=""/>
        <dsp:cNvSpPr/>
      </dsp:nvSpPr>
      <dsp:spPr>
        <a:xfrm rot="10800000">
          <a:off x="6811376" y="3178724"/>
          <a:ext cx="572747" cy="670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10800000">
        <a:off x="6983200" y="3312725"/>
        <a:ext cx="400923" cy="402004"/>
      </dsp:txXfrm>
    </dsp:sp>
    <dsp:sp modelId="{299609AF-32D3-46C7-9B61-D23F00334E7E}">
      <dsp:nvSpPr>
        <dsp:cNvPr id="0" name=""/>
        <dsp:cNvSpPr/>
      </dsp:nvSpPr>
      <dsp:spPr>
        <a:xfrm>
          <a:off x="3839572" y="2703235"/>
          <a:ext cx="2701639" cy="162098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Targeting</a:t>
          </a:r>
          <a:endParaRPr lang="en-US" sz="2300" kern="1200" dirty="0"/>
        </a:p>
      </dsp:txBody>
      <dsp:txXfrm>
        <a:off x="3887049" y="2750712"/>
        <a:ext cx="2606685" cy="1526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60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14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0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85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27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4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1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7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3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20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13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7EE80-8AF6-473F-990E-4A9F9AAFABFF}" type="datetimeFigureOut">
              <a:rPr lang="en-IN" smtClean="0"/>
              <a:t>14-11-2019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90D1-5F7F-4234-BF9E-C5032020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21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0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Segmentation and Targeting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076575126"/>
              </p:ext>
            </p:extLst>
          </p:nvPr>
        </p:nvGraphicFramePr>
        <p:xfrm>
          <a:off x="838199" y="1840522"/>
          <a:ext cx="10380785" cy="4325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912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methods of customer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</a:p>
          <a:p>
            <a:r>
              <a:rPr lang="en-US" dirty="0" smtClean="0"/>
              <a:t>Ward’s Method</a:t>
            </a:r>
          </a:p>
          <a:p>
            <a:r>
              <a:rPr lang="en-US" dirty="0" smtClean="0"/>
              <a:t>K-mean</a:t>
            </a:r>
          </a:p>
          <a:p>
            <a:r>
              <a:rPr lang="en-US" dirty="0" smtClean="0"/>
              <a:t>Model based</a:t>
            </a:r>
          </a:p>
        </p:txBody>
      </p:sp>
    </p:spTree>
    <p:extLst>
      <p:ext uri="{BB962C8B-B14F-4D97-AF65-F5344CB8AC3E}">
        <p14:creationId xmlns:p14="http://schemas.microsoft.com/office/powerpoint/2010/main" val="87239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90550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356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721169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Single linkage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Complete linkage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Average linkage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Centroid linkage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83368"/>
            <a:ext cx="655320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55156"/>
              </p:ext>
            </p:extLst>
          </p:nvPr>
        </p:nvGraphicFramePr>
        <p:xfrm>
          <a:off x="3886200" y="1690688"/>
          <a:ext cx="25908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914"/>
                <a:gridCol w="887837"/>
                <a:gridCol w="861049"/>
              </a:tblGrid>
              <a:tr h="571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Customers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Brand awareness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Price sensitivity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47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23" y="222740"/>
            <a:ext cx="48196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23" y="2032489"/>
            <a:ext cx="478155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13" y="3651739"/>
            <a:ext cx="460057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7" y="5023340"/>
            <a:ext cx="473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6" y="5947265"/>
            <a:ext cx="4610100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67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/>
          </p:nvPr>
        </p:nvGraphicFramePr>
        <p:xfrm>
          <a:off x="4800600" y="1219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438400" y="1447800"/>
          <a:ext cx="17526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5854"/>
                <a:gridCol w="816746"/>
              </a:tblGrid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2.236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2.236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38400" y="48006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do the exercise using complete linkage algorithm.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Ward’s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5108" y="1690688"/>
            <a:ext cx="7467600" cy="2362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Agglomerative clustering</a:t>
            </a:r>
          </a:p>
          <a:p>
            <a:r>
              <a:rPr lang="en-US" dirty="0" smtClean="0"/>
              <a:t>Does not consider distance matrix</a:t>
            </a:r>
          </a:p>
          <a:p>
            <a:r>
              <a:rPr lang="en-US" dirty="0" smtClean="0"/>
              <a:t>Most applicable for quantitative variables</a:t>
            </a:r>
          </a:p>
          <a:p>
            <a:r>
              <a:rPr lang="en-US" dirty="0" smtClean="0"/>
              <a:t>Gives almost equal sized clusters if there is no outliers</a:t>
            </a:r>
            <a:endParaRPr lang="en-US" dirty="0"/>
          </a:p>
        </p:txBody>
      </p:sp>
      <p:pic>
        <p:nvPicPr>
          <p:cNvPr id="4" name="Picture 3" descr="http://sites.stat.psu.edu/%7Eajw13/stat505/fa06/19_cluster/graphics/formula_15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569" y="4079631"/>
            <a:ext cx="3048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sites.stat.psu.edu/%7Eajw13/stat505/fa06/19_cluster/graphics/formula_16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7169" y="4172500"/>
            <a:ext cx="312420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http://sites.stat.psu.edu/%7Eajw13/stat505/fa06/19_cluster/graphics/formula_17.gif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59369" y="5222631"/>
            <a:ext cx="180158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695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With in cluster variation is minimized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85" y="2379786"/>
            <a:ext cx="539115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781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32" y="48223"/>
            <a:ext cx="4227868" cy="3280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369" y="0"/>
            <a:ext cx="4419600" cy="3304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3433166"/>
            <a:ext cx="4514228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05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16" y="2576062"/>
            <a:ext cx="10515600" cy="1325563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FF0000"/>
                </a:solidFill>
              </a:rPr>
              <a:t>Thank You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2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137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Steps of Segmentation and Targeting</vt:lpstr>
      <vt:lpstr>Different methods of customer segmentation</vt:lpstr>
      <vt:lpstr>Hierarchical clustering</vt:lpstr>
      <vt:lpstr>Hierarchical clustering</vt:lpstr>
      <vt:lpstr>PowerPoint Presentation</vt:lpstr>
      <vt:lpstr>PowerPoint Presentation</vt:lpstr>
      <vt:lpstr>Ward’s method</vt:lpstr>
      <vt:lpstr>K-Mean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</dc:creator>
  <cp:lastModifiedBy>swagato</cp:lastModifiedBy>
  <cp:revision>6</cp:revision>
  <dcterms:created xsi:type="dcterms:W3CDTF">2019-10-31T16:22:15Z</dcterms:created>
  <dcterms:modified xsi:type="dcterms:W3CDTF">2019-11-14T06:17:52Z</dcterms:modified>
</cp:coreProperties>
</file>