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64" r:id="rId4"/>
    <p:sldId id="259" r:id="rId5"/>
    <p:sldId id="260" r:id="rId6"/>
    <p:sldId id="265" r:id="rId7"/>
    <p:sldId id="267" r:id="rId8"/>
    <p:sldId id="268" r:id="rId9"/>
    <p:sldId id="262" r:id="rId10"/>
    <p:sldId id="258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566E29-EC67-40CE-A84E-0E1DC0D70FCF}" type="doc">
      <dgm:prSet loTypeId="urn:microsoft.com/office/officeart/2005/8/layout/orgChart1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D3EE2EF9-E0C5-4F48-BD44-5DB1001DD5C4}">
      <dgm:prSet phldrT="[Text]"/>
      <dgm:spPr/>
      <dgm:t>
        <a:bodyPr/>
        <a:lstStyle/>
        <a:p>
          <a:r>
            <a:rPr lang="en-US" dirty="0" smtClean="0"/>
            <a:t>Hotels and Resorts</a:t>
          </a:r>
          <a:endParaRPr lang="en-US" dirty="0"/>
        </a:p>
      </dgm:t>
    </dgm:pt>
    <dgm:pt modelId="{701AA4DE-6922-4CD6-AB91-18ED2619207D}" type="parTrans" cxnId="{A513FE17-4888-47E6-9DAF-A0B214C9BC0E}">
      <dgm:prSet/>
      <dgm:spPr/>
      <dgm:t>
        <a:bodyPr/>
        <a:lstStyle/>
        <a:p>
          <a:endParaRPr lang="en-US"/>
        </a:p>
      </dgm:t>
    </dgm:pt>
    <dgm:pt modelId="{4EEC3BEC-7FDC-412B-AC7D-571BC1D8C124}" type="sibTrans" cxnId="{A513FE17-4888-47E6-9DAF-A0B214C9BC0E}">
      <dgm:prSet/>
      <dgm:spPr/>
      <dgm:t>
        <a:bodyPr/>
        <a:lstStyle/>
        <a:p>
          <a:endParaRPr lang="en-US"/>
        </a:p>
      </dgm:t>
    </dgm:pt>
    <dgm:pt modelId="{362F3811-8694-4048-B5DD-4F5D297EE3AB}">
      <dgm:prSet phldrT="[Text]"/>
      <dgm:spPr/>
      <dgm:t>
        <a:bodyPr/>
        <a:lstStyle/>
        <a:p>
          <a:r>
            <a:rPr lang="en-US" dirty="0" smtClean="0"/>
            <a:t>Corporate Chains</a:t>
          </a:r>
          <a:endParaRPr lang="en-US" dirty="0"/>
        </a:p>
      </dgm:t>
    </dgm:pt>
    <dgm:pt modelId="{136BEF7C-F7CF-45A4-AC0B-52716CF43453}" type="parTrans" cxnId="{006DDF6F-A1BF-4185-9EFC-E894CEA89C59}">
      <dgm:prSet/>
      <dgm:spPr/>
      <dgm:t>
        <a:bodyPr/>
        <a:lstStyle/>
        <a:p>
          <a:endParaRPr lang="en-US"/>
        </a:p>
      </dgm:t>
    </dgm:pt>
    <dgm:pt modelId="{99029956-9F4B-4EB6-9E94-58D85E2A7DEC}" type="sibTrans" cxnId="{006DDF6F-A1BF-4185-9EFC-E894CEA89C59}">
      <dgm:prSet/>
      <dgm:spPr/>
      <dgm:t>
        <a:bodyPr/>
        <a:lstStyle/>
        <a:p>
          <a:endParaRPr lang="en-US"/>
        </a:p>
      </dgm:t>
    </dgm:pt>
    <dgm:pt modelId="{F01313CF-90C1-4195-9749-8F62B7B0775F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smtClean="0"/>
            <a:t>Individually branded hotels</a:t>
          </a:r>
          <a:endParaRPr lang="en-US" dirty="0"/>
        </a:p>
      </dgm:t>
    </dgm:pt>
    <dgm:pt modelId="{57D6ECBB-E308-4CA5-8E84-8239F69FFFB7}" type="parTrans" cxnId="{E854AA3D-A03D-468B-849D-4C085A9336BD}">
      <dgm:prSet/>
      <dgm:spPr/>
      <dgm:t>
        <a:bodyPr/>
        <a:lstStyle/>
        <a:p>
          <a:endParaRPr lang="en-US"/>
        </a:p>
      </dgm:t>
    </dgm:pt>
    <dgm:pt modelId="{F0529868-BA11-439F-B2F7-8619024DBC1C}" type="sibTrans" cxnId="{E854AA3D-A03D-468B-849D-4C085A9336BD}">
      <dgm:prSet/>
      <dgm:spPr/>
      <dgm:t>
        <a:bodyPr/>
        <a:lstStyle/>
        <a:p>
          <a:endParaRPr lang="en-US"/>
        </a:p>
      </dgm:t>
    </dgm:pt>
    <dgm:pt modelId="{7B73B818-9519-4128-9F10-D27C92831115}" type="pres">
      <dgm:prSet presAssocID="{A7566E29-EC67-40CE-A84E-0E1DC0D70FC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31DAE24B-1277-4123-B857-1EB0101A883A}" type="pres">
      <dgm:prSet presAssocID="{D3EE2EF9-E0C5-4F48-BD44-5DB1001DD5C4}" presName="hierRoot1" presStyleCnt="0">
        <dgm:presLayoutVars>
          <dgm:hierBranch val="init"/>
        </dgm:presLayoutVars>
      </dgm:prSet>
      <dgm:spPr/>
    </dgm:pt>
    <dgm:pt modelId="{A2A06284-BE43-4F94-96EC-2C56180119D0}" type="pres">
      <dgm:prSet presAssocID="{D3EE2EF9-E0C5-4F48-BD44-5DB1001DD5C4}" presName="rootComposite1" presStyleCnt="0"/>
      <dgm:spPr/>
    </dgm:pt>
    <dgm:pt modelId="{DBA47902-1A2E-4748-B1FB-851EA452D428}" type="pres">
      <dgm:prSet presAssocID="{D3EE2EF9-E0C5-4F48-BD44-5DB1001DD5C4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468587-F3F9-4563-B2E0-B3694F5C92B8}" type="pres">
      <dgm:prSet presAssocID="{D3EE2EF9-E0C5-4F48-BD44-5DB1001DD5C4}" presName="rootConnector1" presStyleLbl="node1" presStyleIdx="0" presStyleCnt="0"/>
      <dgm:spPr/>
      <dgm:t>
        <a:bodyPr/>
        <a:lstStyle/>
        <a:p>
          <a:endParaRPr lang="en-IN"/>
        </a:p>
      </dgm:t>
    </dgm:pt>
    <dgm:pt modelId="{2BBFDF6E-7170-4037-9A02-AED51F5EF6D3}" type="pres">
      <dgm:prSet presAssocID="{D3EE2EF9-E0C5-4F48-BD44-5DB1001DD5C4}" presName="hierChild2" presStyleCnt="0"/>
      <dgm:spPr/>
    </dgm:pt>
    <dgm:pt modelId="{598FC892-7C4B-4319-9371-B696708D458F}" type="pres">
      <dgm:prSet presAssocID="{136BEF7C-F7CF-45A4-AC0B-52716CF43453}" presName="Name37" presStyleLbl="parChTrans1D2" presStyleIdx="0" presStyleCnt="2"/>
      <dgm:spPr/>
      <dgm:t>
        <a:bodyPr/>
        <a:lstStyle/>
        <a:p>
          <a:endParaRPr lang="en-IN"/>
        </a:p>
      </dgm:t>
    </dgm:pt>
    <dgm:pt modelId="{DE170BA3-AD36-4644-BE9C-3F1E62FCB1A1}" type="pres">
      <dgm:prSet presAssocID="{362F3811-8694-4048-B5DD-4F5D297EE3AB}" presName="hierRoot2" presStyleCnt="0">
        <dgm:presLayoutVars>
          <dgm:hierBranch val="init"/>
        </dgm:presLayoutVars>
      </dgm:prSet>
      <dgm:spPr/>
    </dgm:pt>
    <dgm:pt modelId="{254987B0-AAE6-47B9-A886-DE5DE74FA4D1}" type="pres">
      <dgm:prSet presAssocID="{362F3811-8694-4048-B5DD-4F5D297EE3AB}" presName="rootComposite" presStyleCnt="0"/>
      <dgm:spPr/>
    </dgm:pt>
    <dgm:pt modelId="{9C7868C1-ABBB-49ED-96FC-0BD8824E1B50}" type="pres">
      <dgm:prSet presAssocID="{362F3811-8694-4048-B5DD-4F5D297EE3AB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430129E-068F-4FBB-87AA-BFA185435553}" type="pres">
      <dgm:prSet presAssocID="{362F3811-8694-4048-B5DD-4F5D297EE3AB}" presName="rootConnector" presStyleLbl="node2" presStyleIdx="0" presStyleCnt="2"/>
      <dgm:spPr/>
      <dgm:t>
        <a:bodyPr/>
        <a:lstStyle/>
        <a:p>
          <a:endParaRPr lang="en-IN"/>
        </a:p>
      </dgm:t>
    </dgm:pt>
    <dgm:pt modelId="{00D7379A-6B66-439C-8900-1366DE1B9014}" type="pres">
      <dgm:prSet presAssocID="{362F3811-8694-4048-B5DD-4F5D297EE3AB}" presName="hierChild4" presStyleCnt="0"/>
      <dgm:spPr/>
    </dgm:pt>
    <dgm:pt modelId="{9C467B1D-3779-4915-B12C-183AC6F85EB3}" type="pres">
      <dgm:prSet presAssocID="{362F3811-8694-4048-B5DD-4F5D297EE3AB}" presName="hierChild5" presStyleCnt="0"/>
      <dgm:spPr/>
    </dgm:pt>
    <dgm:pt modelId="{4AD00D2F-5455-453A-BD53-AA824A37851D}" type="pres">
      <dgm:prSet presAssocID="{57D6ECBB-E308-4CA5-8E84-8239F69FFFB7}" presName="Name37" presStyleLbl="parChTrans1D2" presStyleIdx="1" presStyleCnt="2"/>
      <dgm:spPr/>
      <dgm:t>
        <a:bodyPr/>
        <a:lstStyle/>
        <a:p>
          <a:endParaRPr lang="en-IN"/>
        </a:p>
      </dgm:t>
    </dgm:pt>
    <dgm:pt modelId="{965ACA0A-3628-425C-994A-907EE0C9811A}" type="pres">
      <dgm:prSet presAssocID="{F01313CF-90C1-4195-9749-8F62B7B0775F}" presName="hierRoot2" presStyleCnt="0">
        <dgm:presLayoutVars>
          <dgm:hierBranch val="init"/>
        </dgm:presLayoutVars>
      </dgm:prSet>
      <dgm:spPr/>
    </dgm:pt>
    <dgm:pt modelId="{0FD94C6B-F227-427D-B573-C406218DCC68}" type="pres">
      <dgm:prSet presAssocID="{F01313CF-90C1-4195-9749-8F62B7B0775F}" presName="rootComposite" presStyleCnt="0"/>
      <dgm:spPr/>
    </dgm:pt>
    <dgm:pt modelId="{390D6AFC-0F32-475F-AFD2-D9531BC0C8F2}" type="pres">
      <dgm:prSet presAssocID="{F01313CF-90C1-4195-9749-8F62B7B0775F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A6D2C22-2BF4-49CB-B0C5-D26AA062E26B}" type="pres">
      <dgm:prSet presAssocID="{F01313CF-90C1-4195-9749-8F62B7B0775F}" presName="rootConnector" presStyleLbl="node2" presStyleIdx="1" presStyleCnt="2"/>
      <dgm:spPr/>
      <dgm:t>
        <a:bodyPr/>
        <a:lstStyle/>
        <a:p>
          <a:endParaRPr lang="en-IN"/>
        </a:p>
      </dgm:t>
    </dgm:pt>
    <dgm:pt modelId="{08586095-2771-4FF2-AAE9-C52A1ABC6D82}" type="pres">
      <dgm:prSet presAssocID="{F01313CF-90C1-4195-9749-8F62B7B0775F}" presName="hierChild4" presStyleCnt="0"/>
      <dgm:spPr/>
    </dgm:pt>
    <dgm:pt modelId="{32A6C74A-FEE4-4E6D-8C9F-0286444E8934}" type="pres">
      <dgm:prSet presAssocID="{F01313CF-90C1-4195-9749-8F62B7B0775F}" presName="hierChild5" presStyleCnt="0"/>
      <dgm:spPr/>
    </dgm:pt>
    <dgm:pt modelId="{FB13CE2B-1AFF-4E56-B933-0D3513035D0F}" type="pres">
      <dgm:prSet presAssocID="{D3EE2EF9-E0C5-4F48-BD44-5DB1001DD5C4}" presName="hierChild3" presStyleCnt="0"/>
      <dgm:spPr/>
    </dgm:pt>
  </dgm:ptLst>
  <dgm:cxnLst>
    <dgm:cxn modelId="{2B422E03-7D44-469D-9C16-39A359BD58F9}" type="presOf" srcId="{F01313CF-90C1-4195-9749-8F62B7B0775F}" destId="{9A6D2C22-2BF4-49CB-B0C5-D26AA062E26B}" srcOrd="1" destOrd="0" presId="urn:microsoft.com/office/officeart/2005/8/layout/orgChart1"/>
    <dgm:cxn modelId="{E854AA3D-A03D-468B-849D-4C085A9336BD}" srcId="{D3EE2EF9-E0C5-4F48-BD44-5DB1001DD5C4}" destId="{F01313CF-90C1-4195-9749-8F62B7B0775F}" srcOrd="1" destOrd="0" parTransId="{57D6ECBB-E308-4CA5-8E84-8239F69FFFB7}" sibTransId="{F0529868-BA11-439F-B2F7-8619024DBC1C}"/>
    <dgm:cxn modelId="{0444AF79-2BA7-4DF7-A78A-46B8AC59B88E}" type="presOf" srcId="{362F3811-8694-4048-B5DD-4F5D297EE3AB}" destId="{5430129E-068F-4FBB-87AA-BFA185435553}" srcOrd="1" destOrd="0" presId="urn:microsoft.com/office/officeart/2005/8/layout/orgChart1"/>
    <dgm:cxn modelId="{9F108D54-0A45-4686-9C61-E735D242C6C4}" type="presOf" srcId="{136BEF7C-F7CF-45A4-AC0B-52716CF43453}" destId="{598FC892-7C4B-4319-9371-B696708D458F}" srcOrd="0" destOrd="0" presId="urn:microsoft.com/office/officeart/2005/8/layout/orgChart1"/>
    <dgm:cxn modelId="{43E5E42E-D704-4308-A227-04AF3E69AF6E}" type="presOf" srcId="{D3EE2EF9-E0C5-4F48-BD44-5DB1001DD5C4}" destId="{CD468587-F3F9-4563-B2E0-B3694F5C92B8}" srcOrd="1" destOrd="0" presId="urn:microsoft.com/office/officeart/2005/8/layout/orgChart1"/>
    <dgm:cxn modelId="{FC172CB1-C1F3-48B8-A9FA-BEFABA952E59}" type="presOf" srcId="{57D6ECBB-E308-4CA5-8E84-8239F69FFFB7}" destId="{4AD00D2F-5455-453A-BD53-AA824A37851D}" srcOrd="0" destOrd="0" presId="urn:microsoft.com/office/officeart/2005/8/layout/orgChart1"/>
    <dgm:cxn modelId="{006DDF6F-A1BF-4185-9EFC-E894CEA89C59}" srcId="{D3EE2EF9-E0C5-4F48-BD44-5DB1001DD5C4}" destId="{362F3811-8694-4048-B5DD-4F5D297EE3AB}" srcOrd="0" destOrd="0" parTransId="{136BEF7C-F7CF-45A4-AC0B-52716CF43453}" sibTransId="{99029956-9F4B-4EB6-9E94-58D85E2A7DEC}"/>
    <dgm:cxn modelId="{5CF5259A-FF14-4540-A156-60EF84B3931D}" type="presOf" srcId="{362F3811-8694-4048-B5DD-4F5D297EE3AB}" destId="{9C7868C1-ABBB-49ED-96FC-0BD8824E1B50}" srcOrd="0" destOrd="0" presId="urn:microsoft.com/office/officeart/2005/8/layout/orgChart1"/>
    <dgm:cxn modelId="{A513FE17-4888-47E6-9DAF-A0B214C9BC0E}" srcId="{A7566E29-EC67-40CE-A84E-0E1DC0D70FCF}" destId="{D3EE2EF9-E0C5-4F48-BD44-5DB1001DD5C4}" srcOrd="0" destOrd="0" parTransId="{701AA4DE-6922-4CD6-AB91-18ED2619207D}" sibTransId="{4EEC3BEC-7FDC-412B-AC7D-571BC1D8C124}"/>
    <dgm:cxn modelId="{E69192FF-9699-4F73-B53F-ABCE93E43BB0}" type="presOf" srcId="{F01313CF-90C1-4195-9749-8F62B7B0775F}" destId="{390D6AFC-0F32-475F-AFD2-D9531BC0C8F2}" srcOrd="0" destOrd="0" presId="urn:microsoft.com/office/officeart/2005/8/layout/orgChart1"/>
    <dgm:cxn modelId="{3107D791-BC8E-459C-88D9-E8025B30C608}" type="presOf" srcId="{A7566E29-EC67-40CE-A84E-0E1DC0D70FCF}" destId="{7B73B818-9519-4128-9F10-D27C92831115}" srcOrd="0" destOrd="0" presId="urn:microsoft.com/office/officeart/2005/8/layout/orgChart1"/>
    <dgm:cxn modelId="{9DA41EB9-DE71-4FB2-8C10-A4709984D4A8}" type="presOf" srcId="{D3EE2EF9-E0C5-4F48-BD44-5DB1001DD5C4}" destId="{DBA47902-1A2E-4748-B1FB-851EA452D428}" srcOrd="0" destOrd="0" presId="urn:microsoft.com/office/officeart/2005/8/layout/orgChart1"/>
    <dgm:cxn modelId="{6982F809-AA6E-4DA6-8A7B-6DC16510693A}" type="presParOf" srcId="{7B73B818-9519-4128-9F10-D27C92831115}" destId="{31DAE24B-1277-4123-B857-1EB0101A883A}" srcOrd="0" destOrd="0" presId="urn:microsoft.com/office/officeart/2005/8/layout/orgChart1"/>
    <dgm:cxn modelId="{6D96D799-B92A-4DC2-90A2-3732E730BF00}" type="presParOf" srcId="{31DAE24B-1277-4123-B857-1EB0101A883A}" destId="{A2A06284-BE43-4F94-96EC-2C56180119D0}" srcOrd="0" destOrd="0" presId="urn:microsoft.com/office/officeart/2005/8/layout/orgChart1"/>
    <dgm:cxn modelId="{D0EC9A82-D4A3-436B-8F02-EF6435978AA6}" type="presParOf" srcId="{A2A06284-BE43-4F94-96EC-2C56180119D0}" destId="{DBA47902-1A2E-4748-B1FB-851EA452D428}" srcOrd="0" destOrd="0" presId="urn:microsoft.com/office/officeart/2005/8/layout/orgChart1"/>
    <dgm:cxn modelId="{4A62F18C-C33B-427A-BF90-B6E95A1FC0EC}" type="presParOf" srcId="{A2A06284-BE43-4F94-96EC-2C56180119D0}" destId="{CD468587-F3F9-4563-B2E0-B3694F5C92B8}" srcOrd="1" destOrd="0" presId="urn:microsoft.com/office/officeart/2005/8/layout/orgChart1"/>
    <dgm:cxn modelId="{614BFA32-5334-4F35-9013-F7CE504707DA}" type="presParOf" srcId="{31DAE24B-1277-4123-B857-1EB0101A883A}" destId="{2BBFDF6E-7170-4037-9A02-AED51F5EF6D3}" srcOrd="1" destOrd="0" presId="urn:microsoft.com/office/officeart/2005/8/layout/orgChart1"/>
    <dgm:cxn modelId="{4EB6C828-FF84-4F29-B156-99F7D4D1CCE1}" type="presParOf" srcId="{2BBFDF6E-7170-4037-9A02-AED51F5EF6D3}" destId="{598FC892-7C4B-4319-9371-B696708D458F}" srcOrd="0" destOrd="0" presId="urn:microsoft.com/office/officeart/2005/8/layout/orgChart1"/>
    <dgm:cxn modelId="{CFF2C732-DB37-4D3A-AAE3-275457E15768}" type="presParOf" srcId="{2BBFDF6E-7170-4037-9A02-AED51F5EF6D3}" destId="{DE170BA3-AD36-4644-BE9C-3F1E62FCB1A1}" srcOrd="1" destOrd="0" presId="urn:microsoft.com/office/officeart/2005/8/layout/orgChart1"/>
    <dgm:cxn modelId="{B04D6CB1-5660-46A9-8447-71E480BC7EFD}" type="presParOf" srcId="{DE170BA3-AD36-4644-BE9C-3F1E62FCB1A1}" destId="{254987B0-AAE6-47B9-A886-DE5DE74FA4D1}" srcOrd="0" destOrd="0" presId="urn:microsoft.com/office/officeart/2005/8/layout/orgChart1"/>
    <dgm:cxn modelId="{D0E2DCEB-9B76-405E-A8F2-3E12F92AFB7E}" type="presParOf" srcId="{254987B0-AAE6-47B9-A886-DE5DE74FA4D1}" destId="{9C7868C1-ABBB-49ED-96FC-0BD8824E1B50}" srcOrd="0" destOrd="0" presId="urn:microsoft.com/office/officeart/2005/8/layout/orgChart1"/>
    <dgm:cxn modelId="{728C15C6-C0C0-4BB5-9A7A-500E12C6248E}" type="presParOf" srcId="{254987B0-AAE6-47B9-A886-DE5DE74FA4D1}" destId="{5430129E-068F-4FBB-87AA-BFA185435553}" srcOrd="1" destOrd="0" presId="urn:microsoft.com/office/officeart/2005/8/layout/orgChart1"/>
    <dgm:cxn modelId="{36A0139D-D2F2-4D4D-9508-FBD56118026D}" type="presParOf" srcId="{DE170BA3-AD36-4644-BE9C-3F1E62FCB1A1}" destId="{00D7379A-6B66-439C-8900-1366DE1B9014}" srcOrd="1" destOrd="0" presId="urn:microsoft.com/office/officeart/2005/8/layout/orgChart1"/>
    <dgm:cxn modelId="{9F4AC614-BF10-4962-A5AD-3D9DB574E4AB}" type="presParOf" srcId="{DE170BA3-AD36-4644-BE9C-3F1E62FCB1A1}" destId="{9C467B1D-3779-4915-B12C-183AC6F85EB3}" srcOrd="2" destOrd="0" presId="urn:microsoft.com/office/officeart/2005/8/layout/orgChart1"/>
    <dgm:cxn modelId="{C656782F-D9C4-4099-B74E-C65319FEA30B}" type="presParOf" srcId="{2BBFDF6E-7170-4037-9A02-AED51F5EF6D3}" destId="{4AD00D2F-5455-453A-BD53-AA824A37851D}" srcOrd="2" destOrd="0" presId="urn:microsoft.com/office/officeart/2005/8/layout/orgChart1"/>
    <dgm:cxn modelId="{B9D6C861-8590-45C8-BF33-2D339EE20F0E}" type="presParOf" srcId="{2BBFDF6E-7170-4037-9A02-AED51F5EF6D3}" destId="{965ACA0A-3628-425C-994A-907EE0C9811A}" srcOrd="3" destOrd="0" presId="urn:microsoft.com/office/officeart/2005/8/layout/orgChart1"/>
    <dgm:cxn modelId="{41C61EAB-CFB6-40EA-9A78-9EF719D1BB77}" type="presParOf" srcId="{965ACA0A-3628-425C-994A-907EE0C9811A}" destId="{0FD94C6B-F227-427D-B573-C406218DCC68}" srcOrd="0" destOrd="0" presId="urn:microsoft.com/office/officeart/2005/8/layout/orgChart1"/>
    <dgm:cxn modelId="{298416B6-4D45-41B2-8F60-248CAB7FDDFC}" type="presParOf" srcId="{0FD94C6B-F227-427D-B573-C406218DCC68}" destId="{390D6AFC-0F32-475F-AFD2-D9531BC0C8F2}" srcOrd="0" destOrd="0" presId="urn:microsoft.com/office/officeart/2005/8/layout/orgChart1"/>
    <dgm:cxn modelId="{CDA06E8D-1F5A-4892-A4FE-C312FD808512}" type="presParOf" srcId="{0FD94C6B-F227-427D-B573-C406218DCC68}" destId="{9A6D2C22-2BF4-49CB-B0C5-D26AA062E26B}" srcOrd="1" destOrd="0" presId="urn:microsoft.com/office/officeart/2005/8/layout/orgChart1"/>
    <dgm:cxn modelId="{FF7A28D3-9566-48A7-9601-7E66D919B0AA}" type="presParOf" srcId="{965ACA0A-3628-425C-994A-907EE0C9811A}" destId="{08586095-2771-4FF2-AAE9-C52A1ABC6D82}" srcOrd="1" destOrd="0" presId="urn:microsoft.com/office/officeart/2005/8/layout/orgChart1"/>
    <dgm:cxn modelId="{453926C2-093F-432E-9B17-279FB2C19A78}" type="presParOf" srcId="{965ACA0A-3628-425C-994A-907EE0C9811A}" destId="{32A6C74A-FEE4-4E6D-8C9F-0286444E8934}" srcOrd="2" destOrd="0" presId="urn:microsoft.com/office/officeart/2005/8/layout/orgChart1"/>
    <dgm:cxn modelId="{DC4A7112-2AB3-4FFF-B904-C983A8C0DDA6}" type="presParOf" srcId="{31DAE24B-1277-4123-B857-1EB0101A883A}" destId="{FB13CE2B-1AFF-4E56-B933-0D3513035D0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3A5DBB-A8B5-4AE7-A174-C20BEF4AC85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A5F8351E-7124-47C4-9AB5-2F96F456B85A}">
      <dgm:prSet phldrT="[Text]"/>
      <dgm:spPr/>
      <dgm:t>
        <a:bodyPr/>
        <a:lstStyle/>
        <a:p>
          <a:r>
            <a:rPr lang="en-US" dirty="0" smtClean="0"/>
            <a:t>2004: Rosewood Hotel / Rosewood Resorts / Rosewood University / Rosewood Orientation</a:t>
          </a:r>
          <a:endParaRPr lang="en-US" dirty="0"/>
        </a:p>
      </dgm:t>
    </dgm:pt>
    <dgm:pt modelId="{09DF9F76-5255-4C20-A8CC-92305956EAD7}" type="parTrans" cxnId="{4437603F-9A36-4C26-A389-524B608541B8}">
      <dgm:prSet/>
      <dgm:spPr/>
      <dgm:t>
        <a:bodyPr/>
        <a:lstStyle/>
        <a:p>
          <a:endParaRPr lang="en-US"/>
        </a:p>
      </dgm:t>
    </dgm:pt>
    <dgm:pt modelId="{488170B5-589D-491B-ACCD-AD8E7D53CF2B}" type="sibTrans" cxnId="{4437603F-9A36-4C26-A389-524B608541B8}">
      <dgm:prSet/>
      <dgm:spPr/>
      <dgm:t>
        <a:bodyPr/>
        <a:lstStyle/>
        <a:p>
          <a:endParaRPr lang="en-US"/>
        </a:p>
      </dgm:t>
    </dgm:pt>
    <dgm:pt modelId="{1BAA0E95-318C-45CF-9CA5-32BEF285736A}">
      <dgm:prSet phldrT="[Text]"/>
      <dgm:spPr/>
      <dgm:t>
        <a:bodyPr/>
        <a:lstStyle/>
        <a:p>
          <a:r>
            <a:rPr lang="en-US" dirty="0" smtClean="0"/>
            <a:t>2005: Rosewood ubiquitous name</a:t>
          </a:r>
          <a:endParaRPr lang="en-US" dirty="0"/>
        </a:p>
      </dgm:t>
    </dgm:pt>
    <dgm:pt modelId="{5E7DB6DA-EA8A-46A8-B38D-DE1F56F81549}" type="parTrans" cxnId="{D9DF152F-6366-40C3-A84D-5C1F98B0EFEB}">
      <dgm:prSet/>
      <dgm:spPr/>
      <dgm:t>
        <a:bodyPr/>
        <a:lstStyle/>
        <a:p>
          <a:endParaRPr lang="en-US"/>
        </a:p>
      </dgm:t>
    </dgm:pt>
    <dgm:pt modelId="{8E76CBC5-E5EF-412A-837A-514D7FBCA891}" type="sibTrans" cxnId="{D9DF152F-6366-40C3-A84D-5C1F98B0EFEB}">
      <dgm:prSet/>
      <dgm:spPr/>
      <dgm:t>
        <a:bodyPr/>
        <a:lstStyle/>
        <a:p>
          <a:endParaRPr lang="en-US"/>
        </a:p>
      </dgm:t>
    </dgm:pt>
    <dgm:pt modelId="{5CDC09A8-A05F-4188-B327-A462069A589D}">
      <dgm:prSet phldrT="[Text]"/>
      <dgm:spPr/>
      <dgm:t>
        <a:bodyPr/>
        <a:lstStyle/>
        <a:p>
          <a:r>
            <a:rPr lang="en-US" dirty="0" smtClean="0"/>
            <a:t>2006: Slow change for well established hotel brands, Rosewood lifestyle, Showing results</a:t>
          </a:r>
        </a:p>
      </dgm:t>
    </dgm:pt>
    <dgm:pt modelId="{A7808541-BD97-4A64-826D-D1CBF42F4BDB}" type="parTrans" cxnId="{45477C58-D2FB-498A-B197-85A2623E0932}">
      <dgm:prSet/>
      <dgm:spPr/>
      <dgm:t>
        <a:bodyPr/>
        <a:lstStyle/>
        <a:p>
          <a:endParaRPr lang="en-US"/>
        </a:p>
      </dgm:t>
    </dgm:pt>
    <dgm:pt modelId="{2B98F8E6-1BDA-4156-87AF-4D467DF5FBF0}" type="sibTrans" cxnId="{45477C58-D2FB-498A-B197-85A2623E0932}">
      <dgm:prSet/>
      <dgm:spPr/>
      <dgm:t>
        <a:bodyPr/>
        <a:lstStyle/>
        <a:p>
          <a:endParaRPr lang="en-US"/>
        </a:p>
      </dgm:t>
    </dgm:pt>
    <dgm:pt modelId="{52AE4967-E392-44AD-ADB5-85DAF9357EAC}">
      <dgm:prSet phldrT="[Text]"/>
      <dgm:spPr/>
      <dgm:t>
        <a:bodyPr/>
        <a:lstStyle/>
        <a:p>
          <a:r>
            <a:rPr lang="en-US" dirty="0" smtClean="0"/>
            <a:t>2007: Successful Corporate Branding</a:t>
          </a:r>
        </a:p>
      </dgm:t>
    </dgm:pt>
    <dgm:pt modelId="{C03E5CF8-75D9-4C25-BD76-EAB41B129A57}" type="parTrans" cxnId="{721DDD55-E0BE-4CB8-B57A-312F3BD8A027}">
      <dgm:prSet/>
      <dgm:spPr/>
      <dgm:t>
        <a:bodyPr/>
        <a:lstStyle/>
        <a:p>
          <a:endParaRPr lang="en-US"/>
        </a:p>
      </dgm:t>
    </dgm:pt>
    <dgm:pt modelId="{8A862165-FDE0-4F33-BEB0-22C9A01DEC89}" type="sibTrans" cxnId="{721DDD55-E0BE-4CB8-B57A-312F3BD8A027}">
      <dgm:prSet/>
      <dgm:spPr/>
      <dgm:t>
        <a:bodyPr/>
        <a:lstStyle/>
        <a:p>
          <a:endParaRPr lang="en-US"/>
        </a:p>
      </dgm:t>
    </dgm:pt>
    <dgm:pt modelId="{25620AF8-FB7B-4FCE-84A7-56D05499E4B7}" type="pres">
      <dgm:prSet presAssocID="{153A5DBB-A8B5-4AE7-A174-C20BEF4AC853}" presName="CompostProcess" presStyleCnt="0">
        <dgm:presLayoutVars>
          <dgm:dir/>
          <dgm:resizeHandles val="exact"/>
        </dgm:presLayoutVars>
      </dgm:prSet>
      <dgm:spPr/>
    </dgm:pt>
    <dgm:pt modelId="{CC44DC29-DC57-4349-8B9C-E45FDED0A3AD}" type="pres">
      <dgm:prSet presAssocID="{153A5DBB-A8B5-4AE7-A174-C20BEF4AC853}" presName="arrow" presStyleLbl="bgShp" presStyleIdx="0" presStyleCnt="1"/>
      <dgm:spPr/>
    </dgm:pt>
    <dgm:pt modelId="{D7374E17-D349-4D19-BCE3-E69B4789F1DC}" type="pres">
      <dgm:prSet presAssocID="{153A5DBB-A8B5-4AE7-A174-C20BEF4AC853}" presName="linearProcess" presStyleCnt="0"/>
      <dgm:spPr/>
    </dgm:pt>
    <dgm:pt modelId="{A12E01C4-6202-46FA-9E3A-41CFC46584F3}" type="pres">
      <dgm:prSet presAssocID="{A5F8351E-7124-47C4-9AB5-2F96F456B85A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C0095B-E523-4096-9C5D-198B082A11EB}" type="pres">
      <dgm:prSet presAssocID="{488170B5-589D-491B-ACCD-AD8E7D53CF2B}" presName="sibTrans" presStyleCnt="0"/>
      <dgm:spPr/>
    </dgm:pt>
    <dgm:pt modelId="{A854C4A6-6F7A-45B7-A28A-2F3DDA96C684}" type="pres">
      <dgm:prSet presAssocID="{1BAA0E95-318C-45CF-9CA5-32BEF285736A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2553B5B-E406-4FDA-BECB-296DD3A31732}" type="pres">
      <dgm:prSet presAssocID="{8E76CBC5-E5EF-412A-837A-514D7FBCA891}" presName="sibTrans" presStyleCnt="0"/>
      <dgm:spPr/>
    </dgm:pt>
    <dgm:pt modelId="{8CBEDB27-E96A-4310-A6E8-4A38CF7D406A}" type="pres">
      <dgm:prSet presAssocID="{5CDC09A8-A05F-4188-B327-A462069A589D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5F0115-E2FD-45AB-884E-A0FD8E291036}" type="pres">
      <dgm:prSet presAssocID="{2B98F8E6-1BDA-4156-87AF-4D467DF5FBF0}" presName="sibTrans" presStyleCnt="0"/>
      <dgm:spPr/>
    </dgm:pt>
    <dgm:pt modelId="{EC34C221-AFAB-4096-8AA4-BF8603623EC1}" type="pres">
      <dgm:prSet presAssocID="{52AE4967-E392-44AD-ADB5-85DAF9357EAC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1DDD55-E0BE-4CB8-B57A-312F3BD8A027}" srcId="{153A5DBB-A8B5-4AE7-A174-C20BEF4AC853}" destId="{52AE4967-E392-44AD-ADB5-85DAF9357EAC}" srcOrd="3" destOrd="0" parTransId="{C03E5CF8-75D9-4C25-BD76-EAB41B129A57}" sibTransId="{8A862165-FDE0-4F33-BEB0-22C9A01DEC89}"/>
    <dgm:cxn modelId="{45477C58-D2FB-498A-B197-85A2623E0932}" srcId="{153A5DBB-A8B5-4AE7-A174-C20BEF4AC853}" destId="{5CDC09A8-A05F-4188-B327-A462069A589D}" srcOrd="2" destOrd="0" parTransId="{A7808541-BD97-4A64-826D-D1CBF42F4BDB}" sibTransId="{2B98F8E6-1BDA-4156-87AF-4D467DF5FBF0}"/>
    <dgm:cxn modelId="{AD2C80D3-3380-4F5E-8E4C-9B0546F9DC47}" type="presOf" srcId="{52AE4967-E392-44AD-ADB5-85DAF9357EAC}" destId="{EC34C221-AFAB-4096-8AA4-BF8603623EC1}" srcOrd="0" destOrd="0" presId="urn:microsoft.com/office/officeart/2005/8/layout/hProcess9"/>
    <dgm:cxn modelId="{67AFEAEE-1211-4996-ADA9-5F53E44B68CD}" type="presOf" srcId="{5CDC09A8-A05F-4188-B327-A462069A589D}" destId="{8CBEDB27-E96A-4310-A6E8-4A38CF7D406A}" srcOrd="0" destOrd="0" presId="urn:microsoft.com/office/officeart/2005/8/layout/hProcess9"/>
    <dgm:cxn modelId="{375FCD45-3FA1-49DC-B209-30EB27714C25}" type="presOf" srcId="{A5F8351E-7124-47C4-9AB5-2F96F456B85A}" destId="{A12E01C4-6202-46FA-9E3A-41CFC46584F3}" srcOrd="0" destOrd="0" presId="urn:microsoft.com/office/officeart/2005/8/layout/hProcess9"/>
    <dgm:cxn modelId="{C24FD7CC-1BED-49D0-BFE1-678C133B9AC2}" type="presOf" srcId="{1BAA0E95-318C-45CF-9CA5-32BEF285736A}" destId="{A854C4A6-6F7A-45B7-A28A-2F3DDA96C684}" srcOrd="0" destOrd="0" presId="urn:microsoft.com/office/officeart/2005/8/layout/hProcess9"/>
    <dgm:cxn modelId="{D9DF152F-6366-40C3-A84D-5C1F98B0EFEB}" srcId="{153A5DBB-A8B5-4AE7-A174-C20BEF4AC853}" destId="{1BAA0E95-318C-45CF-9CA5-32BEF285736A}" srcOrd="1" destOrd="0" parTransId="{5E7DB6DA-EA8A-46A8-B38D-DE1F56F81549}" sibTransId="{8E76CBC5-E5EF-412A-837A-514D7FBCA891}"/>
    <dgm:cxn modelId="{4437603F-9A36-4C26-A389-524B608541B8}" srcId="{153A5DBB-A8B5-4AE7-A174-C20BEF4AC853}" destId="{A5F8351E-7124-47C4-9AB5-2F96F456B85A}" srcOrd="0" destOrd="0" parTransId="{09DF9F76-5255-4C20-A8CC-92305956EAD7}" sibTransId="{488170B5-589D-491B-ACCD-AD8E7D53CF2B}"/>
    <dgm:cxn modelId="{C4AA18D5-1266-4E47-94BA-0A7D059A528E}" type="presOf" srcId="{153A5DBB-A8B5-4AE7-A174-C20BEF4AC853}" destId="{25620AF8-FB7B-4FCE-84A7-56D05499E4B7}" srcOrd="0" destOrd="0" presId="urn:microsoft.com/office/officeart/2005/8/layout/hProcess9"/>
    <dgm:cxn modelId="{8C7E5DC9-3C38-4C21-B98B-F90C1FEC9469}" type="presParOf" srcId="{25620AF8-FB7B-4FCE-84A7-56D05499E4B7}" destId="{CC44DC29-DC57-4349-8B9C-E45FDED0A3AD}" srcOrd="0" destOrd="0" presId="urn:microsoft.com/office/officeart/2005/8/layout/hProcess9"/>
    <dgm:cxn modelId="{6B294037-C272-4B5D-B349-FAE503CDD7A9}" type="presParOf" srcId="{25620AF8-FB7B-4FCE-84A7-56D05499E4B7}" destId="{D7374E17-D349-4D19-BCE3-E69B4789F1DC}" srcOrd="1" destOrd="0" presId="urn:microsoft.com/office/officeart/2005/8/layout/hProcess9"/>
    <dgm:cxn modelId="{5339072B-2B2A-4AAA-B9C0-F18F257886E9}" type="presParOf" srcId="{D7374E17-D349-4D19-BCE3-E69B4789F1DC}" destId="{A12E01C4-6202-46FA-9E3A-41CFC46584F3}" srcOrd="0" destOrd="0" presId="urn:microsoft.com/office/officeart/2005/8/layout/hProcess9"/>
    <dgm:cxn modelId="{43672534-800C-4CD5-8301-146AB0888FC4}" type="presParOf" srcId="{D7374E17-D349-4D19-BCE3-E69B4789F1DC}" destId="{87C0095B-E523-4096-9C5D-198B082A11EB}" srcOrd="1" destOrd="0" presId="urn:microsoft.com/office/officeart/2005/8/layout/hProcess9"/>
    <dgm:cxn modelId="{F1A54775-9C7A-4DFE-A989-05AF0C25B929}" type="presParOf" srcId="{D7374E17-D349-4D19-BCE3-E69B4789F1DC}" destId="{A854C4A6-6F7A-45B7-A28A-2F3DDA96C684}" srcOrd="2" destOrd="0" presId="urn:microsoft.com/office/officeart/2005/8/layout/hProcess9"/>
    <dgm:cxn modelId="{72EF79BA-1102-47BF-8E1F-838D91795E84}" type="presParOf" srcId="{D7374E17-D349-4D19-BCE3-E69B4789F1DC}" destId="{62553B5B-E406-4FDA-BECB-296DD3A31732}" srcOrd="3" destOrd="0" presId="urn:microsoft.com/office/officeart/2005/8/layout/hProcess9"/>
    <dgm:cxn modelId="{D51EF0BB-D1A1-4D3A-B1EB-9D074830C814}" type="presParOf" srcId="{D7374E17-D349-4D19-BCE3-E69B4789F1DC}" destId="{8CBEDB27-E96A-4310-A6E8-4A38CF7D406A}" srcOrd="4" destOrd="0" presId="urn:microsoft.com/office/officeart/2005/8/layout/hProcess9"/>
    <dgm:cxn modelId="{7912606D-9B06-439F-BB79-44597C66D092}" type="presParOf" srcId="{D7374E17-D349-4D19-BCE3-E69B4789F1DC}" destId="{FF5F0115-E2FD-45AB-884E-A0FD8E291036}" srcOrd="5" destOrd="0" presId="urn:microsoft.com/office/officeart/2005/8/layout/hProcess9"/>
    <dgm:cxn modelId="{86F1C9AE-93AC-4CF0-8041-EFCF643A0C7E}" type="presParOf" srcId="{D7374E17-D349-4D19-BCE3-E69B4789F1DC}" destId="{EC34C221-AFAB-4096-8AA4-BF8603623EC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D00D2F-5455-453A-BD53-AA824A37851D}">
      <dsp:nvSpPr>
        <dsp:cNvPr id="0" name=""/>
        <dsp:cNvSpPr/>
      </dsp:nvSpPr>
      <dsp:spPr>
        <a:xfrm>
          <a:off x="4848936" y="1558311"/>
          <a:ext cx="1883638" cy="653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912"/>
              </a:lnTo>
              <a:lnTo>
                <a:pt x="1883638" y="326912"/>
              </a:lnTo>
              <a:lnTo>
                <a:pt x="1883638" y="65382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8FC892-7C4B-4319-9371-B696708D458F}">
      <dsp:nvSpPr>
        <dsp:cNvPr id="0" name=""/>
        <dsp:cNvSpPr/>
      </dsp:nvSpPr>
      <dsp:spPr>
        <a:xfrm>
          <a:off x="2965297" y="1558311"/>
          <a:ext cx="1883638" cy="653825"/>
        </a:xfrm>
        <a:custGeom>
          <a:avLst/>
          <a:gdLst/>
          <a:ahLst/>
          <a:cxnLst/>
          <a:rect l="0" t="0" r="0" b="0"/>
          <a:pathLst>
            <a:path>
              <a:moveTo>
                <a:pt x="1883638" y="0"/>
              </a:moveTo>
              <a:lnTo>
                <a:pt x="1883638" y="326912"/>
              </a:lnTo>
              <a:lnTo>
                <a:pt x="0" y="326912"/>
              </a:lnTo>
              <a:lnTo>
                <a:pt x="0" y="65382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A47902-1A2E-4748-B1FB-851EA452D428}">
      <dsp:nvSpPr>
        <dsp:cNvPr id="0" name=""/>
        <dsp:cNvSpPr/>
      </dsp:nvSpPr>
      <dsp:spPr>
        <a:xfrm>
          <a:off x="3292209" y="1585"/>
          <a:ext cx="3113452" cy="15567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Hotels and Resorts</a:t>
          </a:r>
          <a:endParaRPr lang="en-US" sz="3900" kern="1200" dirty="0"/>
        </a:p>
      </dsp:txBody>
      <dsp:txXfrm>
        <a:off x="3292209" y="1585"/>
        <a:ext cx="3113452" cy="1556726"/>
      </dsp:txXfrm>
    </dsp:sp>
    <dsp:sp modelId="{9C7868C1-ABBB-49ED-96FC-0BD8824E1B50}">
      <dsp:nvSpPr>
        <dsp:cNvPr id="0" name=""/>
        <dsp:cNvSpPr/>
      </dsp:nvSpPr>
      <dsp:spPr>
        <a:xfrm>
          <a:off x="1408570" y="2212136"/>
          <a:ext cx="3113452" cy="155672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Corporate Chains</a:t>
          </a:r>
          <a:endParaRPr lang="en-US" sz="3900" kern="1200" dirty="0"/>
        </a:p>
      </dsp:txBody>
      <dsp:txXfrm>
        <a:off x="1408570" y="2212136"/>
        <a:ext cx="3113452" cy="1556726"/>
      </dsp:txXfrm>
    </dsp:sp>
    <dsp:sp modelId="{390D6AFC-0F32-475F-AFD2-D9531BC0C8F2}">
      <dsp:nvSpPr>
        <dsp:cNvPr id="0" name=""/>
        <dsp:cNvSpPr/>
      </dsp:nvSpPr>
      <dsp:spPr>
        <a:xfrm>
          <a:off x="5175848" y="2212136"/>
          <a:ext cx="3113452" cy="1556726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Individually branded hotels</a:t>
          </a:r>
          <a:endParaRPr lang="en-US" sz="3900" kern="1200" dirty="0"/>
        </a:p>
      </dsp:txBody>
      <dsp:txXfrm>
        <a:off x="5175848" y="2212136"/>
        <a:ext cx="3113452" cy="1556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4DC29-DC57-4349-8B9C-E45FDED0A3AD}">
      <dsp:nvSpPr>
        <dsp:cNvPr id="0" name=""/>
        <dsp:cNvSpPr/>
      </dsp:nvSpPr>
      <dsp:spPr>
        <a:xfrm>
          <a:off x="842408" y="0"/>
          <a:ext cx="9547290" cy="444764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2E01C4-6202-46FA-9E3A-41CFC46584F3}">
      <dsp:nvSpPr>
        <dsp:cNvPr id="0" name=""/>
        <dsp:cNvSpPr/>
      </dsp:nvSpPr>
      <dsp:spPr>
        <a:xfrm>
          <a:off x="5621" y="1334293"/>
          <a:ext cx="2703822" cy="17790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2004: Rosewood Hotel / Rosewood Resorts / Rosewood University / Rosewood Orientation</a:t>
          </a:r>
          <a:endParaRPr lang="en-US" sz="2000" kern="1200" dirty="0"/>
        </a:p>
      </dsp:txBody>
      <dsp:txXfrm>
        <a:off x="92467" y="1421139"/>
        <a:ext cx="2530130" cy="1605366"/>
      </dsp:txXfrm>
    </dsp:sp>
    <dsp:sp modelId="{A854C4A6-6F7A-45B7-A28A-2F3DDA96C684}">
      <dsp:nvSpPr>
        <dsp:cNvPr id="0" name=""/>
        <dsp:cNvSpPr/>
      </dsp:nvSpPr>
      <dsp:spPr>
        <a:xfrm>
          <a:off x="2844635" y="1334293"/>
          <a:ext cx="2703822" cy="17790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2005: Rosewood ubiquitous name</a:t>
          </a:r>
          <a:endParaRPr lang="en-US" sz="2000" kern="1200" dirty="0"/>
        </a:p>
      </dsp:txBody>
      <dsp:txXfrm>
        <a:off x="2931481" y="1421139"/>
        <a:ext cx="2530130" cy="1605366"/>
      </dsp:txXfrm>
    </dsp:sp>
    <dsp:sp modelId="{8CBEDB27-E96A-4310-A6E8-4A38CF7D406A}">
      <dsp:nvSpPr>
        <dsp:cNvPr id="0" name=""/>
        <dsp:cNvSpPr/>
      </dsp:nvSpPr>
      <dsp:spPr>
        <a:xfrm>
          <a:off x="5683649" y="1334293"/>
          <a:ext cx="2703822" cy="17790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2006: Slow change for well established hotel brands, Rosewood lifestyle, Showing results</a:t>
          </a:r>
        </a:p>
      </dsp:txBody>
      <dsp:txXfrm>
        <a:off x="5770495" y="1421139"/>
        <a:ext cx="2530130" cy="1605366"/>
      </dsp:txXfrm>
    </dsp:sp>
    <dsp:sp modelId="{EC34C221-AFAB-4096-8AA4-BF8603623EC1}">
      <dsp:nvSpPr>
        <dsp:cNvPr id="0" name=""/>
        <dsp:cNvSpPr/>
      </dsp:nvSpPr>
      <dsp:spPr>
        <a:xfrm>
          <a:off x="8522662" y="1334293"/>
          <a:ext cx="2703822" cy="17790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2007: Successful Corporate Branding</a:t>
          </a:r>
        </a:p>
      </dsp:txBody>
      <dsp:txXfrm>
        <a:off x="8609508" y="1421139"/>
        <a:ext cx="2530130" cy="16053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FA007-337A-493C-A177-1A884AEB5A23}" type="datetimeFigureOut">
              <a:rPr lang="en-IN" smtClean="0"/>
              <a:t>03-02-2020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4F0F9-D51A-4851-8133-2769E6481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1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3C63-B7ED-4BD9-BAA1-E4CB7B8631BC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023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D679-C3B7-4DB2-996C-6613EB0ECE68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980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42DD-3611-4631-BA94-786287D746CB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71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61B7-C5D6-4C7D-B5D1-11E662B2238E}" type="datetime1">
              <a:rPr lang="en-IN" smtClean="0"/>
              <a:t>03-02-2020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76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A44F-C2FB-4FD7-9B3A-3BDB03DDBCA1}" type="datetime1">
              <a:rPr lang="en-IN" smtClean="0"/>
              <a:t>03-02-2020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70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5981-7842-40E1-B9FE-71EA570B9FE1}" type="datetime1">
              <a:rPr lang="en-IN" smtClean="0"/>
              <a:t>03-02-2020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05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8FD7-BABB-4B31-998C-447E35F659D0}" type="datetime1">
              <a:rPr lang="en-IN" smtClean="0"/>
              <a:t>03-02-2020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801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72C2-453E-4D1C-8550-7F957E7F73DF}" type="datetime1">
              <a:rPr lang="en-IN" smtClean="0"/>
              <a:t>03-02-2020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46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388F-0074-4786-B841-D900476443F5}" type="datetime1">
              <a:rPr lang="en-IN" smtClean="0"/>
              <a:t>03-02-2020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36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2F5B-C46B-487A-B355-8163F9779CC2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71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1B24B-0631-4148-8D8D-6553E311DCF0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64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D8E88-11F8-484E-BAE6-2BF58F5A3864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68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Redwoods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00588"/>
            <a:ext cx="9144000" cy="1655762"/>
          </a:xfrm>
        </p:spPr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Swagato</a:t>
            </a:r>
            <a:r>
              <a:rPr lang="en-IN" dirty="0" smtClean="0"/>
              <a:t> </a:t>
            </a:r>
            <a:r>
              <a:rPr lang="en-IN" dirty="0" smtClean="0"/>
              <a:t>Chatterjee</a:t>
            </a:r>
          </a:p>
          <a:p>
            <a:r>
              <a:rPr lang="en-IN" dirty="0" smtClean="0"/>
              <a:t>VGSOM IITKGP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AE38-F329-4BD4-9572-B329B7667C2A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2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Rosewood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International hotel and resort management company</a:t>
            </a:r>
          </a:p>
          <a:p>
            <a:r>
              <a:rPr lang="en-US" dirty="0" smtClean="0"/>
              <a:t>Age 25 years</a:t>
            </a:r>
          </a:p>
          <a:p>
            <a:r>
              <a:rPr lang="en-US" dirty="0" smtClean="0"/>
              <a:t>Privately held</a:t>
            </a:r>
          </a:p>
          <a:p>
            <a:r>
              <a:rPr lang="en-US" dirty="0" smtClean="0"/>
              <a:t>A number of key executives</a:t>
            </a:r>
          </a:p>
          <a:p>
            <a:r>
              <a:rPr lang="en-US" dirty="0" smtClean="0"/>
              <a:t>Small number of properties (12 properties, 1513 rooms)</a:t>
            </a:r>
          </a:p>
          <a:p>
            <a:r>
              <a:rPr lang="en-US" dirty="0" smtClean="0"/>
              <a:t>Luxury segment facing increasing competition</a:t>
            </a:r>
          </a:p>
          <a:p>
            <a:r>
              <a:rPr lang="en-US" dirty="0" smtClean="0"/>
              <a:t>Heterogeneous properties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D679-C3B7-4DB2-996C-6613EB0ECE68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999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8FD7-BABB-4B31-998C-447E35F659D0}" type="datetime1">
              <a:rPr lang="en-IN" smtClean="0"/>
              <a:t>03-02-2020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165094743"/>
              </p:ext>
            </p:extLst>
          </p:nvPr>
        </p:nvGraphicFramePr>
        <p:xfrm>
          <a:off x="838200" y="474006"/>
          <a:ext cx="9697872" cy="3770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37982" y="4531056"/>
            <a:ext cx="3507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/>
              <a:t>Low </a:t>
            </a:r>
            <a:r>
              <a:rPr lang="en-US" dirty="0" err="1" smtClean="0"/>
              <a:t>avg</a:t>
            </a:r>
            <a:r>
              <a:rPr lang="en-US" dirty="0" smtClean="0"/>
              <a:t> daily rate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/>
              <a:t>High occupancy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911755" y="4531055"/>
            <a:ext cx="3507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/>
              <a:t>High </a:t>
            </a:r>
            <a:r>
              <a:rPr lang="en-US" dirty="0" err="1" smtClean="0"/>
              <a:t>avg</a:t>
            </a:r>
            <a:r>
              <a:rPr lang="en-US" dirty="0" smtClean="0"/>
              <a:t> daily rate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/>
              <a:t>Low occupancy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284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8FD7-BABB-4B31-998C-447E35F659D0}" type="datetime1">
              <a:rPr lang="en-IN" smtClean="0"/>
              <a:t>03-02-2020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4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745" y="291200"/>
            <a:ext cx="8243248" cy="572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21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8FD7-BABB-4B31-998C-447E35F659D0}" type="datetime1">
              <a:rPr lang="en-IN" smtClean="0"/>
              <a:t>03-02-2020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32" y="341194"/>
            <a:ext cx="8493872" cy="589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31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Rosewoods Branding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Individual branding of unique properties</a:t>
            </a:r>
          </a:p>
          <a:p>
            <a:r>
              <a:rPr lang="en-US" dirty="0" smtClean="0"/>
              <a:t>Property specific ads</a:t>
            </a:r>
          </a:p>
          <a:p>
            <a:r>
              <a:rPr lang="en-US" dirty="0" smtClean="0"/>
              <a:t>Soft branding of Rosewood name</a:t>
            </a:r>
          </a:p>
          <a:p>
            <a:r>
              <a:rPr lang="en-US" dirty="0" smtClean="0"/>
              <a:t>“Sense of Place”</a:t>
            </a:r>
          </a:p>
          <a:p>
            <a:r>
              <a:rPr lang="en-US" dirty="0" smtClean="0"/>
              <a:t>Flexible service and product standards</a:t>
            </a:r>
          </a:p>
          <a:p>
            <a:r>
              <a:rPr lang="en-US" dirty="0" smtClean="0"/>
              <a:t>Large margin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D679-C3B7-4DB2-996C-6613EB0ECE68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502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Rosewood Customer 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Small (115000) Niche Market</a:t>
            </a:r>
          </a:p>
          <a:p>
            <a:r>
              <a:rPr lang="en-US" dirty="0" smtClean="0"/>
              <a:t>Wealthy ($750 </a:t>
            </a:r>
            <a:r>
              <a:rPr lang="en-US" dirty="0" err="1" smtClean="0"/>
              <a:t>avg</a:t>
            </a:r>
            <a:r>
              <a:rPr lang="en-US" dirty="0" smtClean="0"/>
              <a:t> daily spend)</a:t>
            </a:r>
          </a:p>
          <a:p>
            <a:r>
              <a:rPr lang="en-US" dirty="0" err="1" smtClean="0"/>
              <a:t>Avg</a:t>
            </a:r>
            <a:r>
              <a:rPr lang="en-US" dirty="0" smtClean="0"/>
              <a:t> revenue per guest ( 2 days stay ) is $1500</a:t>
            </a:r>
          </a:p>
          <a:p>
            <a:r>
              <a:rPr lang="en-US" dirty="0" smtClean="0"/>
              <a:t>Not very loyal (17% retention rate)</a:t>
            </a:r>
          </a:p>
          <a:p>
            <a:r>
              <a:rPr lang="en-US" dirty="0" smtClean="0"/>
              <a:t>Very low multi-property customers (5%)</a:t>
            </a:r>
          </a:p>
          <a:p>
            <a:r>
              <a:rPr lang="en-US" dirty="0" smtClean="0"/>
              <a:t>Unaware of Rosewood Brand. Loyal to individual brands</a:t>
            </a:r>
          </a:p>
          <a:p>
            <a:r>
              <a:rPr lang="en-US" dirty="0" smtClean="0"/>
              <a:t>Rosewood brand awareness through the travel agents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D679-C3B7-4DB2-996C-6613EB0ECE68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56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Problem?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42DD-3611-4631-BA94-786287D746CB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30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</a:t>
            </a:r>
            <a:r>
              <a:rPr lang="en-US" dirty="0" err="1" smtClean="0"/>
              <a:t>vs</a:t>
            </a:r>
            <a:r>
              <a:rPr lang="en-US" dirty="0" smtClean="0"/>
              <a:t> Corporate Brands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5981-7842-40E1-B9FE-71EA570B9FE1}" type="datetime1">
              <a:rPr lang="en-IN" smtClean="0"/>
              <a:t>03-02-2020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9</a:t>
            </a:fld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224449"/>
              </p:ext>
            </p:extLst>
          </p:nvPr>
        </p:nvGraphicFramePr>
        <p:xfrm>
          <a:off x="1172192" y="1552179"/>
          <a:ext cx="9923439" cy="4480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065"/>
                <a:gridCol w="3562065"/>
                <a:gridCol w="4831309"/>
              </a:tblGrid>
              <a:tr h="40326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CB</a:t>
                      </a:r>
                      <a:endParaRPr lang="en-US" dirty="0"/>
                    </a:p>
                  </a:txBody>
                  <a:tcPr/>
                </a:tc>
              </a:tr>
              <a:tr h="1590971">
                <a:tc>
                  <a:txBody>
                    <a:bodyPr/>
                    <a:lstStyle/>
                    <a:p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Differentiate from Luxury Brands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IB provides</a:t>
                      </a:r>
                      <a:r>
                        <a:rPr lang="en-US" baseline="0" dirty="0" smtClean="0"/>
                        <a:t> higher ADR and </a:t>
                      </a:r>
                      <a:r>
                        <a:rPr lang="en-US" baseline="0" dirty="0" err="1" smtClean="0"/>
                        <a:t>RevPAR</a:t>
                      </a:r>
                      <a:endParaRPr lang="en-US" baseline="0" dirty="0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 smtClean="0"/>
                        <a:t>Well established IBs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Encourage cross sell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Operational</a:t>
                      </a:r>
                      <a:r>
                        <a:rPr lang="en-US" baseline="0" dirty="0" smtClean="0"/>
                        <a:t> economies of scale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 smtClean="0"/>
                        <a:t>Marketing costs will reduce</a:t>
                      </a:r>
                      <a:endParaRPr lang="en-US" dirty="0"/>
                    </a:p>
                  </a:txBody>
                  <a:tcPr/>
                </a:tc>
              </a:tr>
              <a:tr h="2485892">
                <a:tc>
                  <a:txBody>
                    <a:bodyPr/>
                    <a:lstStyle/>
                    <a:p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Deters multi property cross selling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Narrow brand positioning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Needs consistency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 smtClean="0"/>
                        <a:t>Dillema</a:t>
                      </a:r>
                      <a:r>
                        <a:rPr lang="en-US" dirty="0" smtClean="0"/>
                        <a:t> with uniqueness and individuality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CB</a:t>
                      </a:r>
                      <a:r>
                        <a:rPr lang="en-US" baseline="0" dirty="0" smtClean="0"/>
                        <a:t> may deter some customers and managers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 smtClean="0"/>
                        <a:t>Significant investments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575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CLV Calculation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42DD-3611-4631-BA94-786287D746CB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19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After Story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5981-7842-40E1-B9FE-71EA570B9FE1}" type="datetime1">
              <a:rPr lang="en-IN" smtClean="0"/>
              <a:t>03-02-2020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11</a:t>
            </a:fld>
            <a:endParaRPr lang="en-IN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426605899"/>
              </p:ext>
            </p:extLst>
          </p:nvPr>
        </p:nvGraphicFramePr>
        <p:xfrm>
          <a:off x="464023" y="1690688"/>
          <a:ext cx="11232107" cy="4447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6127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351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Redwoods</vt:lpstr>
      <vt:lpstr>About Rosewood</vt:lpstr>
      <vt:lpstr>PowerPoint Presentation</vt:lpstr>
      <vt:lpstr>PowerPoint Presentation</vt:lpstr>
      <vt:lpstr>PowerPoint Presentation</vt:lpstr>
      <vt:lpstr>Rosewoods Branding Strategy</vt:lpstr>
      <vt:lpstr>Rosewood Customer Base</vt:lpstr>
      <vt:lpstr>Business Problem?</vt:lpstr>
      <vt:lpstr>Individual vs Corporate Brands</vt:lpstr>
      <vt:lpstr>CLV Calculation</vt:lpstr>
      <vt:lpstr>After Story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Relationship Management: The Strategic Imperative</dc:title>
  <dc:creator>IMI-KOLKATA</dc:creator>
  <cp:lastModifiedBy>laptop</cp:lastModifiedBy>
  <cp:revision>42</cp:revision>
  <dcterms:created xsi:type="dcterms:W3CDTF">2017-06-10T05:46:49Z</dcterms:created>
  <dcterms:modified xsi:type="dcterms:W3CDTF">2020-02-03T03:23:37Z</dcterms:modified>
</cp:coreProperties>
</file>