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1C2C1-0777-43FC-B6C9-8038D8E2929C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2618F8-234A-46EB-BF2B-FEB1986FA2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37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9BDFA08-DF8D-4EEC-A2DC-D4EBA59C6199}" type="slidenum">
              <a:rPr lang="en-US" sz="1200"/>
              <a:pPr eaLnBrk="1" hangingPunct="1"/>
              <a:t>8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41758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FE5B3A84-8673-465C-8C49-B0065364C089}" type="slidenum">
              <a:rPr lang="en-US" sz="1200"/>
              <a:pPr eaLnBrk="1" hangingPunct="1"/>
              <a:t>9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774482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>
              <a:latin typeface="Arial" panose="020B0604020202020204" pitchFamily="34" charset="0"/>
            </a:endParaRPr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AD6F466-8F00-4140-B019-327BF03E4C32}" type="slidenum">
              <a:rPr lang="en-US" sz="1200"/>
              <a:pPr eaLnBrk="1" hangingPunct="1"/>
              <a:t>10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34515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anose="020B0600070205080204" pitchFamily="34" charset="-128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5F8C08-9F1C-4973-95BD-EC9644BD89FB}" type="slidenum">
              <a:rPr lang="en-US" sz="1200">
                <a:latin typeface="Calibri" panose="020F0502020204030204" pitchFamily="34" charset="0"/>
              </a:rPr>
              <a:pPr/>
              <a:t>30</a:t>
            </a:fld>
            <a:endParaRPr lang="en-US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210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anose="020B0600070205080204" pitchFamily="34" charset="-128"/>
            </a:endParaRP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D8DE58C-0786-4C70-9C5D-50FF55CD0CA0}" type="slidenum">
              <a:rPr lang="en-US" sz="1200">
                <a:latin typeface="Calibri" panose="020F0502020204030204" pitchFamily="34" charset="0"/>
              </a:rPr>
              <a:pPr/>
              <a:t>31</a:t>
            </a:fld>
            <a:endParaRPr lang="en-US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169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anose="020B0600070205080204" pitchFamily="34" charset="-128"/>
            </a:endParaRP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A615033-A77F-4479-8BEA-991E6C986A82}" type="slidenum">
              <a:rPr lang="en-US" sz="1200">
                <a:latin typeface="Calibri" panose="020F0502020204030204" pitchFamily="34" charset="0"/>
              </a:rPr>
              <a:pPr/>
              <a:t>32</a:t>
            </a:fld>
            <a:endParaRPr lang="en-US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318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ea typeface="ＭＳ Ｐゴシック" panose="020B0600070205080204" pitchFamily="34" charset="-128"/>
            </a:endParaRP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9295FE5-3E8D-4DCD-8266-FA7163B793BC}" type="slidenum">
              <a:rPr lang="en-US" sz="1200">
                <a:latin typeface="Calibri" panose="020F0502020204030204" pitchFamily="34" charset="0"/>
              </a:rPr>
              <a:pPr/>
              <a:t>33</a:t>
            </a:fld>
            <a:endParaRPr lang="en-US" sz="120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0414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2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47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598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14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79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353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91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362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194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26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42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35D2B-F802-45D0-AA29-CBCD031342F7}" type="datetimeFigureOut">
              <a:rPr lang="en-IN" smtClean="0"/>
              <a:t>06-01-2020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5ED93-6275-4071-931D-1E5F7E7E1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771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3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351" y="0"/>
            <a:ext cx="122393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4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1344304" y="152400"/>
            <a:ext cx="82296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Helvetica" panose="020B0604020202020204" pitchFamily="34" charset="0"/>
              </a:rPr>
              <a:t>Why Recommender?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3" name="Picture 4" descr="Gravity_slides_980x430_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104" y="1246188"/>
            <a:ext cx="9144000" cy="401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5"/>
          <p:cNvSpPr txBox="1">
            <a:spLocks noChangeArrowheads="1"/>
          </p:cNvSpPr>
          <p:nvPr/>
        </p:nvSpPr>
        <p:spPr bwMode="auto">
          <a:xfrm>
            <a:off x="1268104" y="5562600"/>
            <a:ext cx="8382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/>
              <a:t>“</a:t>
            </a:r>
            <a:r>
              <a:rPr lang="en-US" sz="1800"/>
              <a:t>We are leaving the age of information and entering the age of recommendation.</a:t>
            </a:r>
            <a:r>
              <a:rPr lang="en-US" altLang="en-US" sz="1800"/>
              <a:t>”</a:t>
            </a:r>
            <a:endParaRPr lang="en-US" sz="1800"/>
          </a:p>
          <a:p>
            <a:endParaRPr lang="en-US" sz="1600"/>
          </a:p>
          <a:p>
            <a:pPr algn="r"/>
            <a:r>
              <a:rPr lang="en-US" sz="1600"/>
              <a:t>——  Chris Anderson in </a:t>
            </a:r>
            <a:r>
              <a:rPr lang="en-US" altLang="en-US" sz="1600"/>
              <a:t>“</a:t>
            </a:r>
            <a:r>
              <a:rPr lang="en-US" sz="1600"/>
              <a:t>The Long Tail</a:t>
            </a:r>
            <a:r>
              <a:rPr lang="en-US" altLang="en-US" sz="1600"/>
              <a:t>”</a:t>
            </a:r>
            <a:endParaRPr lang="en-US" sz="1600"/>
          </a:p>
        </p:txBody>
      </p:sp>
      <p:sp>
        <p:nvSpPr>
          <p:cNvPr id="5" name="TextBox 4"/>
          <p:cNvSpPr txBox="1"/>
          <p:nvPr/>
        </p:nvSpPr>
        <p:spPr>
          <a:xfrm>
            <a:off x="2411104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Picture from: https://encrypted-tbn1.gstatic.com/</a:t>
            </a:r>
            <a:r>
              <a:rPr lang="en-US" sz="900" dirty="0" err="1">
                <a:solidFill>
                  <a:schemeClr val="bg1">
                    <a:lumMod val="50000"/>
                  </a:schemeClr>
                </a:solidFill>
              </a:rPr>
              <a:t>images?q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=tbn:ANd9GcTON_H3eMI4LSCvtrzSWK8beYhtXs_z70NwAYYA2sQCsjMssEsD </a:t>
            </a:r>
          </a:p>
        </p:txBody>
      </p:sp>
    </p:spTree>
    <p:extLst>
      <p:ext uri="{BB962C8B-B14F-4D97-AF65-F5344CB8AC3E}">
        <p14:creationId xmlns:p14="http://schemas.microsoft.com/office/powerpoint/2010/main" val="135067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Helvetica" panose="020B0604020202020204" pitchFamily="34" charset="0"/>
              </a:rPr>
              <a:t>The Age of Recommendation</a:t>
            </a:r>
            <a:endParaRPr lang="en-US">
              <a:latin typeface="Cambria" panose="02040503050406030204" pitchFamily="18" charset="0"/>
            </a:endParaRPr>
          </a:p>
        </p:txBody>
      </p:sp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457200" y="1295400"/>
            <a:ext cx="5956300" cy="5376863"/>
            <a:chOff x="1676400" y="1295400"/>
            <a:chExt cx="5956906" cy="5376126"/>
          </a:xfrm>
        </p:grpSpPr>
        <p:pic>
          <p:nvPicPr>
            <p:cNvPr id="4" name="Picture 2" descr="showcase2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1295400"/>
              <a:ext cx="5715000" cy="4864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Isosceles Triangle 4"/>
            <p:cNvSpPr/>
            <p:nvPr/>
          </p:nvSpPr>
          <p:spPr bwMode="auto">
            <a:xfrm rot="1942812">
              <a:off x="6572748" y="4868373"/>
              <a:ext cx="1060558" cy="1803153"/>
            </a:xfrm>
            <a:prstGeom prst="triangle">
              <a:avLst/>
            </a:prstGeom>
            <a:solidFill>
              <a:schemeClr val="bg1"/>
            </a:solidFill>
            <a:ln w="12700" cap="sq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1600" dirty="0">
                <a:solidFill>
                  <a:schemeClr val="bg1"/>
                </a:solidFill>
                <a:latin typeface="+mn-lt"/>
                <a:ea typeface="ＭＳ Ｐゴシック" charset="0"/>
                <a:cs typeface="Arial" charset="0"/>
              </a:endParaRPr>
            </a:p>
          </p:txBody>
        </p:sp>
      </p:grp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6857020" y="1295400"/>
            <a:ext cx="2743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u="sng" dirty="0"/>
              <a:t>Search: </a:t>
            </a:r>
          </a:p>
          <a:p>
            <a:endParaRPr lang="en-US" dirty="0"/>
          </a:p>
          <a:p>
            <a:r>
              <a:rPr lang="en-US" dirty="0"/>
              <a:t>User          Items</a:t>
            </a:r>
          </a:p>
          <a:p>
            <a:endParaRPr lang="en-US" dirty="0"/>
          </a:p>
          <a:p>
            <a:r>
              <a:rPr lang="en-US" u="sng" dirty="0"/>
              <a:t>Recommend:</a:t>
            </a:r>
          </a:p>
          <a:p>
            <a:endParaRPr lang="en-US" dirty="0"/>
          </a:p>
          <a:p>
            <a:r>
              <a:rPr lang="en-US" dirty="0"/>
              <a:t>Items         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Picture from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: http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insidebigdata.com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wp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-content/uploads/2014/06/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Humor_recommender.jpg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8" name="Right Arrow 7"/>
          <p:cNvSpPr/>
          <p:nvPr/>
        </p:nvSpPr>
        <p:spPr bwMode="auto">
          <a:xfrm>
            <a:off x="7765576" y="2036100"/>
            <a:ext cx="533400" cy="484187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sq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ＭＳ Ｐゴシック" charset="0"/>
              <a:cs typeface="Arial" charset="0"/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7841776" y="3510887"/>
            <a:ext cx="533400" cy="484188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sq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sz="1600" dirty="0">
              <a:solidFill>
                <a:schemeClr val="bg1"/>
              </a:solidFill>
              <a:latin typeface="+mn-lt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07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457200" y="152400"/>
            <a:ext cx="8229600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>
                <a:latin typeface="Helvetica" panose="020B0604020202020204" pitchFamily="34" charset="0"/>
              </a:rPr>
              <a:t>Amazon: A personalized online store</a:t>
            </a:r>
            <a:endParaRPr lang="en-US">
              <a:latin typeface="Cambria" panose="02040503050406030204" pitchFamily="18" charset="0"/>
            </a:endParaRP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813" y="1828800"/>
            <a:ext cx="815975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amazon.com</a:t>
            </a:r>
          </a:p>
        </p:txBody>
      </p:sp>
    </p:spTree>
    <p:extLst>
      <p:ext uri="{BB962C8B-B14F-4D97-AF65-F5344CB8AC3E}">
        <p14:creationId xmlns:p14="http://schemas.microsoft.com/office/powerpoint/2010/main" val="172540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 txBox="1">
            <a:spLocks/>
          </p:cNvSpPr>
          <p:nvPr/>
        </p:nvSpPr>
        <p:spPr>
          <a:xfrm>
            <a:off x="457200" y="152400"/>
            <a:ext cx="10051576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>
                <a:latin typeface="Helvetica" panose="020B0604020202020204" pitchFamily="34" charset="0"/>
              </a:rPr>
              <a:t>Amazon: A personalized online store</a:t>
            </a:r>
            <a:endParaRPr lang="en-US" dirty="0">
              <a:latin typeface="Cambria" panose="02040503050406030204" pitchFamily="18" charset="0"/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039813"/>
            <a:ext cx="7580313" cy="528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amazon.com</a:t>
            </a:r>
          </a:p>
        </p:txBody>
      </p:sp>
    </p:spTree>
    <p:extLst>
      <p:ext uri="{BB962C8B-B14F-4D97-AF65-F5344CB8AC3E}">
        <p14:creationId xmlns:p14="http://schemas.microsoft.com/office/powerpoint/2010/main" val="3475831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Recommender Problem 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2530" name="Content Placeholder 4"/>
          <p:cNvSpPr>
            <a:spLocks noGrp="1"/>
          </p:cNvSpPr>
          <p:nvPr>
            <p:ph idx="1"/>
          </p:nvPr>
        </p:nvSpPr>
        <p:spPr>
          <a:xfrm>
            <a:off x="838200" y="1583140"/>
            <a:ext cx="9372600" cy="5046260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sz="2000" b="1" dirty="0">
                <a:latin typeface="Cambria" panose="02040503050406030204" pitchFamily="18" charset="0"/>
              </a:rPr>
              <a:t>A good recommender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Show programming titles to a software engineer and baby toys to a new mother. 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Don</a:t>
            </a:r>
            <a:r>
              <a:rPr lang="en-US" altLang="en-US" sz="1800" dirty="0">
                <a:latin typeface="Helvetica" panose="020B0604020202020204" pitchFamily="34" charset="0"/>
              </a:rPr>
              <a:t>’</a:t>
            </a:r>
            <a:r>
              <a:rPr lang="en-US" sz="1800" dirty="0">
                <a:latin typeface="Helvetica" panose="020B0604020202020204" pitchFamily="34" charset="0"/>
              </a:rPr>
              <a:t>t recommend items user already knows or would find anyway.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Expand user</a:t>
            </a:r>
            <a:r>
              <a:rPr lang="en-US" altLang="en-US" sz="1800" dirty="0">
                <a:latin typeface="Helvetica" panose="020B0604020202020204" pitchFamily="34" charset="0"/>
              </a:rPr>
              <a:t>’</a:t>
            </a:r>
            <a:r>
              <a:rPr lang="en-US" sz="1800" dirty="0">
                <a:latin typeface="Helvetica" panose="020B0604020202020204" pitchFamily="34" charset="0"/>
              </a:rPr>
              <a:t>s taste without offending or annoying him/her…</a:t>
            </a:r>
          </a:p>
          <a:p>
            <a:endParaRPr lang="en-US" sz="1800" dirty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000" b="1" dirty="0">
                <a:latin typeface="Cambria" panose="02040503050406030204" pitchFamily="18" charset="0"/>
              </a:rPr>
              <a:t>Challenges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Huge amounts of data, tens of millions of customers and millions of distinct catalog items. 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Results are required to be returned in real time.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New customers have limited information.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Old customers can have a glut of information.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Customer data is volatile.</a:t>
            </a:r>
          </a:p>
        </p:txBody>
      </p:sp>
      <p:sp>
        <p:nvSpPr>
          <p:cNvPr id="22531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D769433-E4D1-428E-A692-1CEA380645BE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6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061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Amazon</a:t>
            </a:r>
            <a:r>
              <a:rPr lang="en-US" altLang="en-US" smtClean="0">
                <a:latin typeface="Helvetica" panose="020B0604020202020204" pitchFamily="34" charset="0"/>
              </a:rPr>
              <a:t>’</a:t>
            </a:r>
            <a:r>
              <a:rPr lang="en-US" smtClean="0">
                <a:latin typeface="Helvetica" panose="020B0604020202020204" pitchFamily="34" charset="0"/>
              </a:rPr>
              <a:t>s solution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3554" name="Content Placeholder 4"/>
          <p:cNvSpPr>
            <a:spLocks noGrp="1"/>
          </p:cNvSpPr>
          <p:nvPr>
            <p:ph idx="1"/>
          </p:nvPr>
        </p:nvSpPr>
        <p:spPr>
          <a:xfrm>
            <a:off x="982639" y="1473958"/>
            <a:ext cx="9228161" cy="4926842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sz="1600" b="1" dirty="0">
                <a:latin typeface="Cambria" panose="02040503050406030204" pitchFamily="18" charset="0"/>
              </a:rPr>
              <a:t>1.  Amazon Recommendation Engine</a:t>
            </a:r>
            <a:endParaRPr lang="en-US" sz="1600" dirty="0">
              <a:latin typeface="Cambria" panose="02040503050406030204" pitchFamily="18" charset="0"/>
            </a:endParaRPr>
          </a:p>
          <a:p>
            <a:r>
              <a:rPr lang="en-US" sz="1400" dirty="0">
                <a:latin typeface="Helvetica" panose="020B0604020202020204" pitchFamily="34" charset="0"/>
              </a:rPr>
              <a:t>Amazon</a:t>
            </a:r>
            <a:r>
              <a:rPr lang="en-US" altLang="en-US" sz="1400" dirty="0">
                <a:latin typeface="Helvetica" panose="020B0604020202020204" pitchFamily="34" charset="0"/>
              </a:rPr>
              <a:t>’</a:t>
            </a:r>
            <a:r>
              <a:rPr lang="en-US" sz="1400" dirty="0">
                <a:latin typeface="Helvetica" panose="020B0604020202020204" pitchFamily="34" charset="0"/>
              </a:rPr>
              <a:t>s model that implements recommendation algorithm.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Recommendation algorithm is designed to personalize the online store for each customer.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Cambria" panose="02040503050406030204" pitchFamily="18" charset="0"/>
              </a:rPr>
              <a:t>2</a:t>
            </a:r>
            <a:r>
              <a:rPr lang="en-US" sz="1600" dirty="0">
                <a:latin typeface="Cambria" panose="02040503050406030204" pitchFamily="18" charset="0"/>
              </a:rPr>
              <a:t>.  </a:t>
            </a:r>
            <a:r>
              <a:rPr lang="en-US" sz="1600" b="1" dirty="0">
                <a:latin typeface="Cambria" panose="02040503050406030204" pitchFamily="18" charset="0"/>
              </a:rPr>
              <a:t>Algorithm feature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Most recommendation algorithms start by finding a set of similar customers whose purchased and rated items overlap the user</a:t>
            </a:r>
            <a:r>
              <a:rPr lang="en-US" altLang="en-US" sz="1400" dirty="0">
                <a:latin typeface="Helvetica" panose="020B0604020202020204" pitchFamily="34" charset="0"/>
              </a:rPr>
              <a:t>’</a:t>
            </a:r>
            <a:r>
              <a:rPr lang="en-US" sz="1400" dirty="0">
                <a:latin typeface="Helvetica" panose="020B0604020202020204" pitchFamily="34" charset="0"/>
              </a:rPr>
              <a:t>s purchased and rated items.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The Amazon</a:t>
            </a:r>
            <a:r>
              <a:rPr lang="en-US" altLang="en-US" sz="1400" dirty="0">
                <a:latin typeface="Helvetica" panose="020B0604020202020204" pitchFamily="34" charset="0"/>
              </a:rPr>
              <a:t>’</a:t>
            </a:r>
            <a:r>
              <a:rPr lang="en-US" sz="1400" dirty="0">
                <a:latin typeface="Helvetica" panose="020B0604020202020204" pitchFamily="34" charset="0"/>
              </a:rPr>
              <a:t>s item-to-item collaborative filtering is focusing on finding similar items instead of similar customers. </a:t>
            </a:r>
            <a:endParaRPr lang="en-US" sz="1600" b="1" dirty="0">
              <a:latin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Cambria" panose="02040503050406030204" pitchFamily="18" charset="0"/>
              </a:rPr>
              <a:t>3. Recommendation Engine Workflow</a:t>
            </a:r>
          </a:p>
          <a:p>
            <a:endParaRPr lang="en-US" sz="1600" dirty="0">
              <a:latin typeface="Helvetica" panose="020B0604020202020204" pitchFamily="34" charset="0"/>
            </a:endParaRPr>
          </a:p>
        </p:txBody>
      </p:sp>
      <p:pic>
        <p:nvPicPr>
          <p:cNvPr id="2355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810001"/>
            <a:ext cx="3962400" cy="269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6A7CB2-5DE6-4481-A36D-D0F951B7F921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7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http://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elico.rapid-i.com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/recommender-</a:t>
            </a:r>
            <a:r>
              <a:rPr lang="en-US" sz="1600" dirty="0" err="1">
                <a:solidFill>
                  <a:schemeClr val="bg1">
                    <a:lumMod val="50000"/>
                  </a:schemeClr>
                </a:solidFill>
              </a:rPr>
              <a:t>extension.html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005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53F2C13-778D-4BA6-B8F8-684B019EE371}" type="slidenum">
              <a:rPr lang="en-US" sz="1200">
                <a:latin typeface="Helvetica" panose="020B0604020202020204" pitchFamily="34" charset="0"/>
              </a:rPr>
              <a:pPr eaLnBrk="1" hangingPunct="1"/>
              <a:t>8</a:t>
            </a:fld>
            <a:endParaRPr lang="en-US" sz="120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Personalization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924800" cy="4687888"/>
          </a:xfrm>
        </p:spPr>
        <p:txBody>
          <a:bodyPr/>
          <a:lstStyle/>
          <a:p>
            <a:pPr eaLnBrk="1" hangingPunct="1"/>
            <a:r>
              <a:rPr lang="en-US"/>
              <a:t>Recommenders are instances of personalization software.</a:t>
            </a:r>
          </a:p>
          <a:p>
            <a:pPr eaLnBrk="1" hangingPunct="1"/>
            <a:r>
              <a:rPr lang="en-US"/>
              <a:t>Personalization concerns adapting to the individual needs, interests, and preferences of each user.</a:t>
            </a:r>
          </a:p>
          <a:p>
            <a:pPr eaLnBrk="1" hangingPunct="1"/>
            <a:r>
              <a:rPr lang="en-US"/>
              <a:t>Includes:</a:t>
            </a:r>
          </a:p>
          <a:p>
            <a:pPr lvl="1" eaLnBrk="1" hangingPunct="1"/>
            <a:r>
              <a:rPr lang="en-US"/>
              <a:t>Recommending</a:t>
            </a:r>
          </a:p>
          <a:p>
            <a:pPr lvl="1" eaLnBrk="1" hangingPunct="1"/>
            <a:r>
              <a:rPr lang="en-US"/>
              <a:t>Filtering</a:t>
            </a:r>
          </a:p>
          <a:p>
            <a:pPr lvl="1" eaLnBrk="1" hangingPunct="1"/>
            <a:r>
              <a:rPr lang="en-US"/>
              <a:t>Predicting </a:t>
            </a:r>
            <a:r>
              <a:rPr lang="en-US" sz="2000">
                <a:solidFill>
                  <a:schemeClr val="accent1"/>
                </a:solidFill>
              </a:rPr>
              <a:t>(e.g. form or calendar appt. completion)</a:t>
            </a:r>
          </a:p>
          <a:p>
            <a:pPr eaLnBrk="1" hangingPunct="1"/>
            <a:r>
              <a:rPr lang="en-US"/>
              <a:t>From a business perspective, it is viewed as part of Customer Relationship Management (CRM).</a:t>
            </a:r>
          </a:p>
        </p:txBody>
      </p:sp>
    </p:spTree>
    <p:extLst>
      <p:ext uri="{BB962C8B-B14F-4D97-AF65-F5344CB8AC3E}">
        <p14:creationId xmlns:p14="http://schemas.microsoft.com/office/powerpoint/2010/main" val="3527442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488C71A-8C20-4682-ACAA-E91697A981C1}" type="slidenum">
              <a:rPr lang="en-US" sz="1200">
                <a:latin typeface="Helvetica" panose="020B0604020202020204" pitchFamily="34" charset="0"/>
              </a:rPr>
              <a:pPr eaLnBrk="1" hangingPunct="1"/>
              <a:t>9</a:t>
            </a:fld>
            <a:endParaRPr lang="en-US" sz="120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Machine Learning and Personalization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Machine Learning can allow learning a </a:t>
            </a:r>
            <a:r>
              <a:rPr lang="en-US" i="1" smtClean="0">
                <a:solidFill>
                  <a:srgbClr val="FF0000"/>
                </a:solidFill>
              </a:rPr>
              <a:t>user model</a:t>
            </a:r>
            <a:r>
              <a:rPr lang="en-US" smtClean="0"/>
              <a:t> or </a:t>
            </a:r>
            <a:r>
              <a:rPr lang="en-US" i="1" smtClean="0">
                <a:solidFill>
                  <a:srgbClr val="FF0000"/>
                </a:solidFill>
              </a:rPr>
              <a:t>profile</a:t>
            </a:r>
            <a:r>
              <a:rPr lang="en-US" smtClean="0"/>
              <a:t> of a particular user based 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Sample interaction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Rated examples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This model or profile can then be used to: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Recommend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Filter information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Predict behavior</a:t>
            </a:r>
          </a:p>
        </p:txBody>
      </p:sp>
    </p:spTree>
    <p:extLst>
      <p:ext uri="{BB962C8B-B14F-4D97-AF65-F5344CB8AC3E}">
        <p14:creationId xmlns:p14="http://schemas.microsoft.com/office/powerpoint/2010/main" val="2848969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D2B7695-CE42-4439-90BA-3FDE589F9DBB}" type="slidenum">
              <a:rPr lang="en-US" sz="1200">
                <a:latin typeface="Helvetica" panose="020B0604020202020204" pitchFamily="34" charset="0"/>
              </a:rPr>
              <a:pPr eaLnBrk="1" hangingPunct="1"/>
              <a:t>10</a:t>
            </a:fld>
            <a:endParaRPr lang="en-US" sz="120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Collaborative Filtering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Maintain a database of many users’ ratings of a variety of items.</a:t>
            </a:r>
          </a:p>
          <a:p>
            <a:pPr eaLnBrk="1" hangingPunct="1"/>
            <a:r>
              <a:rPr lang="en-US"/>
              <a:t>For a given user, find other similar users whose ratings strongly correlate with the current user.</a:t>
            </a:r>
          </a:p>
          <a:p>
            <a:pPr eaLnBrk="1" hangingPunct="1"/>
            <a:r>
              <a:rPr lang="en-US"/>
              <a:t>Recommend items rated highly by these similar users, but not rated by the current user.</a:t>
            </a:r>
          </a:p>
          <a:p>
            <a:pPr eaLnBrk="1" hangingPunct="1"/>
            <a:r>
              <a:rPr lang="en-US"/>
              <a:t>Almost all existing commercial recommenders use this approach (e.g. Amazon).</a:t>
            </a:r>
          </a:p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6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3B90184-67A0-4747-BE7D-1FBBE6DA347A}" type="slidenum">
              <a:rPr lang="en-US" sz="1200">
                <a:latin typeface="Helvetica" panose="020B0604020202020204" pitchFamily="34" charset="0"/>
              </a:rPr>
              <a:pPr eaLnBrk="1" hangingPunct="1"/>
              <a:t>11</a:t>
            </a:fld>
            <a:endParaRPr lang="en-US" sz="120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Collaborative Filtering Method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Weight all users with respect to similarity with the active user.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Select a subset of the users (</a:t>
            </a:r>
            <a:r>
              <a:rPr lang="en-US" i="1" smtClean="0"/>
              <a:t>neighbors</a:t>
            </a:r>
            <a:r>
              <a:rPr lang="en-US" smtClean="0"/>
              <a:t>) to use as predictors.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Normalize ratings and compute a prediction from a weighted combination of the selected neighbors’ ratings.</a:t>
            </a:r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Present items with highest predicted ratings as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96170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B7F43939-532C-4193-9523-8555C168C001}" type="slidenum">
              <a:rPr lang="en-US" sz="1200">
                <a:latin typeface="Helvetica" panose="020B0604020202020204" pitchFamily="34" charset="0"/>
              </a:rPr>
              <a:pPr eaLnBrk="1" hangingPunct="1"/>
              <a:t>12</a:t>
            </a:fld>
            <a:endParaRPr lang="en-US" sz="120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Similarity Weighting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229600" cy="4687888"/>
          </a:xfrm>
        </p:spPr>
        <p:txBody>
          <a:bodyPr/>
          <a:lstStyle/>
          <a:p>
            <a:pPr eaLnBrk="1" hangingPunct="1"/>
            <a:r>
              <a:rPr lang="en-US"/>
              <a:t>Typically use Pearson correlation coefficient between ratings for active user, </a:t>
            </a:r>
            <a:r>
              <a:rPr lang="en-US" i="1"/>
              <a:t>a</a:t>
            </a:r>
            <a:r>
              <a:rPr lang="en-US"/>
              <a:t>, and another user, </a:t>
            </a:r>
            <a:r>
              <a:rPr lang="en-US" i="1"/>
              <a:t>u</a:t>
            </a:r>
            <a:r>
              <a:rPr lang="en-US"/>
              <a:t>.</a:t>
            </a:r>
          </a:p>
          <a:p>
            <a:pPr eaLnBrk="1" hangingPunct="1"/>
            <a:endParaRPr lang="en-US"/>
          </a:p>
          <a:p>
            <a:pPr eaLnBrk="1" hangingPunct="1"/>
            <a:endParaRPr lang="en-US"/>
          </a:p>
          <a:p>
            <a:pPr eaLnBrk="1" hangingPunct="1"/>
            <a:endParaRPr lang="en-US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4375150" y="2438401"/>
          <a:ext cx="2908300" cy="1147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1155600" imgH="457200" progId="Equation.3">
                  <p:embed/>
                </p:oleObj>
              </mc:Choice>
              <mc:Fallback>
                <p:oleObj name="Equation" r:id="rId3" imgW="11556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5150" y="2438401"/>
                        <a:ext cx="2908300" cy="1147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Text Box 5"/>
          <p:cNvSpPr txBox="1">
            <a:spLocks noChangeArrowheads="1"/>
          </p:cNvSpPr>
          <p:nvPr/>
        </p:nvSpPr>
        <p:spPr bwMode="auto">
          <a:xfrm>
            <a:off x="2590800" y="3657600"/>
            <a:ext cx="7116348" cy="1571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eaLnBrk="1" hangingPunct="1"/>
            <a:r>
              <a:rPr lang="en-US" sz="2400" i="1"/>
              <a:t>r</a:t>
            </a:r>
            <a:r>
              <a:rPr lang="en-US" sz="2400" i="1" baseline="-25000"/>
              <a:t>a  </a:t>
            </a:r>
            <a:r>
              <a:rPr lang="en-US" sz="2400"/>
              <a:t>and </a:t>
            </a:r>
            <a:r>
              <a:rPr lang="en-US" sz="2400" i="1"/>
              <a:t>r</a:t>
            </a:r>
            <a:r>
              <a:rPr lang="en-US" sz="2400" i="1" baseline="-25000"/>
              <a:t>u</a:t>
            </a:r>
            <a:r>
              <a:rPr lang="en-US" sz="2400"/>
              <a:t> are the ratings vectors for the </a:t>
            </a:r>
            <a:r>
              <a:rPr lang="en-US" sz="2400" i="1"/>
              <a:t>m</a:t>
            </a:r>
            <a:r>
              <a:rPr lang="en-US" sz="2400"/>
              <a:t> items rated by </a:t>
            </a:r>
          </a:p>
          <a:p>
            <a:pPr algn="l" eaLnBrk="1" hangingPunct="1"/>
            <a:r>
              <a:rPr lang="en-US" sz="2400"/>
              <a:t>       </a:t>
            </a:r>
            <a:r>
              <a:rPr lang="en-US" sz="2400" b="1"/>
              <a:t>both</a:t>
            </a:r>
            <a:r>
              <a:rPr lang="en-US" sz="2400"/>
              <a:t> </a:t>
            </a:r>
            <a:r>
              <a:rPr lang="en-US" sz="2400" i="1"/>
              <a:t>a</a:t>
            </a:r>
            <a:r>
              <a:rPr lang="en-US" sz="2400"/>
              <a:t> and </a:t>
            </a:r>
            <a:r>
              <a:rPr lang="en-US" sz="2400" i="1"/>
              <a:t>u</a:t>
            </a:r>
            <a:r>
              <a:rPr lang="en-US" sz="2400"/>
              <a:t> </a:t>
            </a:r>
          </a:p>
          <a:p>
            <a:pPr algn="l" eaLnBrk="1" hangingPunct="1"/>
            <a:endParaRPr lang="en-US" sz="2400"/>
          </a:p>
          <a:p>
            <a:pPr algn="l" eaLnBrk="1" hangingPunct="1"/>
            <a:r>
              <a:rPr lang="en-US" sz="2400" i="1"/>
              <a:t>r</a:t>
            </a:r>
            <a:r>
              <a:rPr lang="en-US" sz="2400" i="1" baseline="-25000"/>
              <a:t>i,j</a:t>
            </a:r>
            <a:r>
              <a:rPr lang="en-US" sz="2400"/>
              <a:t> is user </a:t>
            </a:r>
            <a:r>
              <a:rPr lang="en-US" sz="2400" i="1"/>
              <a:t>i</a:t>
            </a:r>
            <a:r>
              <a:rPr lang="en-US" sz="2400"/>
              <a:t>’s rating for item </a:t>
            </a:r>
            <a:r>
              <a:rPr lang="en-US" sz="2400" i="1"/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61756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5F9D334-6375-4596-B8D3-916651CC9799}" type="slidenum">
              <a:rPr lang="en-US" sz="1200">
                <a:latin typeface="Helvetica" panose="020B0604020202020204" pitchFamily="34" charset="0"/>
              </a:rPr>
              <a:pPr eaLnBrk="1" hangingPunct="1"/>
              <a:t>13</a:t>
            </a:fld>
            <a:endParaRPr lang="en-US" sz="1200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Covariance and Standard Deviation</a:t>
            </a:r>
          </a:p>
        </p:txBody>
      </p:sp>
      <p:sp>
        <p:nvSpPr>
          <p:cNvPr id="20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Covariance: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Standard Deviation: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3581400" y="1676400"/>
          <a:ext cx="4114800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158920" imgH="609480" progId="Equation.3">
                  <p:embed/>
                </p:oleObj>
              </mc:Choice>
              <mc:Fallback>
                <p:oleObj name="Equation" r:id="rId3" imgW="215892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676400"/>
                        <a:ext cx="4114800" cy="1162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6"/>
          <p:cNvGraphicFramePr>
            <a:graphicFrameLocks noChangeAspect="1"/>
          </p:cNvGraphicFramePr>
          <p:nvPr/>
        </p:nvGraphicFramePr>
        <p:xfrm>
          <a:off x="4724400" y="2895600"/>
          <a:ext cx="1257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685800" imgH="609480" progId="Equation.3">
                  <p:embed/>
                </p:oleObj>
              </mc:Choice>
              <mc:Fallback>
                <p:oleObj name="Equation" r:id="rId5" imgW="68580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0" y="2895600"/>
                        <a:ext cx="12573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7"/>
          <p:cNvGraphicFramePr>
            <a:graphicFrameLocks noChangeAspect="1"/>
          </p:cNvGraphicFramePr>
          <p:nvPr/>
        </p:nvGraphicFramePr>
        <p:xfrm>
          <a:off x="4114800" y="4953001"/>
          <a:ext cx="2438400" cy="1243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7" imgW="1295280" imgH="660240" progId="Equation.3">
                  <p:embed/>
                </p:oleObj>
              </mc:Choice>
              <mc:Fallback>
                <p:oleObj name="Equation" r:id="rId7" imgW="1295280" imgH="660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53001"/>
                        <a:ext cx="2438400" cy="1243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5081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85DFBDA-A60C-490D-867B-8F482DFFABED}" type="slidenum">
              <a:rPr lang="en-US" sz="1200">
                <a:latin typeface="Helvetica" panose="020B0604020202020204" pitchFamily="34" charset="0"/>
              </a:rPr>
              <a:pPr eaLnBrk="1" hangingPunct="1"/>
              <a:t>14</a:t>
            </a:fld>
            <a:endParaRPr lang="en-US" sz="12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Significance Weighting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Important not to trust correlations based on very few co-rated items.</a:t>
            </a:r>
          </a:p>
          <a:p>
            <a:pPr eaLnBrk="1" hangingPunct="1"/>
            <a:r>
              <a:rPr lang="en-US" smtClean="0"/>
              <a:t>Include </a:t>
            </a:r>
            <a:r>
              <a:rPr lang="en-US" i="1" smtClean="0"/>
              <a:t>significance weights</a:t>
            </a:r>
            <a:r>
              <a:rPr lang="en-US" smtClean="0"/>
              <a:t>, </a:t>
            </a:r>
            <a:r>
              <a:rPr lang="en-US" i="1" smtClean="0"/>
              <a:t>s</a:t>
            </a:r>
            <a:r>
              <a:rPr lang="en-US" i="1" baseline="-25000" smtClean="0"/>
              <a:t>a,u</a:t>
            </a:r>
            <a:r>
              <a:rPr lang="en-US" smtClean="0"/>
              <a:t>, based on number of co-rated items, </a:t>
            </a:r>
            <a:r>
              <a:rPr lang="en-US" i="1" smtClean="0"/>
              <a:t>m</a:t>
            </a:r>
            <a:r>
              <a:rPr lang="en-US" smtClean="0"/>
              <a:t>.</a:t>
            </a:r>
          </a:p>
        </p:txBody>
      </p:sp>
      <p:graphicFrame>
        <p:nvGraphicFramePr>
          <p:cNvPr id="3074" name="Object 6"/>
          <p:cNvGraphicFramePr>
            <a:graphicFrameLocks noChangeAspect="1"/>
          </p:cNvGraphicFramePr>
          <p:nvPr/>
        </p:nvGraphicFramePr>
        <p:xfrm>
          <a:off x="4910139" y="3505200"/>
          <a:ext cx="221773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825480" imgH="241200" progId="Equation.3">
                  <p:embed/>
                </p:oleObj>
              </mc:Choice>
              <mc:Fallback>
                <p:oleObj name="Equation" r:id="rId3" imgW="82548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9" y="3505200"/>
                        <a:ext cx="2217737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9"/>
          <p:cNvGraphicFramePr>
            <a:graphicFrameLocks noChangeAspect="1"/>
          </p:cNvGraphicFramePr>
          <p:nvPr/>
        </p:nvGraphicFramePr>
        <p:xfrm>
          <a:off x="4876800" y="4267200"/>
          <a:ext cx="2971800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307880" imgH="558720" progId="Equation.3">
                  <p:embed/>
                </p:oleObj>
              </mc:Choice>
              <mc:Fallback>
                <p:oleObj name="Equation" r:id="rId5" imgW="130788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267200"/>
                        <a:ext cx="2971800" cy="1270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53328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7800DB76-2804-4D3C-8ABA-12CEB9DF2FD3}" type="slidenum">
              <a:rPr lang="en-US" sz="1200">
                <a:latin typeface="Helvetica" panose="020B0604020202020204" pitchFamily="34" charset="0"/>
              </a:rPr>
              <a:pPr eaLnBrk="1" hangingPunct="1"/>
              <a:t>15</a:t>
            </a:fld>
            <a:endParaRPr lang="en-US" sz="1200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Neighbor Selection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a given active user, </a:t>
            </a:r>
            <a:r>
              <a:rPr lang="en-US" i="1" smtClean="0"/>
              <a:t>a</a:t>
            </a:r>
            <a:r>
              <a:rPr lang="en-US" smtClean="0"/>
              <a:t>, select correlated users to serve as source of predictions.</a:t>
            </a:r>
          </a:p>
          <a:p>
            <a:pPr eaLnBrk="1" hangingPunct="1"/>
            <a:r>
              <a:rPr lang="en-US" smtClean="0"/>
              <a:t>Standard approach is to use the most similar </a:t>
            </a:r>
            <a:r>
              <a:rPr lang="en-US" i="1" smtClean="0"/>
              <a:t>n</a:t>
            </a:r>
            <a:r>
              <a:rPr lang="en-US" smtClean="0"/>
              <a:t> users, </a:t>
            </a:r>
            <a:r>
              <a:rPr lang="en-US" i="1" smtClean="0"/>
              <a:t>u</a:t>
            </a:r>
            <a:r>
              <a:rPr lang="en-US" smtClean="0"/>
              <a:t>, based on similarity weights, </a:t>
            </a:r>
            <a:r>
              <a:rPr lang="en-US" i="1" smtClean="0"/>
              <a:t>w</a:t>
            </a:r>
            <a:r>
              <a:rPr lang="en-US" i="1" baseline="-25000" smtClean="0"/>
              <a:t>a,u   </a:t>
            </a:r>
            <a:r>
              <a:rPr lang="en-US" smtClean="0"/>
              <a:t> </a:t>
            </a:r>
          </a:p>
          <a:p>
            <a:pPr eaLnBrk="1" hangingPunct="1"/>
            <a:r>
              <a:rPr lang="en-US" smtClean="0"/>
              <a:t>Alternate approach is to include all users whose similarity weight is above a given threshold.</a:t>
            </a:r>
          </a:p>
        </p:txBody>
      </p:sp>
    </p:spTree>
    <p:extLst>
      <p:ext uri="{BB962C8B-B14F-4D97-AF65-F5344CB8AC3E}">
        <p14:creationId xmlns:p14="http://schemas.microsoft.com/office/powerpoint/2010/main" val="2091501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EE101743-17D4-4E9B-BCE2-21831A00A6C3}" type="slidenum">
              <a:rPr lang="en-US" sz="1200">
                <a:latin typeface="Helvetica" panose="020B0604020202020204" pitchFamily="34" charset="0"/>
              </a:rPr>
              <a:pPr eaLnBrk="1" hangingPunct="1"/>
              <a:t>16</a:t>
            </a:fld>
            <a:endParaRPr lang="en-US" sz="1200"/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Rating Prediction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295400"/>
            <a:ext cx="8534400" cy="4687888"/>
          </a:xfrm>
        </p:spPr>
        <p:txBody>
          <a:bodyPr/>
          <a:lstStyle/>
          <a:p>
            <a:pPr eaLnBrk="1" hangingPunct="1"/>
            <a:r>
              <a:rPr lang="en-US"/>
              <a:t>Predict a rating, </a:t>
            </a:r>
            <a:r>
              <a:rPr lang="en-US" i="1"/>
              <a:t>p</a:t>
            </a:r>
            <a:r>
              <a:rPr lang="en-US" i="1" baseline="-25000"/>
              <a:t>a,i</a:t>
            </a:r>
            <a:r>
              <a:rPr lang="en-US"/>
              <a:t>, for each item </a:t>
            </a:r>
            <a:r>
              <a:rPr lang="en-US" i="1"/>
              <a:t>i</a:t>
            </a:r>
            <a:r>
              <a:rPr lang="en-US"/>
              <a:t>, for active user, </a:t>
            </a:r>
            <a:r>
              <a:rPr lang="en-US" i="1"/>
              <a:t>a</a:t>
            </a:r>
            <a:r>
              <a:rPr lang="en-US"/>
              <a:t>, by using the </a:t>
            </a:r>
            <a:r>
              <a:rPr lang="en-US" i="1"/>
              <a:t>n</a:t>
            </a:r>
            <a:r>
              <a:rPr lang="en-US"/>
              <a:t> selected neighbor users, </a:t>
            </a:r>
            <a:r>
              <a:rPr lang="en-US" i="1"/>
              <a:t>u </a:t>
            </a:r>
            <a:r>
              <a:rPr lang="en-US">
                <a:sym typeface="Symbol" panose="05050102010706020507" pitchFamily="18" charset="2"/>
              </a:rPr>
              <a:t> </a:t>
            </a:r>
            <a:r>
              <a:rPr lang="en-US"/>
              <a:t>{1,2,…</a:t>
            </a:r>
            <a:r>
              <a:rPr lang="en-US" i="1"/>
              <a:t>n</a:t>
            </a:r>
            <a:r>
              <a:rPr lang="en-US"/>
              <a:t>}.</a:t>
            </a:r>
          </a:p>
          <a:p>
            <a:pPr eaLnBrk="1" hangingPunct="1"/>
            <a:r>
              <a:rPr lang="en-US"/>
              <a:t>To account for users different ratings levels, base predictions on </a:t>
            </a:r>
            <a:r>
              <a:rPr lang="en-US" i="1"/>
              <a:t>differences</a:t>
            </a:r>
            <a:r>
              <a:rPr lang="en-US"/>
              <a:t> from a user’s </a:t>
            </a:r>
            <a:r>
              <a:rPr lang="en-US" i="1"/>
              <a:t>average</a:t>
            </a:r>
            <a:r>
              <a:rPr lang="en-US"/>
              <a:t> rating. </a:t>
            </a:r>
          </a:p>
          <a:p>
            <a:pPr eaLnBrk="1" hangingPunct="1"/>
            <a:r>
              <a:rPr lang="en-US"/>
              <a:t>Weight users’ ratings contribution by their similarity to the active user.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3733800" y="4038601"/>
          <a:ext cx="3886200" cy="200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625400" imgH="838080" progId="Equation.3">
                  <p:embed/>
                </p:oleObj>
              </mc:Choice>
              <mc:Fallback>
                <p:oleObj name="Equation" r:id="rId3" imgW="1625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038601"/>
                        <a:ext cx="3886200" cy="200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8104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B40AFEC-C532-4419-80F0-A0E82EDCD891}" type="slidenum">
              <a:rPr lang="en-US" sz="1200">
                <a:latin typeface="Helvetica" panose="020B0604020202020204" pitchFamily="34" charset="0"/>
              </a:rPr>
              <a:pPr eaLnBrk="1" hangingPunct="1"/>
              <a:t>17</a:t>
            </a:fld>
            <a:endParaRPr lang="en-US" sz="120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Problems with Collaborative Filtering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</a:rPr>
              <a:t>Cold Start</a:t>
            </a:r>
            <a:r>
              <a:rPr lang="en-US"/>
              <a:t>: There needs to be enough other users already in the system to find a match.</a:t>
            </a:r>
          </a:p>
          <a:p>
            <a:pPr eaLnBrk="1" hangingPunct="1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</a:rPr>
              <a:t>Sparsity</a:t>
            </a:r>
            <a:r>
              <a:rPr lang="en-US"/>
              <a:t>: If there are many items to be recommended, even if there are many users, the user/ratings matrix is sparse, and it is hard to find users that have rated the same items.</a:t>
            </a:r>
          </a:p>
          <a:p>
            <a:pPr eaLnBrk="1" hangingPunct="1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</a:rPr>
              <a:t>First Rater</a:t>
            </a:r>
            <a:r>
              <a:rPr lang="en-US"/>
              <a:t>: Cannot recommend an item that has not been previously rated.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New items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Esoteric items</a:t>
            </a:r>
          </a:p>
          <a:p>
            <a:pPr eaLnBrk="1" hangingPunct="1">
              <a:lnSpc>
                <a:spcPct val="90000"/>
              </a:lnSpc>
            </a:pPr>
            <a:r>
              <a:rPr lang="en-US" b="1">
                <a:solidFill>
                  <a:srgbClr val="FF0000"/>
                </a:solidFill>
              </a:rPr>
              <a:t>Popularity Bias</a:t>
            </a:r>
            <a:r>
              <a:rPr lang="en-US"/>
              <a:t>: Cannot recommend items to someone with unique tastes.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/>
              <a:t> Tends to recommend popular items.</a:t>
            </a:r>
          </a:p>
          <a:p>
            <a:pPr eaLnBrk="1" hangingPunct="1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6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D79528D1-56D8-4379-A85E-6DC53C51EA4A}" type="slidenum">
              <a:rPr lang="en-US" sz="1200">
                <a:latin typeface="Helvetica" panose="020B0604020202020204" pitchFamily="34" charset="0"/>
              </a:rPr>
              <a:pPr eaLnBrk="1" hangingPunct="1"/>
              <a:t>18</a:t>
            </a:fld>
            <a:endParaRPr lang="en-US" sz="1200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Content-Based Recommending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Recommendations are based on information on the </a:t>
            </a:r>
            <a:r>
              <a:rPr lang="en-US">
                <a:solidFill>
                  <a:srgbClr val="FF0000"/>
                </a:solidFill>
              </a:rPr>
              <a:t>content</a:t>
            </a:r>
            <a:r>
              <a:rPr lang="en-US"/>
              <a:t> of items rather than on other users’ opinions.</a:t>
            </a:r>
          </a:p>
          <a:p>
            <a:pPr eaLnBrk="1" hangingPunct="1"/>
            <a:r>
              <a:rPr lang="en-US"/>
              <a:t>Uses a machine learning algorithm to induce a profile of the users preferences from examples based on a featural description of content.</a:t>
            </a:r>
          </a:p>
          <a:p>
            <a:pPr eaLnBrk="1" hangingPunct="1"/>
            <a:r>
              <a:rPr lang="en-US"/>
              <a:t>Some previous applications:</a:t>
            </a:r>
          </a:p>
          <a:p>
            <a:pPr lvl="1" eaLnBrk="1" hangingPunct="1"/>
            <a:r>
              <a:rPr lang="en-US"/>
              <a:t>Newsweeder (Lang, 1995)</a:t>
            </a:r>
          </a:p>
          <a:p>
            <a:pPr lvl="1" eaLnBrk="1" hangingPunct="1"/>
            <a:r>
              <a:rPr lang="en-US"/>
              <a:t>Syskill and Webert (Pazzani et al., 1996)</a:t>
            </a:r>
          </a:p>
        </p:txBody>
      </p:sp>
    </p:spTree>
    <p:extLst>
      <p:ext uri="{BB962C8B-B14F-4D97-AF65-F5344CB8AC3E}">
        <p14:creationId xmlns:p14="http://schemas.microsoft.com/office/powerpoint/2010/main" val="134716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11E8FF5-5115-420E-9A58-A3EB84EB5B12}" type="slidenum">
              <a:rPr lang="en-US" sz="1200">
                <a:latin typeface="Helvetica" panose="020B0604020202020204" pitchFamily="34" charset="0"/>
              </a:rPr>
              <a:pPr eaLnBrk="1" hangingPunct="1"/>
              <a:t>19</a:t>
            </a:fld>
            <a:endParaRPr lang="en-US" sz="12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Advantages of Content-Based Approach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458200" cy="4687888"/>
          </a:xfrm>
        </p:spPr>
        <p:txBody>
          <a:bodyPr/>
          <a:lstStyle/>
          <a:p>
            <a:pPr eaLnBrk="1" hangingPunct="1"/>
            <a:r>
              <a:rPr lang="en-US" smtClean="0"/>
              <a:t>No need for data on other users.</a:t>
            </a:r>
          </a:p>
          <a:p>
            <a:pPr lvl="1" eaLnBrk="1" hangingPunct="1"/>
            <a:r>
              <a:rPr lang="en-US" smtClean="0"/>
              <a:t>No cold-start or sparsity problems.</a:t>
            </a:r>
          </a:p>
          <a:p>
            <a:pPr eaLnBrk="1" hangingPunct="1"/>
            <a:r>
              <a:rPr lang="en-US" smtClean="0"/>
              <a:t>Able to  recommend to users with unique tastes.</a:t>
            </a:r>
          </a:p>
          <a:p>
            <a:pPr eaLnBrk="1" hangingPunct="1"/>
            <a:r>
              <a:rPr lang="en-US" smtClean="0"/>
              <a:t>Able to recommend new and unpopular items</a:t>
            </a:r>
          </a:p>
          <a:p>
            <a:pPr lvl="1" eaLnBrk="1" hangingPunct="1"/>
            <a:r>
              <a:rPr lang="en-US" smtClean="0"/>
              <a:t> No first-rater problem.</a:t>
            </a:r>
          </a:p>
          <a:p>
            <a:pPr eaLnBrk="1" hangingPunct="1"/>
            <a:r>
              <a:rPr lang="en-US" smtClean="0"/>
              <a:t>Can provide explanations of recommended items by listing content-features that caused an item to be recommended.</a:t>
            </a:r>
          </a:p>
        </p:txBody>
      </p:sp>
    </p:spTree>
    <p:extLst>
      <p:ext uri="{BB962C8B-B14F-4D97-AF65-F5344CB8AC3E}">
        <p14:creationId xmlns:p14="http://schemas.microsoft.com/office/powerpoint/2010/main" val="101957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C0CBBAFD-6D5A-4FD6-B5E6-3FE1B19E9CAB}" type="slidenum">
              <a:rPr lang="en-US" sz="1200">
                <a:latin typeface="Helvetica" panose="020B0604020202020204" pitchFamily="34" charset="0"/>
              </a:rPr>
              <a:pPr eaLnBrk="1" hangingPunct="1"/>
              <a:t>20</a:t>
            </a:fld>
            <a:endParaRPr lang="en-US" sz="12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Disadvantages of Content-Based Method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Requires content that can be encoded as meaningful features.</a:t>
            </a:r>
          </a:p>
          <a:p>
            <a:pPr eaLnBrk="1" hangingPunct="1"/>
            <a:r>
              <a:rPr lang="en-US" smtClean="0"/>
              <a:t>Users’ tastes must be represented as a learnable function of these content features.</a:t>
            </a:r>
          </a:p>
          <a:p>
            <a:pPr eaLnBrk="1" hangingPunct="1"/>
            <a:r>
              <a:rPr lang="en-US" smtClean="0"/>
              <a:t>Unable to exploit quality judgments of other users.</a:t>
            </a:r>
          </a:p>
          <a:p>
            <a:pPr lvl="1" eaLnBrk="1" hangingPunct="1"/>
            <a:r>
              <a:rPr lang="en-US" smtClean="0"/>
              <a:t>Unless these are somehow included in the content features.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79441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Traditional Recommendation Algorithms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4578" name="Content Placeholder 4"/>
          <p:cNvSpPr>
            <a:spLocks noGrp="1"/>
          </p:cNvSpPr>
          <p:nvPr>
            <p:ph idx="1"/>
          </p:nvPr>
        </p:nvSpPr>
        <p:spPr>
          <a:xfrm>
            <a:off x="1981200" y="1569492"/>
            <a:ext cx="8229600" cy="4755107"/>
          </a:xfrm>
        </p:spPr>
        <p:txBody>
          <a:bodyPr/>
          <a:lstStyle/>
          <a:p>
            <a:endParaRPr lang="en-US" sz="1800" dirty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dirty="0" smtClean="0">
                <a:latin typeface="Helvetica" panose="020B0604020202020204" pitchFamily="34" charset="0"/>
              </a:rPr>
              <a:t>Two mostly used traditional algorithms:</a:t>
            </a:r>
          </a:p>
          <a:p>
            <a:pPr>
              <a:buFont typeface="Arial" panose="020B0604020202020204" pitchFamily="34" charset="0"/>
              <a:buNone/>
            </a:pPr>
            <a:endParaRPr lang="en-US" dirty="0" smtClean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dirty="0" smtClean="0">
                <a:latin typeface="Helvetica" panose="020B0604020202020204" pitchFamily="34" charset="0"/>
              </a:rPr>
              <a:t> User Based Collaborative Filtering</a:t>
            </a:r>
          </a:p>
          <a:p>
            <a:pPr>
              <a:buFont typeface="Arial" panose="020B0604020202020204" pitchFamily="34" charset="0"/>
              <a:buAutoNum type="arabicPeriod"/>
            </a:pPr>
            <a:endParaRPr lang="en-US" dirty="0" smtClean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AutoNum type="arabicPeriod"/>
            </a:pPr>
            <a:r>
              <a:rPr lang="en-US" dirty="0" smtClean="0">
                <a:latin typeface="Helvetica" panose="020B0604020202020204" pitchFamily="34" charset="0"/>
              </a:rPr>
              <a:t> Cluster Models</a:t>
            </a:r>
          </a:p>
        </p:txBody>
      </p:sp>
      <p:sp>
        <p:nvSpPr>
          <p:cNvPr id="24579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C5A3C12-E3EC-45DE-AB71-9F34D7F9FAEB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21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3034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User Based Collaborative Filtering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5602" name="Content Placeholder 4"/>
          <p:cNvSpPr>
            <a:spLocks noGrp="1"/>
          </p:cNvSpPr>
          <p:nvPr>
            <p:ph idx="1"/>
          </p:nvPr>
        </p:nvSpPr>
        <p:spPr>
          <a:xfrm>
            <a:off x="1078173" y="1690688"/>
            <a:ext cx="9132627" cy="4862512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sz="1400" b="1" dirty="0">
                <a:latin typeface="Cambria" panose="02040503050406030204" pitchFamily="18" charset="0"/>
              </a:rPr>
              <a:t>Approach</a:t>
            </a:r>
            <a:endParaRPr lang="en-US" sz="1400" dirty="0">
              <a:latin typeface="Cambria" panose="02040503050406030204" pitchFamily="18" charset="0"/>
            </a:endParaRPr>
          </a:p>
          <a:p>
            <a:r>
              <a:rPr lang="en-US" sz="1400" dirty="0">
                <a:latin typeface="Helvetica" panose="020B0604020202020204" pitchFamily="34" charset="0"/>
              </a:rPr>
              <a:t>Represents a customer as an N-dimensional vector of items 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Vector is positive for purchased or positively rated items and negative for negatively rated items 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Based on cosine similarity: finds similar customers/users </a:t>
            </a:r>
          </a:p>
          <a:p>
            <a:endParaRPr lang="en-US" sz="1400" dirty="0">
              <a:latin typeface="Helvetica" panose="020B0604020202020204" pitchFamily="34" charset="0"/>
            </a:endParaRPr>
          </a:p>
          <a:p>
            <a:endParaRPr lang="en-US" sz="1400" dirty="0">
              <a:latin typeface="Helvetica" panose="020B0604020202020204" pitchFamily="34" charset="0"/>
            </a:endParaRPr>
          </a:p>
          <a:p>
            <a:r>
              <a:rPr lang="en-US" sz="1400" dirty="0">
                <a:latin typeface="Helvetica" panose="020B0604020202020204" pitchFamily="34" charset="0"/>
              </a:rPr>
              <a:t>Generates recommendations based on a few customers who are most similar to the user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Rank each item according to how many similar customers purchased it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sz="1400" b="1" dirty="0">
                <a:latin typeface="Cambria" panose="02040503050406030204" pitchFamily="18" charset="0"/>
              </a:rPr>
              <a:t>Problems</a:t>
            </a:r>
            <a:endParaRPr lang="en-US" sz="1400" dirty="0">
              <a:latin typeface="Cambria" panose="02040503050406030204" pitchFamily="18" charset="0"/>
            </a:endParaRPr>
          </a:p>
          <a:p>
            <a:r>
              <a:rPr lang="en-US" sz="1400" b="1" dirty="0">
                <a:latin typeface="Helvetica" panose="020B0604020202020204" pitchFamily="34" charset="0"/>
              </a:rPr>
              <a:t>computationally expensive</a:t>
            </a:r>
            <a:r>
              <a:rPr lang="en-US" sz="1400" dirty="0">
                <a:latin typeface="Helvetica" panose="020B0604020202020204" pitchFamily="34" charset="0"/>
              </a:rPr>
              <a:t>, </a:t>
            </a:r>
            <a:r>
              <a:rPr lang="en-US" sz="1400" b="1" i="1" dirty="0">
                <a:latin typeface="Helvetica" panose="020B0604020202020204" pitchFamily="34" charset="0"/>
              </a:rPr>
              <a:t>O(MN)</a:t>
            </a:r>
            <a:r>
              <a:rPr lang="en-US" sz="1400" dirty="0">
                <a:latin typeface="Helvetica" panose="020B0604020202020204" pitchFamily="34" charset="0"/>
              </a:rPr>
              <a:t> in the worst case, where </a:t>
            </a:r>
          </a:p>
          <a:p>
            <a:pPr lvl="1"/>
            <a:r>
              <a:rPr lang="en-US" sz="1100" dirty="0">
                <a:latin typeface="Helvetica" panose="020B0604020202020204" pitchFamily="34" charset="0"/>
              </a:rPr>
              <a:t>M is the number of customers and </a:t>
            </a:r>
          </a:p>
          <a:p>
            <a:pPr lvl="1"/>
            <a:r>
              <a:rPr lang="en-US" sz="1100" dirty="0">
                <a:latin typeface="Helvetica" panose="020B0604020202020204" pitchFamily="34" charset="0"/>
              </a:rPr>
              <a:t>N is the number of items </a:t>
            </a:r>
            <a:endParaRPr lang="en-US" sz="1400" dirty="0">
              <a:latin typeface="Helvetica" panose="020B0604020202020204" pitchFamily="34" charset="0"/>
            </a:endParaRPr>
          </a:p>
          <a:p>
            <a:r>
              <a:rPr lang="en-US" sz="1400" b="1" dirty="0">
                <a:latin typeface="Helvetica" panose="020B0604020202020204" pitchFamily="34" charset="0"/>
              </a:rPr>
              <a:t>dimensionality reduction </a:t>
            </a:r>
            <a:r>
              <a:rPr lang="en-US" sz="1400" dirty="0">
                <a:latin typeface="Helvetica" panose="020B0604020202020204" pitchFamily="34" charset="0"/>
              </a:rPr>
              <a:t>can increase the performance, BUT, also </a:t>
            </a:r>
            <a:r>
              <a:rPr lang="en-US" sz="1400" b="1" dirty="0">
                <a:latin typeface="Helvetica" panose="020B0604020202020204" pitchFamily="34" charset="0"/>
              </a:rPr>
              <a:t>reduce the quality of the recommendation</a:t>
            </a:r>
          </a:p>
          <a:p>
            <a:r>
              <a:rPr lang="en-US" sz="1400" dirty="0">
                <a:latin typeface="Helvetica" panose="020B0604020202020204" pitchFamily="34" charset="0"/>
              </a:rPr>
              <a:t>For very large data sets, such as </a:t>
            </a:r>
            <a:r>
              <a:rPr lang="en-US" sz="1400" b="1" dirty="0">
                <a:latin typeface="Helvetica" panose="020B0604020202020204" pitchFamily="34" charset="0"/>
              </a:rPr>
              <a:t>10 million customers and 1 million items</a:t>
            </a:r>
            <a:r>
              <a:rPr lang="en-US" sz="1400" dirty="0">
                <a:latin typeface="Helvetica" panose="020B0604020202020204" pitchFamily="34" charset="0"/>
              </a:rPr>
              <a:t>, the algorithm encounters </a:t>
            </a:r>
            <a:r>
              <a:rPr lang="en-US" sz="1400" b="1" dirty="0">
                <a:latin typeface="Helvetica" panose="020B0604020202020204" pitchFamily="34" charset="0"/>
              </a:rPr>
              <a:t>severe performance and scaling issues </a:t>
            </a:r>
          </a:p>
          <a:p>
            <a:endParaRPr lang="en-US" sz="1400" dirty="0">
              <a:latin typeface="Helvetica" panose="020B0604020202020204" pitchFamily="34" charset="0"/>
            </a:endParaRPr>
          </a:p>
        </p:txBody>
      </p:sp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9054" y="2738652"/>
            <a:ext cx="3200400" cy="75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5B6DDFF-ADE0-4F6E-B022-7F60DCAD048A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22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891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Cluster Models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6626" name="Content Placeholder 4"/>
          <p:cNvSpPr>
            <a:spLocks noGrp="1"/>
          </p:cNvSpPr>
          <p:nvPr>
            <p:ph idx="1"/>
          </p:nvPr>
        </p:nvSpPr>
        <p:spPr>
          <a:xfrm>
            <a:off x="1064525" y="1569492"/>
            <a:ext cx="9146275" cy="4983707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sz="1600" b="1" dirty="0">
                <a:latin typeface="Cambria" panose="02040503050406030204" pitchFamily="18" charset="0"/>
              </a:rPr>
              <a:t>Approach</a:t>
            </a:r>
            <a:endParaRPr lang="en-US" sz="1600" dirty="0">
              <a:latin typeface="Cambria" panose="020405030504060302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Helvetica" panose="020B0604020202020204" pitchFamily="34" charset="0"/>
              </a:rPr>
              <a:t>Divide the customer base into many segments and treat the task as a classification problem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Helvetica" panose="020B0604020202020204" pitchFamily="34" charset="0"/>
              </a:rPr>
              <a:t>Assign the user to the segment containing the most similar customers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Helvetica" panose="020B0604020202020204" pitchFamily="34" charset="0"/>
              </a:rPr>
              <a:t>Uses the purchases and ratings of the customers in the segment to generate recommendations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Helvetica" panose="020B0604020202020204" pitchFamily="34" charset="0"/>
              </a:rPr>
              <a:t>Cluster models have </a:t>
            </a:r>
            <a:r>
              <a:rPr lang="en-US" sz="1600" b="1" dirty="0">
                <a:latin typeface="Helvetica" panose="020B0604020202020204" pitchFamily="34" charset="0"/>
              </a:rPr>
              <a:t>better online scalability and performance</a:t>
            </a:r>
            <a:r>
              <a:rPr lang="en-US" sz="1600" dirty="0">
                <a:latin typeface="Helvetica" panose="020B0604020202020204" pitchFamily="34" charset="0"/>
              </a:rPr>
              <a:t> than collaborative filtering because they compare the user to a controlled number of segments rather than the entire customer base.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Cambria" panose="02040503050406030204" pitchFamily="18" charset="0"/>
              </a:rPr>
              <a:t>Problems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Helvetica" panose="020B0604020202020204" pitchFamily="34" charset="0"/>
              </a:rPr>
              <a:t>Quality of the recommendation is low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Helvetica" panose="020B0604020202020204" pitchFamily="34" charset="0"/>
              </a:rPr>
              <a:t>The recommendations are less relevant because the similar customers that the cluster models find are not the most similar customers</a:t>
            </a:r>
          </a:p>
          <a:p>
            <a:pPr>
              <a:lnSpc>
                <a:spcPct val="100000"/>
              </a:lnSpc>
            </a:pPr>
            <a:r>
              <a:rPr lang="en-US" sz="1600" b="1" dirty="0">
                <a:latin typeface="Helvetica" panose="020B0604020202020204" pitchFamily="34" charset="0"/>
              </a:rPr>
              <a:t>To improve quality</a:t>
            </a:r>
            <a:r>
              <a:rPr lang="en-US" sz="1600" dirty="0">
                <a:latin typeface="Helvetica" panose="020B0604020202020204" pitchFamily="34" charset="0"/>
              </a:rPr>
              <a:t>, it </a:t>
            </a:r>
            <a:r>
              <a:rPr lang="en-US" sz="1600" b="1" dirty="0">
                <a:latin typeface="Helvetica" panose="020B0604020202020204" pitchFamily="34" charset="0"/>
              </a:rPr>
              <a:t>needs online segmentation</a:t>
            </a:r>
            <a:r>
              <a:rPr lang="en-US" sz="1600" dirty="0">
                <a:latin typeface="Helvetica" panose="020B0604020202020204" pitchFamily="34" charset="0"/>
              </a:rPr>
              <a:t>, which is almost as </a:t>
            </a:r>
            <a:r>
              <a:rPr lang="en-US" sz="1600" b="1" dirty="0">
                <a:latin typeface="Helvetica" panose="020B0604020202020204" pitchFamily="34" charset="0"/>
              </a:rPr>
              <a:t>expensive as </a:t>
            </a:r>
            <a:r>
              <a:rPr lang="en-US" sz="1600" dirty="0">
                <a:latin typeface="Helvetica" panose="020B0604020202020204" pitchFamily="34" charset="0"/>
              </a:rPr>
              <a:t>finding similar customers using </a:t>
            </a:r>
            <a:r>
              <a:rPr lang="en-US" sz="1600" b="1" dirty="0">
                <a:latin typeface="Helvetica" panose="020B0604020202020204" pitchFamily="34" charset="0"/>
              </a:rPr>
              <a:t>collaborative filtering</a:t>
            </a:r>
            <a:r>
              <a:rPr lang="en-US" sz="1600" dirty="0">
                <a:latin typeface="Helvetica" panose="020B0604020202020204" pitchFamily="34" charset="0"/>
              </a:rPr>
              <a:t> </a:t>
            </a:r>
          </a:p>
          <a:p>
            <a:endParaRPr lang="en-US" sz="1600" dirty="0">
              <a:latin typeface="Helvetica" panose="020B0604020202020204" pitchFamily="34" charset="0"/>
            </a:endParaRPr>
          </a:p>
        </p:txBody>
      </p:sp>
      <p:sp>
        <p:nvSpPr>
          <p:cNvPr id="26627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0E91999-27D4-4964-9B68-A4953D185F04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23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1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Amazon</a:t>
            </a:r>
            <a:r>
              <a:rPr lang="ja-JP" altLang="en-US" smtClean="0">
                <a:latin typeface="Helvetica" panose="020B0604020202020204" pitchFamily="34" charset="0"/>
              </a:rPr>
              <a:t>’</a:t>
            </a:r>
            <a:r>
              <a:rPr lang="en-US" altLang="ja-JP" smtClean="0">
                <a:latin typeface="Helvetica" panose="020B0604020202020204" pitchFamily="34" charset="0"/>
              </a:rPr>
              <a:t>s Item-to-Item CF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7650" name="Content Placeholder 4"/>
          <p:cNvSpPr>
            <a:spLocks noGrp="1"/>
          </p:cNvSpPr>
          <p:nvPr>
            <p:ph idx="1"/>
          </p:nvPr>
        </p:nvSpPr>
        <p:spPr>
          <a:xfrm>
            <a:off x="1981200" y="1295400"/>
            <a:ext cx="8229600" cy="4419600"/>
          </a:xfrm>
        </p:spPr>
        <p:txBody>
          <a:bodyPr/>
          <a:lstStyle/>
          <a:p>
            <a:r>
              <a:rPr lang="en-US" sz="2000" b="1">
                <a:latin typeface="Helvetica" panose="020B0604020202020204" pitchFamily="34" charset="0"/>
              </a:rPr>
              <a:t>Difference with User-to-User CF </a:t>
            </a:r>
          </a:p>
        </p:txBody>
      </p:sp>
      <p:pic>
        <p:nvPicPr>
          <p:cNvPr id="2765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828801"/>
            <a:ext cx="6618288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62AFFCB-1E6E-4A95-85DC-43CFD8904C99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24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Picture from: http://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paxcel.net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/blog/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wp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-content/uploads/2013/08/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</a:rPr>
              <a:t>recommendation_types.gif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2574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Amazon</a:t>
            </a:r>
            <a:r>
              <a:rPr lang="ja-JP" altLang="en-US" smtClean="0">
                <a:latin typeface="Helvetica" panose="020B0604020202020204" pitchFamily="34" charset="0"/>
              </a:rPr>
              <a:t>’</a:t>
            </a:r>
            <a:r>
              <a:rPr lang="en-US" altLang="ja-JP" smtClean="0">
                <a:latin typeface="Helvetica" panose="020B0604020202020204" pitchFamily="34" charset="0"/>
              </a:rPr>
              <a:t>s Item-to-Item CF</a:t>
            </a:r>
            <a:endParaRPr lang="en-US" smtClean="0">
              <a:latin typeface="Cambria" panose="02040503050406030204" pitchFamily="18" charset="0"/>
            </a:endParaRPr>
          </a:p>
        </p:txBody>
      </p:sp>
      <p:pic>
        <p:nvPicPr>
          <p:cNvPr id="2867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941" y="1690688"/>
            <a:ext cx="5791200" cy="4620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C8EA37E-B61A-4997-BA23-300D41F2B2CE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25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Helvetica" charset="0"/>
                <a:cs typeface="Helvetica" charset="0"/>
              </a:rPr>
              <a:t>Francesco Ricci, Slides [5]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579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Amazon</a:t>
            </a:r>
            <a:r>
              <a:rPr lang="ja-JP" altLang="en-US" smtClean="0">
                <a:latin typeface="Helvetica" panose="020B0604020202020204" pitchFamily="34" charset="0"/>
              </a:rPr>
              <a:t>’</a:t>
            </a:r>
            <a:r>
              <a:rPr lang="en-US" altLang="ja-JP" smtClean="0">
                <a:latin typeface="Helvetica" panose="020B0604020202020204" pitchFamily="34" charset="0"/>
              </a:rPr>
              <a:t>s Item-to-Item CF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29698" name="Content Placeholder 4"/>
          <p:cNvSpPr>
            <a:spLocks noGrp="1"/>
          </p:cNvSpPr>
          <p:nvPr>
            <p:ph idx="1"/>
          </p:nvPr>
        </p:nvSpPr>
        <p:spPr>
          <a:xfrm>
            <a:off x="1023582" y="1514900"/>
            <a:ext cx="9187218" cy="5076969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Helvetica" panose="020B0604020202020204" pitchFamily="34" charset="0"/>
              </a:rPr>
              <a:t>How It Works </a:t>
            </a:r>
          </a:p>
          <a:p>
            <a:r>
              <a:rPr lang="en-US" sz="1600" dirty="0">
                <a:latin typeface="Helvetica" panose="020B0604020202020204" pitchFamily="34" charset="0"/>
              </a:rPr>
              <a:t>Matches each of the user</a:t>
            </a:r>
            <a:r>
              <a:rPr lang="en-US" altLang="en-US" sz="1600" dirty="0">
                <a:latin typeface="Helvetica" panose="020B0604020202020204" pitchFamily="34" charset="0"/>
              </a:rPr>
              <a:t>’</a:t>
            </a:r>
            <a:r>
              <a:rPr lang="en-US" sz="1600" dirty="0">
                <a:latin typeface="Helvetica" panose="020B0604020202020204" pitchFamily="34" charset="0"/>
              </a:rPr>
              <a:t>s purchased and rated items to similar items</a:t>
            </a:r>
          </a:p>
          <a:p>
            <a:r>
              <a:rPr lang="en-US" sz="1600" dirty="0">
                <a:latin typeface="Helvetica" panose="020B0604020202020204" pitchFamily="34" charset="0"/>
              </a:rPr>
              <a:t>Combines those similar items into a recommendation list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1600" b="1" dirty="0">
                <a:latin typeface="Helvetica" panose="020B0604020202020204" pitchFamily="34" charset="0"/>
              </a:rPr>
              <a:t>An iterative algorithm:</a:t>
            </a:r>
          </a:p>
          <a:p>
            <a:r>
              <a:rPr lang="en-US" sz="1600" b="1" dirty="0">
                <a:latin typeface="Helvetica" panose="020B0604020202020204" pitchFamily="34" charset="0"/>
              </a:rPr>
              <a:t>Builds a similar-items table</a:t>
            </a:r>
            <a:r>
              <a:rPr lang="en-US" sz="1600" dirty="0">
                <a:latin typeface="Helvetica" panose="020B0604020202020204" pitchFamily="34" charset="0"/>
              </a:rPr>
              <a:t> by finding items that customers tend to purchase together</a:t>
            </a:r>
          </a:p>
          <a:p>
            <a:r>
              <a:rPr lang="en-US" sz="1600" dirty="0">
                <a:latin typeface="Helvetica" panose="020B0604020202020204" pitchFamily="34" charset="0"/>
              </a:rPr>
              <a:t>Provides a better approach by </a:t>
            </a:r>
            <a:r>
              <a:rPr lang="en-US" sz="1600" b="1" dirty="0">
                <a:latin typeface="Helvetica" panose="020B0604020202020204" pitchFamily="34" charset="0"/>
              </a:rPr>
              <a:t>calculating</a:t>
            </a:r>
            <a:r>
              <a:rPr lang="en-US" sz="1600" dirty="0">
                <a:latin typeface="Helvetica" panose="020B0604020202020204" pitchFamily="34" charset="0"/>
              </a:rPr>
              <a:t> the </a:t>
            </a:r>
            <a:r>
              <a:rPr lang="en-US" sz="1600" b="1" dirty="0">
                <a:latin typeface="Helvetica" panose="020B0604020202020204" pitchFamily="34" charset="0"/>
              </a:rPr>
              <a:t>similarity between a single product and all related products</a:t>
            </a:r>
            <a:r>
              <a:rPr lang="en-US" sz="1600" dirty="0">
                <a:latin typeface="Helvetica" panose="020B0604020202020204" pitchFamily="34" charset="0"/>
              </a:rPr>
              <a:t>: </a:t>
            </a:r>
          </a:p>
          <a:p>
            <a:endParaRPr lang="en-US" sz="1600" dirty="0">
              <a:latin typeface="Helvetica" panose="020B0604020202020204" pitchFamily="34" charset="0"/>
            </a:endParaRPr>
          </a:p>
          <a:p>
            <a:endParaRPr lang="en-US" sz="1600" dirty="0">
              <a:latin typeface="Helvetica" panose="020B0604020202020204" pitchFamily="34" charset="0"/>
            </a:endParaRPr>
          </a:p>
          <a:p>
            <a:endParaRPr lang="en-US" sz="1600" dirty="0">
              <a:latin typeface="Helvetica" panose="020B0604020202020204" pitchFamily="34" charset="0"/>
            </a:endParaRPr>
          </a:p>
          <a:p>
            <a:endParaRPr lang="en-US" sz="1600" dirty="0">
              <a:latin typeface="Helvetica" panose="020B0604020202020204" pitchFamily="34" charset="0"/>
            </a:endParaRPr>
          </a:p>
          <a:p>
            <a:r>
              <a:rPr lang="en-US" sz="1600" dirty="0">
                <a:latin typeface="Helvetica" panose="020B0604020202020204" pitchFamily="34" charset="0"/>
              </a:rPr>
              <a:t>The </a:t>
            </a:r>
            <a:r>
              <a:rPr lang="en-US" sz="1600" b="1" dirty="0">
                <a:latin typeface="Helvetica" panose="020B0604020202020204" pitchFamily="34" charset="0"/>
              </a:rPr>
              <a:t>similarity</a:t>
            </a:r>
            <a:r>
              <a:rPr lang="en-US" sz="1600" dirty="0">
                <a:latin typeface="Helvetica" panose="020B0604020202020204" pitchFamily="34" charset="0"/>
              </a:rPr>
              <a:t> between two items uses the </a:t>
            </a:r>
            <a:r>
              <a:rPr lang="en-US" sz="1600" b="1" dirty="0">
                <a:latin typeface="Helvetica" panose="020B0604020202020204" pitchFamily="34" charset="0"/>
              </a:rPr>
              <a:t>cosine</a:t>
            </a:r>
            <a:r>
              <a:rPr lang="en-US" sz="1600" dirty="0">
                <a:latin typeface="Helvetica" panose="020B0604020202020204" pitchFamily="34" charset="0"/>
              </a:rPr>
              <a:t> measure</a:t>
            </a:r>
          </a:p>
          <a:p>
            <a:r>
              <a:rPr lang="en-US" sz="1600" dirty="0">
                <a:latin typeface="Helvetica" panose="020B0604020202020204" pitchFamily="34" charset="0"/>
              </a:rPr>
              <a:t>Each </a:t>
            </a:r>
            <a:r>
              <a:rPr lang="en-US" sz="1600" b="1" dirty="0">
                <a:latin typeface="Helvetica" panose="020B0604020202020204" pitchFamily="34" charset="0"/>
              </a:rPr>
              <a:t>vector</a:t>
            </a:r>
            <a:r>
              <a:rPr lang="en-US" sz="1600" dirty="0">
                <a:latin typeface="Helvetica" panose="020B0604020202020204" pitchFamily="34" charset="0"/>
              </a:rPr>
              <a:t> corresponds to an </a:t>
            </a:r>
            <a:r>
              <a:rPr lang="en-US" sz="1600" b="1" dirty="0">
                <a:latin typeface="Helvetica" panose="020B0604020202020204" pitchFamily="34" charset="0"/>
              </a:rPr>
              <a:t>item</a:t>
            </a:r>
            <a:r>
              <a:rPr lang="en-US" sz="1600" dirty="0">
                <a:latin typeface="Helvetica" panose="020B0604020202020204" pitchFamily="34" charset="0"/>
              </a:rPr>
              <a:t> rather than a customer and </a:t>
            </a:r>
          </a:p>
          <a:p>
            <a:r>
              <a:rPr lang="en-US" sz="1600" dirty="0">
                <a:latin typeface="Helvetica" panose="020B0604020202020204" pitchFamily="34" charset="0"/>
              </a:rPr>
              <a:t>Vector</a:t>
            </a:r>
            <a:r>
              <a:rPr lang="en-US" altLang="en-US" sz="1600" dirty="0">
                <a:latin typeface="Helvetica" panose="020B0604020202020204" pitchFamily="34" charset="0"/>
              </a:rPr>
              <a:t>’</a:t>
            </a:r>
            <a:r>
              <a:rPr lang="en-US" sz="1600" dirty="0">
                <a:latin typeface="Helvetica" panose="020B0604020202020204" pitchFamily="34" charset="0"/>
              </a:rPr>
              <a:t>s </a:t>
            </a:r>
            <a:r>
              <a:rPr lang="en-US" sz="1600" b="1" dirty="0">
                <a:latin typeface="Helvetica" panose="020B0604020202020204" pitchFamily="34" charset="0"/>
              </a:rPr>
              <a:t>M dimensions correspond to customers</a:t>
            </a:r>
            <a:r>
              <a:rPr lang="en-US" sz="1600" dirty="0">
                <a:latin typeface="Helvetica" panose="020B0604020202020204" pitchFamily="34" charset="0"/>
              </a:rPr>
              <a:t> who have purchased that item</a:t>
            </a:r>
          </a:p>
          <a:p>
            <a:endParaRPr lang="en-US" sz="1600" dirty="0">
              <a:latin typeface="Helvetica" panose="020B0604020202020204" pitchFamily="34" charset="0"/>
            </a:endParaRPr>
          </a:p>
          <a:p>
            <a:endParaRPr lang="en-US" sz="1600" dirty="0">
              <a:latin typeface="Helvetica" panose="020B0604020202020204" pitchFamily="34" charset="0"/>
            </a:endParaRPr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738139"/>
            <a:ext cx="4191000" cy="1401596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700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28B22E-9072-43F0-AC7E-E483442C505A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26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>
                <a:latin typeface="Helvetica" panose="020B0604020202020204" pitchFamily="34" charset="0"/>
              </a:rPr>
              <a:t>Offline computation : Online Recommendation</a:t>
            </a:r>
            <a:endParaRPr lang="en-US" sz="2800">
              <a:latin typeface="Cambria" panose="02040503050406030204" pitchFamily="18" charset="0"/>
            </a:endParaRPr>
          </a:p>
        </p:txBody>
      </p:sp>
      <p:sp>
        <p:nvSpPr>
          <p:cNvPr id="30722" name="Content Placeholder 4"/>
          <p:cNvSpPr>
            <a:spLocks noGrp="1"/>
          </p:cNvSpPr>
          <p:nvPr>
            <p:ph idx="1"/>
          </p:nvPr>
        </p:nvSpPr>
        <p:spPr>
          <a:xfrm>
            <a:off x="1078173" y="1569492"/>
            <a:ext cx="9132627" cy="4983707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endParaRPr lang="en-US" sz="1600" b="1" dirty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b="1" dirty="0">
                <a:latin typeface="Helvetica" panose="020B0604020202020204" pitchFamily="34" charset="0"/>
              </a:rPr>
              <a:t>Offline Computation:</a:t>
            </a:r>
          </a:p>
          <a:p>
            <a:r>
              <a:rPr lang="en-US" sz="1800" b="1" dirty="0">
                <a:latin typeface="Helvetica" panose="020B0604020202020204" pitchFamily="34" charset="0"/>
              </a:rPr>
              <a:t>builds a similar-items table</a:t>
            </a:r>
            <a:r>
              <a:rPr lang="en-US" sz="1800" dirty="0">
                <a:latin typeface="Helvetica" panose="020B0604020202020204" pitchFamily="34" charset="0"/>
              </a:rPr>
              <a:t> which is extremely time intensive, O(N</a:t>
            </a:r>
            <a:r>
              <a:rPr lang="en-US" sz="1800" baseline="30000" dirty="0">
                <a:latin typeface="Helvetica" panose="020B0604020202020204" pitchFamily="34" charset="0"/>
              </a:rPr>
              <a:t>2</a:t>
            </a:r>
            <a:r>
              <a:rPr lang="en-US" sz="1800" dirty="0">
                <a:latin typeface="Helvetica" panose="020B0604020202020204" pitchFamily="34" charset="0"/>
              </a:rPr>
              <a:t>M)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In practice, it</a:t>
            </a:r>
            <a:r>
              <a:rPr lang="en-US" altLang="en-US" sz="1800" dirty="0">
                <a:latin typeface="Helvetica" panose="020B0604020202020204" pitchFamily="34" charset="0"/>
              </a:rPr>
              <a:t>’</a:t>
            </a:r>
            <a:r>
              <a:rPr lang="en-US" sz="1800" dirty="0">
                <a:latin typeface="Helvetica" panose="020B0604020202020204" pitchFamily="34" charset="0"/>
              </a:rPr>
              <a:t>s closer to O(NM), as most customers have very few purchases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Sampling customers can also reduce runtime even further with little reduction in quality. </a:t>
            </a:r>
          </a:p>
          <a:p>
            <a:endParaRPr lang="en-US" sz="1800" dirty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1800" b="1" dirty="0">
                <a:latin typeface="Helvetica" panose="020B0604020202020204" pitchFamily="34" charset="0"/>
              </a:rPr>
              <a:t>Online Recommendation:</a:t>
            </a:r>
          </a:p>
          <a:p>
            <a:r>
              <a:rPr lang="en-US" sz="1800" dirty="0">
                <a:latin typeface="Helvetica" panose="020B0604020202020204" pitchFamily="34" charset="0"/>
              </a:rPr>
              <a:t>Given a similar-items table, the algorithm </a:t>
            </a:r>
          </a:p>
          <a:p>
            <a:pPr lvl="1"/>
            <a:r>
              <a:rPr lang="en-US" sz="1800" b="1" dirty="0">
                <a:latin typeface="Helvetica" panose="020B0604020202020204" pitchFamily="34" charset="0"/>
              </a:rPr>
              <a:t>finds items </a:t>
            </a:r>
            <a:r>
              <a:rPr lang="en-US" sz="1800" dirty="0">
                <a:latin typeface="Helvetica" panose="020B0604020202020204" pitchFamily="34" charset="0"/>
              </a:rPr>
              <a:t>similar to each of the user</a:t>
            </a:r>
            <a:r>
              <a:rPr lang="en-US" altLang="en-US" sz="1800" dirty="0">
                <a:latin typeface="Helvetica" panose="020B0604020202020204" pitchFamily="34" charset="0"/>
              </a:rPr>
              <a:t>’</a:t>
            </a:r>
            <a:r>
              <a:rPr lang="en-US" sz="1800" dirty="0">
                <a:latin typeface="Helvetica" panose="020B0604020202020204" pitchFamily="34" charset="0"/>
              </a:rPr>
              <a:t>s purchases and ratings, </a:t>
            </a:r>
          </a:p>
          <a:p>
            <a:pPr lvl="1"/>
            <a:r>
              <a:rPr lang="en-US" sz="1800" b="1" dirty="0">
                <a:latin typeface="Helvetica" panose="020B0604020202020204" pitchFamily="34" charset="0"/>
              </a:rPr>
              <a:t>aggregates</a:t>
            </a:r>
            <a:r>
              <a:rPr lang="en-US" sz="1800" dirty="0">
                <a:latin typeface="Helvetica" panose="020B0604020202020204" pitchFamily="34" charset="0"/>
              </a:rPr>
              <a:t> those items, and then </a:t>
            </a:r>
          </a:p>
          <a:p>
            <a:pPr lvl="1"/>
            <a:r>
              <a:rPr lang="en-US" sz="1800" b="1" dirty="0">
                <a:latin typeface="Helvetica" panose="020B0604020202020204" pitchFamily="34" charset="0"/>
              </a:rPr>
              <a:t>recommends the most popular or correlated items</a:t>
            </a:r>
            <a:r>
              <a:rPr lang="en-US" sz="1800" dirty="0">
                <a:latin typeface="Helvetica" panose="020B0604020202020204" pitchFamily="34" charset="0"/>
              </a:rPr>
              <a:t>.</a:t>
            </a:r>
          </a:p>
          <a:p>
            <a:pPr>
              <a:buFont typeface="Arial" panose="020B0604020202020204" pitchFamily="34" charset="0"/>
              <a:buNone/>
            </a:pPr>
            <a:endParaRPr lang="en-US" sz="1400" b="1" dirty="0">
              <a:latin typeface="Helvetica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US" sz="1600" dirty="0">
              <a:latin typeface="Helvetica" panose="020B0604020202020204" pitchFamily="34" charset="0"/>
            </a:endParaRPr>
          </a:p>
        </p:txBody>
      </p:sp>
      <p:sp>
        <p:nvSpPr>
          <p:cNvPr id="30723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B032253-0E93-4AB0-A2FB-46E03994D53E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27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54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Scalability and Quality: Comparison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4" name="Content Placeholder 4"/>
          <p:cNvSpPr txBox="1">
            <a:spLocks/>
          </p:cNvSpPr>
          <p:nvPr/>
        </p:nvSpPr>
        <p:spPr bwMode="auto">
          <a:xfrm>
            <a:off x="1066800" y="1898176"/>
            <a:ext cx="40386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88925" indent="-288925"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defRPr/>
            </a:pPr>
            <a:r>
              <a:rPr lang="en-US" altLang="en-US" b="1" dirty="0">
                <a:latin typeface="Cambria" pitchFamily="18" charset="0"/>
                <a:ea typeface="Verdana" pitchFamily="34" charset="0"/>
                <a:cs typeface="Helvetica"/>
              </a:rPr>
              <a:t>User Based collaborative filtering:</a:t>
            </a:r>
          </a:p>
          <a:p>
            <a:pPr marL="288925" indent="-288925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itchFamily="34" charset="0"/>
              <a:buChar char="─"/>
              <a:defRPr/>
            </a:pPr>
            <a:r>
              <a:rPr lang="en-US" altLang="en-US" sz="1400" dirty="0">
                <a:latin typeface="Cambria" pitchFamily="18" charset="0"/>
                <a:ea typeface="Verdana" pitchFamily="34" charset="0"/>
                <a:cs typeface="Helvetica"/>
              </a:rPr>
              <a:t>little or no offline computation</a:t>
            </a:r>
          </a:p>
          <a:p>
            <a:pPr marL="288925" indent="-288925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itchFamily="34" charset="0"/>
              <a:buChar char="─"/>
              <a:defRPr/>
            </a:pPr>
            <a:r>
              <a:rPr lang="en-US" altLang="en-US" sz="1400" dirty="0">
                <a:latin typeface="Cambria" pitchFamily="18" charset="0"/>
                <a:ea typeface="Verdana" pitchFamily="34" charset="0"/>
                <a:cs typeface="Helvetica"/>
              </a:rPr>
              <a:t>impractical on large data sets, unless it uses dimensionality reduction, sampling, or partitioning </a:t>
            </a:r>
          </a:p>
          <a:p>
            <a:pPr marL="288925" indent="-288925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itchFamily="34" charset="0"/>
              <a:buChar char="─"/>
              <a:defRPr/>
            </a:pPr>
            <a:r>
              <a:rPr lang="en-US" altLang="en-US" sz="1400" dirty="0">
                <a:latin typeface="Cambria" pitchFamily="18" charset="0"/>
                <a:ea typeface="Verdana" pitchFamily="34" charset="0"/>
                <a:cs typeface="Helvetica"/>
              </a:rPr>
              <a:t>dimensionality reduction, sampling, or partitioning  reduces recommendation quality</a:t>
            </a:r>
          </a:p>
          <a:p>
            <a:pPr marL="288925" indent="-288925"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defRPr/>
            </a:pPr>
            <a:r>
              <a:rPr lang="en-US" altLang="en-US" b="1" dirty="0">
                <a:latin typeface="Cambria" pitchFamily="18" charset="0"/>
                <a:ea typeface="Verdana" pitchFamily="34" charset="0"/>
                <a:cs typeface="Helvetica"/>
              </a:rPr>
              <a:t>Cluster models:</a:t>
            </a:r>
          </a:p>
          <a:p>
            <a:pPr marL="152400" indent="-288925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itchFamily="34" charset="0"/>
              <a:buChar char="─"/>
              <a:defRPr/>
            </a:pPr>
            <a:r>
              <a:rPr lang="en-US" altLang="en-US" sz="1400" dirty="0">
                <a:latin typeface="Cambria" pitchFamily="18" charset="0"/>
                <a:ea typeface="Verdana" pitchFamily="34" charset="0"/>
                <a:cs typeface="Helvetica"/>
              </a:rPr>
              <a:t>can perform much of the computation offline,</a:t>
            </a:r>
          </a:p>
          <a:p>
            <a:pPr marL="152400" indent="-288925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itchFamily="34" charset="0"/>
              <a:buChar char="─"/>
              <a:defRPr/>
            </a:pPr>
            <a:r>
              <a:rPr lang="en-US" altLang="en-US" sz="1400" dirty="0">
                <a:latin typeface="Cambria" pitchFamily="18" charset="0"/>
                <a:ea typeface="Verdana" pitchFamily="34" charset="0"/>
                <a:cs typeface="Helvetica"/>
              </a:rPr>
              <a:t>but recommendation quality is relatively poor</a:t>
            </a:r>
          </a:p>
        </p:txBody>
      </p:sp>
      <p:sp>
        <p:nvSpPr>
          <p:cNvPr id="31747" name="Content Placeholder 4"/>
          <p:cNvSpPr txBox="1">
            <a:spLocks/>
          </p:cNvSpPr>
          <p:nvPr/>
        </p:nvSpPr>
        <p:spPr bwMode="auto">
          <a:xfrm>
            <a:off x="5675194" y="1860076"/>
            <a:ext cx="3962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8925" indent="-2889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427038" indent="-288925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</a:pPr>
            <a:r>
              <a:rPr lang="en-US" sz="1800" b="1" dirty="0">
                <a:latin typeface="Cambria" panose="02040503050406030204" pitchFamily="18" charset="0"/>
              </a:rPr>
              <a:t>Item-to-Item collaborative filtering:</a:t>
            </a:r>
          </a:p>
          <a:p>
            <a:pPr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anose="020B0604030504040204" pitchFamily="34" charset="0"/>
              <a:buChar char="─"/>
            </a:pPr>
            <a:r>
              <a:rPr lang="en-US" sz="1400" dirty="0">
                <a:latin typeface="Cambria" panose="02040503050406030204" pitchFamily="18" charset="0"/>
              </a:rPr>
              <a:t>scalability and performance are achieved by creating the expensive similar-items table offline</a:t>
            </a:r>
          </a:p>
          <a:p>
            <a:pPr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anose="020B0604030504040204" pitchFamily="34" charset="0"/>
              <a:buChar char="─"/>
            </a:pPr>
            <a:r>
              <a:rPr lang="en-US" sz="1400" dirty="0">
                <a:latin typeface="Cambria" panose="02040503050406030204" pitchFamily="18" charset="0"/>
              </a:rPr>
              <a:t>online component "looking up similar items</a:t>
            </a:r>
            <a:r>
              <a:rPr lang="en-US" altLang="en-US" sz="1400" dirty="0">
                <a:latin typeface="Cambria" panose="02040503050406030204" pitchFamily="18" charset="0"/>
              </a:rPr>
              <a:t>“</a:t>
            </a:r>
            <a:r>
              <a:rPr lang="en-US" sz="1400" dirty="0">
                <a:latin typeface="Cambria" panose="02040503050406030204" pitchFamily="18" charset="0"/>
              </a:rPr>
              <a:t> scales independently of the catalog size or the number of customers</a:t>
            </a:r>
          </a:p>
          <a:p>
            <a:pPr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anose="020B0604030504040204" pitchFamily="34" charset="0"/>
              <a:buChar char="─"/>
            </a:pPr>
            <a:r>
              <a:rPr lang="en-US" sz="1400" dirty="0">
                <a:latin typeface="Cambria" panose="02040503050406030204" pitchFamily="18" charset="0"/>
              </a:rPr>
              <a:t>fast for extremely large data sets</a:t>
            </a:r>
          </a:p>
          <a:p>
            <a:pPr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anose="020B0604030504040204" pitchFamily="34" charset="0"/>
              <a:buChar char="─"/>
            </a:pPr>
            <a:r>
              <a:rPr lang="en-US" sz="1400" dirty="0">
                <a:latin typeface="Cambria" panose="02040503050406030204" pitchFamily="18" charset="0"/>
              </a:rPr>
              <a:t>recommendation quality is excellent since it recommends highly correlated similar items</a:t>
            </a:r>
          </a:p>
          <a:p>
            <a:pPr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Verdana" panose="020B0604030504040204" pitchFamily="34" charset="0"/>
              <a:buChar char="─"/>
            </a:pPr>
            <a:r>
              <a:rPr lang="en-US" sz="1400" dirty="0">
                <a:latin typeface="Cambria" panose="02040503050406030204" pitchFamily="18" charset="0"/>
              </a:rPr>
              <a:t>unlike traditional collaborative filtering, </a:t>
            </a:r>
          </a:p>
          <a:p>
            <a:pPr lvl="1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the algorithm performs well with limited user data, </a:t>
            </a:r>
          </a:p>
          <a:p>
            <a:pPr lvl="1">
              <a:lnSpc>
                <a:spcPct val="95000"/>
              </a:lnSpc>
              <a:spcBef>
                <a:spcPts val="600"/>
              </a:spcBef>
              <a:buClr>
                <a:schemeClr val="bg2"/>
              </a:buClr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producing high-quality recommendations based on as few as two or three items</a:t>
            </a:r>
          </a:p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400" b="1" dirty="0">
              <a:latin typeface="Cambria" panose="02040503050406030204" pitchFamily="18" charset="0"/>
            </a:endParaRPr>
          </a:p>
        </p:txBody>
      </p:sp>
      <p:sp>
        <p:nvSpPr>
          <p:cNvPr id="31748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116D4AD-1EE4-4812-8C52-73A78C76E63E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28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173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Results: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32770" name="Content Placeholder 4"/>
          <p:cNvSpPr>
            <a:spLocks noGrp="1"/>
          </p:cNvSpPr>
          <p:nvPr>
            <p:ph idx="1"/>
          </p:nvPr>
        </p:nvSpPr>
        <p:spPr>
          <a:xfrm>
            <a:off x="838200" y="1798638"/>
            <a:ext cx="9372600" cy="3992562"/>
          </a:xfrm>
        </p:spPr>
        <p:txBody>
          <a:bodyPr/>
          <a:lstStyle/>
          <a:p>
            <a:pPr marL="288925" indent="-288925"/>
            <a:r>
              <a:rPr lang="en-US" sz="1800" dirty="0">
                <a:latin typeface="Helvetica" panose="020B0604020202020204" pitchFamily="34" charset="0"/>
              </a:rPr>
              <a:t>The </a:t>
            </a:r>
            <a:r>
              <a:rPr lang="en-US" sz="1800" dirty="0" err="1">
                <a:latin typeface="Helvetica" panose="020B0604020202020204" pitchFamily="34" charset="0"/>
              </a:rPr>
              <a:t>MovieLens</a:t>
            </a:r>
            <a:r>
              <a:rPr lang="en-US" sz="1800" dirty="0">
                <a:latin typeface="Helvetica" panose="020B0604020202020204" pitchFamily="34" charset="0"/>
              </a:rPr>
              <a:t> dataset contains 1 million ratings from 6,040 users on 3,900 movies.</a:t>
            </a:r>
          </a:p>
          <a:p>
            <a:pPr marL="288925" indent="-288925"/>
            <a:r>
              <a:rPr lang="en-US" sz="1800" dirty="0">
                <a:latin typeface="Helvetica" panose="020B0604020202020204" pitchFamily="34" charset="0"/>
              </a:rPr>
              <a:t>The best overall results are reached by the item-by-item based approach. It needs 170 seconds to construct the model and 3 seconds to predict 100,021 ratings.</a:t>
            </a:r>
            <a:endParaRPr lang="en-US" sz="1800" b="1" dirty="0">
              <a:latin typeface="Cambria" panose="02040503050406030204" pitchFamily="18" charset="0"/>
            </a:endParaRPr>
          </a:p>
        </p:txBody>
      </p:sp>
      <p:pic>
        <p:nvPicPr>
          <p:cNvPr id="3277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1" y="3276601"/>
            <a:ext cx="761047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2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D19B58C-A16D-45B5-9891-DFCD34627291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29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48000" y="6248400"/>
            <a:ext cx="5791200" cy="6096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</a:rPr>
              <a:t>Table from: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 charset="0"/>
              </a:rPr>
              <a:t>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/>
                <a:cs typeface="Helvetica" charset="0"/>
              </a:rPr>
              <a:t>Candillier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 charset="0"/>
              </a:rPr>
              <a:t>, L., Meyer, F., &amp;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Helvetica"/>
                <a:cs typeface="Helvetica" charset="0"/>
              </a:rPr>
              <a:t>Boull'e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 charset="0"/>
              </a:rPr>
              <a:t> Marc. (2007). </a:t>
            </a:r>
          </a:p>
          <a:p>
            <a:pPr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  <a:cs typeface="Helvetica" charset="0"/>
              </a:rPr>
              <a:t>Comparing state-of-the-art collaborative filtering systems [3]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Helvetic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6654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Content Placeholder 2"/>
          <p:cNvSpPr>
            <a:spLocks noGrp="1"/>
          </p:cNvSpPr>
          <p:nvPr>
            <p:ph idx="1"/>
          </p:nvPr>
        </p:nvSpPr>
        <p:spPr>
          <a:xfrm>
            <a:off x="1296536" y="1637731"/>
            <a:ext cx="10057263" cy="4539232"/>
          </a:xfrm>
        </p:spPr>
        <p:txBody>
          <a:bodyPr/>
          <a:lstStyle/>
          <a:p>
            <a:endParaRPr lang="en-US" sz="1600" b="1" dirty="0">
              <a:solidFill>
                <a:srgbClr val="262626"/>
              </a:solidFill>
              <a:latin typeface="Helvetica" panose="020B0604020202020204" pitchFamily="34" charset="0"/>
            </a:endParaRPr>
          </a:p>
          <a:p>
            <a:r>
              <a:rPr lang="en-US" sz="2000" b="1" dirty="0">
                <a:solidFill>
                  <a:srgbClr val="262626"/>
                </a:solidFill>
                <a:latin typeface="Helvetica" panose="020B0604020202020204" pitchFamily="34" charset="0"/>
              </a:rPr>
              <a:t>Pandora</a:t>
            </a:r>
          </a:p>
          <a:p>
            <a:endParaRPr lang="en-US" sz="2000" b="1" dirty="0">
              <a:solidFill>
                <a:srgbClr val="262626"/>
              </a:solidFill>
              <a:latin typeface="Helvetica" panose="020B0604020202020204" pitchFamily="34" charset="0"/>
            </a:endParaRPr>
          </a:p>
          <a:p>
            <a:r>
              <a:rPr lang="en-US" sz="2000" b="1" dirty="0">
                <a:latin typeface="Helvetica" panose="020B0604020202020204" pitchFamily="34" charset="0"/>
              </a:rPr>
              <a:t>Netflix</a:t>
            </a:r>
          </a:p>
          <a:p>
            <a:endParaRPr lang="en-US" sz="2000" b="1" dirty="0">
              <a:solidFill>
                <a:srgbClr val="262626"/>
              </a:solidFill>
              <a:latin typeface="Helvetica" panose="020B0604020202020204" pitchFamily="34" charset="0"/>
            </a:endParaRPr>
          </a:p>
          <a:p>
            <a:r>
              <a:rPr lang="en-US" sz="2000" b="1" dirty="0">
                <a:latin typeface="Helvetica" panose="020B0604020202020204" pitchFamily="34" charset="0"/>
              </a:rPr>
              <a:t>Google YouTube</a:t>
            </a:r>
            <a:endParaRPr lang="en-US" sz="2000" b="1" dirty="0">
              <a:solidFill>
                <a:srgbClr val="262626"/>
              </a:solidFill>
              <a:latin typeface="Helvetica" panose="020B0604020202020204" pitchFamily="34" charset="0"/>
            </a:endParaRPr>
          </a:p>
        </p:txBody>
      </p:sp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86BC659-CD16-4CEC-818E-36822EF5C8E9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30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3795" name="TextBox 4"/>
          <p:cNvSpPr txBox="1">
            <a:spLocks noChangeArrowheads="1"/>
          </p:cNvSpPr>
          <p:nvPr/>
        </p:nvSpPr>
        <p:spPr bwMode="auto">
          <a:xfrm>
            <a:off x="1296536" y="796120"/>
            <a:ext cx="80772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800" b="1" dirty="0">
                <a:solidFill>
                  <a:srgbClr val="262626"/>
                </a:solidFill>
                <a:latin typeface="Helvetica" panose="020B0604020202020204" pitchFamily="34" charset="0"/>
              </a:rPr>
              <a:t>Some Related Applications</a:t>
            </a:r>
          </a:p>
        </p:txBody>
      </p:sp>
    </p:spTree>
    <p:extLst>
      <p:ext uri="{BB962C8B-B14F-4D97-AF65-F5344CB8AC3E}">
        <p14:creationId xmlns:p14="http://schemas.microsoft.com/office/powerpoint/2010/main" val="2076615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4495800" cy="2590800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800" b="1">
                <a:latin typeface="Helvetica" panose="020B0604020202020204" pitchFamily="34" charset="0"/>
              </a:rPr>
              <a:t>How It Works: </a:t>
            </a:r>
          </a:p>
          <a:p>
            <a:r>
              <a:rPr lang="en-US" altLang="zh-CN" sz="1600">
                <a:latin typeface="Helvetica" panose="020B0604020202020204" pitchFamily="34" charset="0"/>
              </a:rPr>
              <a:t>Base its recommendation on data from Music Genome Project</a:t>
            </a:r>
          </a:p>
          <a:p>
            <a:r>
              <a:rPr lang="en-US" altLang="zh-CN" sz="1600">
                <a:latin typeface="Helvetica" panose="020B0604020202020204" pitchFamily="34" charset="0"/>
              </a:rPr>
              <a:t>Assigns 400 attributes for each song, done by musicians, takes half an hour per song </a:t>
            </a:r>
          </a:p>
          <a:p>
            <a:r>
              <a:rPr lang="en-US" altLang="zh-CN" sz="1600">
                <a:latin typeface="Helvetica" panose="020B0604020202020204" pitchFamily="34" charset="0"/>
              </a:rPr>
              <a:t>Use this method to find songs which is similar to user’s favorite songs</a:t>
            </a:r>
          </a:p>
        </p:txBody>
      </p:sp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60E07F4-E51C-4B51-BE59-60CE29454A3A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31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5843" name="TextBox 4"/>
          <p:cNvSpPr txBox="1">
            <a:spLocks noChangeArrowheads="1"/>
          </p:cNvSpPr>
          <p:nvPr/>
        </p:nvSpPr>
        <p:spPr bwMode="auto">
          <a:xfrm>
            <a:off x="1981200" y="304800"/>
            <a:ext cx="80772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800" b="1">
                <a:solidFill>
                  <a:srgbClr val="262626"/>
                </a:solidFill>
                <a:latin typeface="Helvetica" panose="020B0604020202020204" pitchFamily="34" charset="0"/>
              </a:rPr>
              <a:t>Pandora music recommendation service </a:t>
            </a:r>
          </a:p>
        </p:txBody>
      </p:sp>
      <p:pic>
        <p:nvPicPr>
          <p:cNvPr id="35844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219201"/>
            <a:ext cx="3581400" cy="20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Content Placeholder 2"/>
          <p:cNvSpPr txBox="1">
            <a:spLocks/>
          </p:cNvSpPr>
          <p:nvPr/>
        </p:nvSpPr>
        <p:spPr bwMode="auto">
          <a:xfrm>
            <a:off x="1981200" y="3810000"/>
            <a:ext cx="8153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</a:pPr>
            <a:r>
              <a:rPr lang="en-US" altLang="zh-CN" sz="1800" b="1">
                <a:latin typeface="Helvetica" panose="020B0604020202020204" pitchFamily="34" charset="0"/>
              </a:rPr>
              <a:t>Benefits: </a:t>
            </a:r>
          </a:p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Helvetica" panose="020B0604020202020204" pitchFamily="34" charset="0"/>
              </a:rPr>
              <a:t>Accurate method, don’t need lots of users information, needs little to get started</a:t>
            </a:r>
          </a:p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</a:pPr>
            <a:r>
              <a:rPr lang="en-US" altLang="zh-CN" sz="1800" b="1">
                <a:latin typeface="Helvetica" panose="020B0604020202020204" pitchFamily="34" charset="0"/>
              </a:rPr>
              <a:t>Drawback: </a:t>
            </a:r>
          </a:p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Helvetica" panose="020B0604020202020204" pitchFamily="34" charset="0"/>
              </a:rPr>
              <a:t>Doesn't scale very well and often feels that Pandora's library is somewhat limited</a:t>
            </a:r>
          </a:p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altLang="zh-CN">
              <a:latin typeface="Helvetica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pandora.com </a:t>
            </a:r>
          </a:p>
        </p:txBody>
      </p:sp>
    </p:spTree>
    <p:extLst>
      <p:ext uri="{BB962C8B-B14F-4D97-AF65-F5344CB8AC3E}">
        <p14:creationId xmlns:p14="http://schemas.microsoft.com/office/powerpoint/2010/main" val="3693108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4648200" cy="3505200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US" sz="1800" b="1">
                <a:latin typeface="Helvetica" panose="020B0604020202020204" pitchFamily="34" charset="0"/>
              </a:rPr>
              <a:t>What</a:t>
            </a:r>
            <a:r>
              <a:rPr lang="en-US" altLang="en-US" sz="1800" b="1">
                <a:latin typeface="Helvetica" panose="020B0604020202020204" pitchFamily="34" charset="0"/>
              </a:rPr>
              <a:t>’</a:t>
            </a:r>
            <a:r>
              <a:rPr lang="en-US" sz="1800" b="1">
                <a:latin typeface="Helvetica" panose="020B0604020202020204" pitchFamily="34" charset="0"/>
              </a:rPr>
              <a:t>s it  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Helvetica" panose="020B0604020202020204" pitchFamily="34" charset="0"/>
              </a:rPr>
              <a:t>Make recommendations by comparing the watching and the searching habits of similar users as well as by offering movies that share characteristics with films that a user has rated highly</a:t>
            </a:r>
          </a:p>
          <a:p>
            <a:pPr>
              <a:lnSpc>
                <a:spcPct val="100000"/>
              </a:lnSpc>
            </a:pPr>
            <a:r>
              <a:rPr lang="en-US" altLang="zh-CN" sz="1600">
                <a:latin typeface="Helvetica" panose="020B0604020202020204" pitchFamily="34" charset="0"/>
              </a:rPr>
              <a:t>Collaborative, content-based, knowledge-based, and demographic techniques serves as the basis of its recommendation system. An ensemble method of 107 different algorithmic approaches, blended into a single prediction</a:t>
            </a:r>
          </a:p>
        </p:txBody>
      </p:sp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6DFB54D-37AA-4594-8575-210FB98E4B0F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32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7891" name="TextBox 4"/>
          <p:cNvSpPr txBox="1">
            <a:spLocks noChangeArrowheads="1"/>
          </p:cNvSpPr>
          <p:nvPr/>
        </p:nvSpPr>
        <p:spPr bwMode="auto">
          <a:xfrm>
            <a:off x="1981200" y="304800"/>
            <a:ext cx="80772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800" b="1">
                <a:latin typeface="Helvetica" panose="020B0604020202020204" pitchFamily="34" charset="0"/>
              </a:rPr>
              <a:t>Netflix movie recommendation system </a:t>
            </a:r>
            <a:endParaRPr lang="en-US" sz="2800" b="1">
              <a:solidFill>
                <a:srgbClr val="262626"/>
              </a:solidFill>
              <a:latin typeface="Helvetica" panose="020B0604020202020204" pitchFamily="34" charset="0"/>
            </a:endParaRPr>
          </a:p>
        </p:txBody>
      </p:sp>
      <p:pic>
        <p:nvPicPr>
          <p:cNvPr id="37892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628"/>
          <a:stretch>
            <a:fillRect/>
          </a:stretch>
        </p:blipFill>
        <p:spPr bwMode="auto">
          <a:xfrm>
            <a:off x="6629400" y="1295401"/>
            <a:ext cx="3733800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Content Placeholder 2"/>
          <p:cNvSpPr txBox="1">
            <a:spLocks/>
          </p:cNvSpPr>
          <p:nvPr/>
        </p:nvSpPr>
        <p:spPr bwMode="auto">
          <a:xfrm>
            <a:off x="2057400" y="4648200"/>
            <a:ext cx="81534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</a:pPr>
            <a:r>
              <a:rPr lang="en-US" altLang="zh-CN" sz="1600" b="1">
                <a:latin typeface="Helvetica" panose="020B0604020202020204" pitchFamily="34" charset="0"/>
              </a:rPr>
              <a:t>Benefit: </a:t>
            </a:r>
          </a:p>
          <a:p>
            <a:pPr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Helvetica" panose="020B0604020202020204" pitchFamily="34" charset="0"/>
              </a:rPr>
              <a:t>Each of these techniques has known shortcomings, using multiple techniques together achieves some synergy between them.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netflix.com </a:t>
            </a:r>
          </a:p>
        </p:txBody>
      </p:sp>
    </p:spTree>
    <p:extLst>
      <p:ext uri="{BB962C8B-B14F-4D97-AF65-F5344CB8AC3E}">
        <p14:creationId xmlns:p14="http://schemas.microsoft.com/office/powerpoint/2010/main" val="1250938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Content Placeholder 2"/>
          <p:cNvSpPr>
            <a:spLocks noGrp="1"/>
          </p:cNvSpPr>
          <p:nvPr>
            <p:ph idx="1"/>
          </p:nvPr>
        </p:nvSpPr>
        <p:spPr>
          <a:xfrm>
            <a:off x="1981200" y="1066800"/>
            <a:ext cx="4267200" cy="243840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altLang="zh-CN" sz="1800" b="1" dirty="0">
                <a:latin typeface="Helvetica" charset="0"/>
              </a:rPr>
              <a:t>Why: </a:t>
            </a:r>
          </a:p>
          <a:p>
            <a:pPr marL="225425" indent="-225425">
              <a:lnSpc>
                <a:spcPct val="100000"/>
              </a:lnSpc>
              <a:defRPr/>
            </a:pPr>
            <a:r>
              <a:rPr lang="en-US" altLang="zh-CN" sz="1600" dirty="0">
                <a:latin typeface="Helvetica" charset="0"/>
              </a:rPr>
              <a:t>Focus on videos, bring videos to users which they believe users will be interest in</a:t>
            </a:r>
          </a:p>
          <a:p>
            <a:pPr marL="225425" indent="-225425">
              <a:lnSpc>
                <a:spcPct val="100000"/>
              </a:lnSpc>
              <a:defRPr/>
            </a:pPr>
            <a:r>
              <a:rPr lang="en-US" altLang="zh-CN" sz="1600" dirty="0">
                <a:latin typeface="Helvetica" charset="0"/>
              </a:rPr>
              <a:t>Increase the numbers of videos, increase the length of time, and maximize the enjoyment</a:t>
            </a:r>
          </a:p>
          <a:p>
            <a:pPr marL="225425" indent="-225425">
              <a:lnSpc>
                <a:spcPct val="100000"/>
              </a:lnSpc>
              <a:defRPr/>
            </a:pPr>
            <a:r>
              <a:rPr lang="en-US" altLang="zh-CN" sz="1600" dirty="0">
                <a:latin typeface="Helvetica" charset="0"/>
              </a:rPr>
              <a:t>Ultimately </a:t>
            </a:r>
            <a:r>
              <a:rPr lang="en-US" altLang="zh-CN" sz="1600" dirty="0" err="1">
                <a:latin typeface="Helvetica" charset="0"/>
              </a:rPr>
              <a:t>google</a:t>
            </a:r>
            <a:r>
              <a:rPr lang="en-US" altLang="zh-CN" sz="1600" dirty="0">
                <a:latin typeface="Helvetica" charset="0"/>
              </a:rPr>
              <a:t> can increase revenue by showing more ads</a:t>
            </a:r>
          </a:p>
        </p:txBody>
      </p:sp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9AA000B-9CD8-4A08-82F2-A3D90A0FC10B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33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  <p:sp>
        <p:nvSpPr>
          <p:cNvPr id="39939" name="TextBox 4"/>
          <p:cNvSpPr txBox="1">
            <a:spLocks noChangeArrowheads="1"/>
          </p:cNvSpPr>
          <p:nvPr/>
        </p:nvSpPr>
        <p:spPr bwMode="auto">
          <a:xfrm>
            <a:off x="1981200" y="304800"/>
            <a:ext cx="80772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2800" b="1">
                <a:latin typeface="Helvetica" panose="020B0604020202020204" pitchFamily="34" charset="0"/>
              </a:rPr>
              <a:t>Google YouTube recommendation system </a:t>
            </a:r>
            <a:endParaRPr lang="en-US" sz="2800" b="1">
              <a:solidFill>
                <a:srgbClr val="262626"/>
              </a:solidFill>
              <a:latin typeface="Helvetica" panose="020B0604020202020204" pitchFamily="34" charset="0"/>
            </a:endParaRPr>
          </a:p>
        </p:txBody>
      </p:sp>
      <p:pic>
        <p:nvPicPr>
          <p:cNvPr id="3994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0" t="3857" r="4066"/>
          <a:stretch>
            <a:fillRect/>
          </a:stretch>
        </p:blipFill>
        <p:spPr bwMode="auto">
          <a:xfrm>
            <a:off x="6837364" y="1219201"/>
            <a:ext cx="3373437" cy="193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Content Placeholder 2"/>
          <p:cNvSpPr txBox="1">
            <a:spLocks/>
          </p:cNvSpPr>
          <p:nvPr/>
        </p:nvSpPr>
        <p:spPr bwMode="auto">
          <a:xfrm>
            <a:off x="2057400" y="4114800"/>
            <a:ext cx="8077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5000"/>
              </a:lnSpc>
              <a:spcBef>
                <a:spcPts val="1200"/>
              </a:spcBef>
              <a:buClr>
                <a:schemeClr val="bg2"/>
              </a:buClr>
            </a:pPr>
            <a:r>
              <a:rPr lang="en-US" altLang="zh-CN" sz="1800" b="1">
                <a:latin typeface="Helvetica" panose="020B0604020202020204" pitchFamily="34" charset="0"/>
              </a:rPr>
              <a:t>Interesting things: </a:t>
            </a:r>
          </a:p>
          <a:p>
            <a:pPr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altLang="zh-CN" sz="1600">
                <a:latin typeface="Helvetica" panose="020B0604020202020204" pitchFamily="34" charset="0"/>
              </a:rPr>
              <a:t>Give up its old recommendation system based on random walk, changed  to a new one based on Amazon’s item-to-item collaborative filtering in 2010</a:t>
            </a:r>
          </a:p>
          <a:p>
            <a:pPr>
              <a:spcBef>
                <a:spcPts val="1200"/>
              </a:spcBef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altLang="zh-CN" sz="1600" b="1">
                <a:latin typeface="Helvetica" panose="020B0604020202020204" pitchFamily="34" charset="0"/>
              </a:rPr>
              <a:t>Amazon’s item-to-item collaborative filtering appears to be the best for video recommendation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0" y="6477000"/>
            <a:ext cx="5791200" cy="381000"/>
          </a:xfrm>
          <a:prstGeom prst="rect">
            <a:avLst/>
          </a:prstGeom>
          <a:noFill/>
        </p:spPr>
        <p:txBody>
          <a:bodyPr wrap="none"/>
          <a:lstStyle/>
          <a:p>
            <a:pPr>
              <a:defRPr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Picture from: youtube.com </a:t>
            </a:r>
          </a:p>
        </p:txBody>
      </p:sp>
    </p:spTree>
    <p:extLst>
      <p:ext uri="{BB962C8B-B14F-4D97-AF65-F5344CB8AC3E}">
        <p14:creationId xmlns:p14="http://schemas.microsoft.com/office/powerpoint/2010/main" val="141490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Helvetica" panose="020B0604020202020204" pitchFamily="34" charset="0"/>
              </a:rPr>
              <a:t>References:</a:t>
            </a:r>
            <a:endParaRPr lang="en-US" smtClean="0">
              <a:latin typeface="Cambria" panose="02040503050406030204" pitchFamily="18" charset="0"/>
            </a:endParaRPr>
          </a:p>
        </p:txBody>
      </p:sp>
      <p:sp>
        <p:nvSpPr>
          <p:cNvPr id="41986" name="Content Placeholder 4"/>
          <p:cNvSpPr>
            <a:spLocks noGrp="1"/>
          </p:cNvSpPr>
          <p:nvPr>
            <p:ph idx="1"/>
          </p:nvPr>
        </p:nvSpPr>
        <p:spPr>
          <a:xfrm>
            <a:off x="838200" y="1690688"/>
            <a:ext cx="9372600" cy="4862512"/>
          </a:xfrm>
        </p:spPr>
        <p:txBody>
          <a:bodyPr/>
          <a:lstStyle/>
          <a:p>
            <a:pPr marL="342900" indent="-342900">
              <a:buFont typeface="Verdana" panose="020B0604030504040204" pitchFamily="34" charset="0"/>
              <a:buAutoNum type="arabicPeriod"/>
              <a:tabLst>
                <a:tab pos="1539875" algn="l"/>
              </a:tabLst>
            </a:pPr>
            <a:r>
              <a:rPr lang="en-US" sz="1600" dirty="0">
                <a:latin typeface="Helvetica" panose="020B0604020202020204" pitchFamily="34" charset="0"/>
              </a:rPr>
              <a:t>Linden, G.; Smith, B.; York, J.; , "Amazon.com recommendations: item-to-item collaborative filtering,". Internet Computing, IEEE , vol.7, no.1, pp. 76- 80, Jan/Feb 2003</a:t>
            </a:r>
          </a:p>
          <a:p>
            <a:pPr marL="342900" indent="-342900">
              <a:buFont typeface="Verdana" panose="020B0604030504040204" pitchFamily="34" charset="0"/>
              <a:buAutoNum type="arabicPeriod"/>
              <a:tabLst>
                <a:tab pos="1539875" algn="l"/>
              </a:tabLst>
            </a:pPr>
            <a:r>
              <a:rPr lang="en-US" sz="1600" dirty="0" err="1">
                <a:latin typeface="Helvetica" panose="020B0604020202020204" pitchFamily="34" charset="0"/>
              </a:rPr>
              <a:t>Takács</a:t>
            </a:r>
            <a:r>
              <a:rPr lang="en-US" sz="1600" dirty="0">
                <a:latin typeface="Helvetica" panose="020B0604020202020204" pitchFamily="34" charset="0"/>
              </a:rPr>
              <a:t>, G.; </a:t>
            </a:r>
            <a:r>
              <a:rPr lang="en-US" sz="1600" dirty="0" err="1">
                <a:latin typeface="Helvetica" panose="020B0604020202020204" pitchFamily="34" charset="0"/>
              </a:rPr>
              <a:t>Pilászy</a:t>
            </a:r>
            <a:r>
              <a:rPr lang="en-US" sz="1600" dirty="0">
                <a:latin typeface="Helvetica" panose="020B0604020202020204" pitchFamily="34" charset="0"/>
              </a:rPr>
              <a:t>, I.; </a:t>
            </a:r>
            <a:r>
              <a:rPr lang="en-US" sz="1600" dirty="0" err="1">
                <a:latin typeface="Helvetica" panose="020B0604020202020204" pitchFamily="34" charset="0"/>
              </a:rPr>
              <a:t>Németh</a:t>
            </a:r>
            <a:r>
              <a:rPr lang="en-US" sz="1600" dirty="0">
                <a:latin typeface="Helvetica" panose="020B0604020202020204" pitchFamily="34" charset="0"/>
              </a:rPr>
              <a:t>, B.; </a:t>
            </a:r>
            <a:r>
              <a:rPr lang="en-US" sz="1600" dirty="0" err="1">
                <a:latin typeface="Helvetica" panose="020B0604020202020204" pitchFamily="34" charset="0"/>
              </a:rPr>
              <a:t>Tikk</a:t>
            </a:r>
            <a:r>
              <a:rPr lang="en-US" sz="1600" dirty="0">
                <a:latin typeface="Helvetica" panose="020B0604020202020204" pitchFamily="34" charset="0"/>
              </a:rPr>
              <a:t>, D. (March 2009). "Scalable Collaborative Filtering Approaches for Large Recommender Systems". Journal of Machine Learning Research 10: 623-656</a:t>
            </a:r>
          </a:p>
          <a:p>
            <a:pPr marL="342900" indent="-342900">
              <a:buFont typeface="Verdana" panose="020B0604030504040204" pitchFamily="34" charset="0"/>
              <a:buAutoNum type="arabicPeriod"/>
              <a:tabLst>
                <a:tab pos="1539875" algn="l"/>
              </a:tabLst>
            </a:pPr>
            <a:r>
              <a:rPr lang="en-US" sz="1600" dirty="0" err="1">
                <a:latin typeface="Helvetica" panose="020B0604020202020204" pitchFamily="34" charset="0"/>
              </a:rPr>
              <a:t>Candillier</a:t>
            </a:r>
            <a:r>
              <a:rPr lang="en-US" sz="1600" dirty="0">
                <a:latin typeface="Helvetica" panose="020B0604020202020204" pitchFamily="34" charset="0"/>
              </a:rPr>
              <a:t>, L., Meyer, F., &amp; </a:t>
            </a:r>
            <a:r>
              <a:rPr lang="en-US" sz="1600" dirty="0" err="1">
                <a:latin typeface="Helvetica" panose="020B0604020202020204" pitchFamily="34" charset="0"/>
              </a:rPr>
              <a:t>Boull'e</a:t>
            </a:r>
            <a:r>
              <a:rPr lang="en-US" sz="1600" dirty="0">
                <a:latin typeface="Helvetica" panose="020B0604020202020204" pitchFamily="34" charset="0"/>
              </a:rPr>
              <a:t> Marc. (2007). Comparing state-of-the-art collaborative filtering systems. Proceedings of the 5th International Conference on Machine Learning and Data Mining in Pattern Recognition, Leipzig, Germany. 548-562. </a:t>
            </a:r>
            <a:r>
              <a:rPr lang="en-US" sz="1600" dirty="0" err="1">
                <a:latin typeface="Helvetica" panose="020B0604020202020204" pitchFamily="34" charset="0"/>
              </a:rPr>
              <a:t>doi</a:t>
            </a:r>
            <a:r>
              <a:rPr lang="en-US" sz="1600" dirty="0">
                <a:latin typeface="Helvetica" panose="020B0604020202020204" pitchFamily="34" charset="0"/>
              </a:rPr>
              <a:t>: 10.1007/978-3-540-73499-4_41</a:t>
            </a:r>
          </a:p>
          <a:p>
            <a:pPr marL="342900" indent="-342900">
              <a:buFont typeface="Verdana" panose="020B0604030504040204" pitchFamily="34" charset="0"/>
              <a:buAutoNum type="arabicPeriod"/>
              <a:tabLst>
                <a:tab pos="1539875" algn="l"/>
              </a:tabLst>
            </a:pPr>
            <a:r>
              <a:rPr lang="en-US" sz="1600" dirty="0" err="1">
                <a:latin typeface="Helvetica" panose="020B0604020202020204" pitchFamily="34" charset="0"/>
              </a:rPr>
              <a:t>Ala</a:t>
            </a:r>
            <a:r>
              <a:rPr lang="en-US" sz="1600" dirty="0">
                <a:latin typeface="Helvetica" panose="020B0604020202020204" pitchFamily="34" charset="0"/>
              </a:rPr>
              <a:t> </a:t>
            </a:r>
            <a:r>
              <a:rPr lang="en-US" sz="1600" dirty="0" err="1">
                <a:latin typeface="Helvetica" panose="020B0604020202020204" pitchFamily="34" charset="0"/>
              </a:rPr>
              <a:t>Alluhaidan</a:t>
            </a:r>
            <a:r>
              <a:rPr lang="en-US" sz="1600" dirty="0">
                <a:latin typeface="Helvetica" panose="020B0604020202020204" pitchFamily="34" charset="0"/>
              </a:rPr>
              <a:t>, </a:t>
            </a:r>
            <a:r>
              <a:rPr lang="en-US" sz="1600" dirty="0" err="1">
                <a:latin typeface="Helvetica" panose="020B0604020202020204" pitchFamily="34" charset="0"/>
              </a:rPr>
              <a:t>Ala</a:t>
            </a:r>
            <a:r>
              <a:rPr lang="en-US" sz="1600" dirty="0">
                <a:latin typeface="Helvetica" panose="020B0604020202020204" pitchFamily="34" charset="0"/>
              </a:rPr>
              <a:t>, "Recommender System Using Collaborative Filtering Algorithm" (2013). Technical Library. Paper 155. http://scholarworks.gvsu.edu/cistechlib/155</a:t>
            </a:r>
          </a:p>
          <a:p>
            <a:pPr marL="342900" indent="-342900">
              <a:buFont typeface="Verdana" panose="020B0604030504040204" pitchFamily="34" charset="0"/>
              <a:buAutoNum type="arabicPeriod"/>
              <a:tabLst>
                <a:tab pos="1539875" algn="l"/>
              </a:tabLst>
            </a:pPr>
            <a:r>
              <a:rPr lang="en-US" sz="1600" dirty="0">
                <a:latin typeface="Helvetica" panose="020B0604020202020204" pitchFamily="34" charset="0"/>
              </a:rPr>
              <a:t>Francesco Ricci, Slides on "Item-to-Item Collaborative Filtering and Matrix Factorization". http://www.ics.uci.edu/~welling/teaching/CS77Bwinter12/presentations/course_Ricci/13-Item-to-Item-Matrix-CF.pdf</a:t>
            </a:r>
          </a:p>
          <a:p>
            <a:pPr marL="342900" indent="-342900">
              <a:buFont typeface="Verdana" panose="020B0604030504040204" pitchFamily="34" charset="0"/>
              <a:buAutoNum type="arabicPeriod"/>
              <a:tabLst>
                <a:tab pos="1539875" algn="l"/>
              </a:tabLst>
            </a:pPr>
            <a:r>
              <a:rPr lang="en-US" sz="1600" dirty="0">
                <a:latin typeface="Helvetica" panose="020B0604020202020204" pitchFamily="34" charset="0"/>
              </a:rPr>
              <a:t>Xavier </a:t>
            </a:r>
            <a:r>
              <a:rPr lang="en-US" sz="1600" dirty="0" err="1">
                <a:latin typeface="Helvetica" panose="020B0604020202020204" pitchFamily="34" charset="0"/>
              </a:rPr>
              <a:t>Amatriain</a:t>
            </a:r>
            <a:r>
              <a:rPr lang="en-US" sz="1600" dirty="0">
                <a:latin typeface="Helvetica" panose="020B0604020202020204" pitchFamily="34" charset="0"/>
              </a:rPr>
              <a:t>, </a:t>
            </a:r>
            <a:r>
              <a:rPr lang="en-US" sz="1600" dirty="0" err="1">
                <a:latin typeface="Helvetica" panose="020B0604020202020204" pitchFamily="34" charset="0"/>
              </a:rPr>
              <a:t>Bamshad</a:t>
            </a:r>
            <a:r>
              <a:rPr lang="en-US" sz="1600" dirty="0">
                <a:latin typeface="Helvetica" panose="020B0604020202020204" pitchFamily="34" charset="0"/>
              </a:rPr>
              <a:t> </a:t>
            </a:r>
            <a:r>
              <a:rPr lang="en-US" sz="1600" dirty="0" err="1">
                <a:latin typeface="Helvetica" panose="020B0604020202020204" pitchFamily="34" charset="0"/>
              </a:rPr>
              <a:t>Mobasher</a:t>
            </a:r>
            <a:r>
              <a:rPr lang="en-US" sz="1600" dirty="0">
                <a:latin typeface="Helvetica" panose="020B0604020202020204" pitchFamily="34" charset="0"/>
              </a:rPr>
              <a:t>; KDD 2014 Tutorial - the recommender problem revisited. http://www.kdd.org/kdd2014/tutorials.html</a:t>
            </a:r>
          </a:p>
          <a:p>
            <a:pPr marL="342900" indent="-342900">
              <a:tabLst>
                <a:tab pos="1539875" algn="l"/>
              </a:tabLst>
            </a:pPr>
            <a:endParaRPr lang="en-US" sz="1400" b="1" dirty="0">
              <a:latin typeface="Cambria" panose="02040503050406030204" pitchFamily="18" charset="0"/>
            </a:endParaRPr>
          </a:p>
        </p:txBody>
      </p:sp>
      <p:sp>
        <p:nvSpPr>
          <p:cNvPr id="41987" name="Slide Number Placeholder 1"/>
          <p:cNvSpPr>
            <a:spLocks noGrp="1"/>
          </p:cNvSpPr>
          <p:nvPr>
            <p:ph type="sldNum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E9E51E-1D61-4267-BF87-FADFF631BB5E}" type="slidenum">
              <a:rPr lang="en-US" sz="1800">
                <a:solidFill>
                  <a:schemeClr val="bg1"/>
                </a:solidFill>
                <a:latin typeface="Helvetica" panose="020B0604020202020204" pitchFamily="34" charset="0"/>
              </a:rPr>
              <a:pPr/>
              <a:t>34</a:t>
            </a:fld>
            <a:endParaRPr lang="en-US" sz="1800">
              <a:solidFill>
                <a:schemeClr val="bg1"/>
              </a:solidFill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26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87" y="2576062"/>
            <a:ext cx="10515600" cy="1325563"/>
          </a:xfrm>
        </p:spPr>
        <p:txBody>
          <a:bodyPr/>
          <a:lstStyle/>
          <a:p>
            <a:pPr algn="ctr"/>
            <a:r>
              <a:rPr lang="en-IN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6196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2099</Words>
  <Application>Microsoft Office PowerPoint</Application>
  <PresentationFormat>Widescreen</PresentationFormat>
  <Paragraphs>277</Paragraphs>
  <Slides>35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8" baseType="lpstr">
      <vt:lpstr>ＭＳ Ｐゴシック</vt:lpstr>
      <vt:lpstr>SimSun</vt:lpstr>
      <vt:lpstr>Arial</vt:lpstr>
      <vt:lpstr>Calibri</vt:lpstr>
      <vt:lpstr>Calibri Light</vt:lpstr>
      <vt:lpstr>Cambria</vt:lpstr>
      <vt:lpstr>Helvetica</vt:lpstr>
      <vt:lpstr>Symbol</vt:lpstr>
      <vt:lpstr>Times New Roman</vt:lpstr>
      <vt:lpstr>Verdana</vt:lpstr>
      <vt:lpstr>Wingdings</vt:lpstr>
      <vt:lpstr>Office Theme</vt:lpstr>
      <vt:lpstr>Microsoft Equation 3.0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Recommender Problem </vt:lpstr>
      <vt:lpstr>Amazon’s solution</vt:lpstr>
      <vt:lpstr>Personalization</vt:lpstr>
      <vt:lpstr>Machine Learning and Personalization</vt:lpstr>
      <vt:lpstr>Collaborative Filtering</vt:lpstr>
      <vt:lpstr>Collaborative Filtering Method</vt:lpstr>
      <vt:lpstr>Similarity Weighting</vt:lpstr>
      <vt:lpstr>Covariance and Standard Deviation</vt:lpstr>
      <vt:lpstr>Significance Weighting</vt:lpstr>
      <vt:lpstr>Neighbor Selection</vt:lpstr>
      <vt:lpstr>Rating Prediction</vt:lpstr>
      <vt:lpstr>Problems with Collaborative Filtering</vt:lpstr>
      <vt:lpstr>Content-Based Recommending</vt:lpstr>
      <vt:lpstr>Advantages of Content-Based Approach</vt:lpstr>
      <vt:lpstr>Disadvantages of Content-Based Method</vt:lpstr>
      <vt:lpstr>Traditional Recommendation Algorithms</vt:lpstr>
      <vt:lpstr>User Based Collaborative Filtering</vt:lpstr>
      <vt:lpstr>Cluster Models</vt:lpstr>
      <vt:lpstr>Amazon’s Item-to-Item CF</vt:lpstr>
      <vt:lpstr>Amazon’s Item-to-Item CF</vt:lpstr>
      <vt:lpstr>Amazon’s Item-to-Item CF</vt:lpstr>
      <vt:lpstr>Offline computation : Online Recommendation</vt:lpstr>
      <vt:lpstr>Scalability and Quality: Comparison</vt:lpstr>
      <vt:lpstr>Results:</vt:lpstr>
      <vt:lpstr>PowerPoint Presentation</vt:lpstr>
      <vt:lpstr>PowerPoint Presentation</vt:lpstr>
      <vt:lpstr>PowerPoint Presentation</vt:lpstr>
      <vt:lpstr>PowerPoint Presentation</vt:lpstr>
      <vt:lpstr>References: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laptop</dc:creator>
  <cp:lastModifiedBy>laptop</cp:lastModifiedBy>
  <cp:revision>7</cp:revision>
  <dcterms:created xsi:type="dcterms:W3CDTF">2020-01-06T04:57:33Z</dcterms:created>
  <dcterms:modified xsi:type="dcterms:W3CDTF">2020-01-06T05:24:36Z</dcterms:modified>
</cp:coreProperties>
</file>