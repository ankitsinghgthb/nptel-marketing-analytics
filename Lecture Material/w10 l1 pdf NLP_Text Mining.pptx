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21"/>
  </p:notesMasterIdLst>
  <p:sldIdLst>
    <p:sldId id="257" r:id="rId2"/>
    <p:sldId id="277" r:id="rId3"/>
    <p:sldId id="278" r:id="rId4"/>
    <p:sldId id="271" r:id="rId5"/>
    <p:sldId id="268" r:id="rId6"/>
    <p:sldId id="269" r:id="rId7"/>
    <p:sldId id="259" r:id="rId8"/>
    <p:sldId id="260" r:id="rId9"/>
    <p:sldId id="265" r:id="rId10"/>
    <p:sldId id="266" r:id="rId11"/>
    <p:sldId id="267" r:id="rId12"/>
    <p:sldId id="261" r:id="rId13"/>
    <p:sldId id="263" r:id="rId14"/>
    <p:sldId id="264" r:id="rId15"/>
    <p:sldId id="272" r:id="rId16"/>
    <p:sldId id="274" r:id="rId17"/>
    <p:sldId id="273" r:id="rId18"/>
    <p:sldId id="275" r:id="rId19"/>
    <p:sldId id="27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831548-2BA9-47CC-91EE-EDC32892AD50}" type="datetimeFigureOut">
              <a:rPr lang="en-GB" smtClean="0"/>
              <a:t>18/05/2019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B32558-79CB-43BD-847E-C3597150DF14}" type="slidenum">
              <a:rPr lang="en-GB" smtClean="0"/>
              <a:t>‹#›</a:t>
            </a:fld>
            <a:endParaRPr lang="en-GB"/>
          </a:p>
        </p:txBody>
      </p:sp>
    </p:spTree>
    <p:extLst>
      <p:ext uri="{BB962C8B-B14F-4D97-AF65-F5344CB8AC3E}">
        <p14:creationId xmlns:p14="http://schemas.microsoft.com/office/powerpoint/2010/main" val="420953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556A2C-BDEF-4F14-86A4-3D28BC3ADDF2}" type="slidenum">
              <a:rPr lang="en-US" altLang="en-US">
                <a:solidFill>
                  <a:prstClr val="black"/>
                </a:solidFill>
              </a:rPr>
              <a:pPr/>
              <a:t>1</a:t>
            </a:fld>
            <a:endParaRPr lang="en-US" altLang="en-US">
              <a:solidFill>
                <a:prstClr val="black"/>
              </a:solidFill>
            </a:endParaRPr>
          </a:p>
        </p:txBody>
      </p:sp>
      <p:sp>
        <p:nvSpPr>
          <p:cNvPr id="1815554" name="Rectangle 2"/>
          <p:cNvSpPr>
            <a:spLocks noGrp="1" noRot="1" noChangeAspect="1" noChangeArrowheads="1" noTextEdit="1"/>
          </p:cNvSpPr>
          <p:nvPr>
            <p:ph type="sldImg"/>
          </p:nvPr>
        </p:nvSpPr>
        <p:spPr>
          <a:ln/>
        </p:spPr>
      </p:sp>
      <p:sp>
        <p:nvSpPr>
          <p:cNvPr id="18155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8CF125-FF85-4E31-87E4-A76B5A3F0F0F}" type="slidenum">
              <a:rPr lang="en-US" altLang="en-US">
                <a:solidFill>
                  <a:prstClr val="black"/>
                </a:solidFill>
              </a:rPr>
              <a:pPr/>
              <a:t>7</a:t>
            </a:fld>
            <a:endParaRPr lang="en-US" altLang="en-US">
              <a:solidFill>
                <a:prstClr val="black"/>
              </a:solidFill>
            </a:endParaRPr>
          </a:p>
        </p:txBody>
      </p:sp>
      <p:sp>
        <p:nvSpPr>
          <p:cNvPr id="1595394" name="Rectangle 2"/>
          <p:cNvSpPr>
            <a:spLocks noGrp="1" noRot="1" noChangeAspect="1" noChangeArrowheads="1" noTextEdit="1"/>
          </p:cNvSpPr>
          <p:nvPr>
            <p:ph type="sldImg"/>
          </p:nvPr>
        </p:nvSpPr>
        <p:spPr>
          <a:ln/>
        </p:spPr>
      </p:sp>
      <p:sp>
        <p:nvSpPr>
          <p:cNvPr id="1595395" name="Rectangle 3"/>
          <p:cNvSpPr>
            <a:spLocks noGrp="1" noChangeArrowheads="1"/>
          </p:cNvSpPr>
          <p:nvPr>
            <p:ph type="body" idx="1"/>
          </p:nvPr>
        </p:nvSpPr>
        <p:spPr>
          <a:xfrm>
            <a:off x="686421" y="4344025"/>
            <a:ext cx="5485158" cy="4114488"/>
          </a:xfrm>
        </p:spPr>
        <p:txBody>
          <a:bodyPr/>
          <a:lstStyle/>
          <a:p>
            <a:r>
              <a:rPr lang="en-US" altLang="en-US"/>
              <a:t>Throughout this course we have been discussing Data Mining over a variety of data types.</a:t>
            </a:r>
          </a:p>
          <a:p>
            <a:r>
              <a:rPr lang="en-US" altLang="en-US"/>
              <a:t>Two former types we covered were Structured Data (relational) and multimedia data.</a:t>
            </a:r>
          </a:p>
          <a:p>
            <a:r>
              <a:rPr lang="en-US" altLang="en-US"/>
              <a:t>Today and in the last class we have been discussing Data Mining over free text,</a:t>
            </a:r>
          </a:p>
          <a:p>
            <a:r>
              <a:rPr lang="en-US" altLang="en-US"/>
              <a:t>and our next section will cover hypertext, such as web pages.</a:t>
            </a:r>
          </a:p>
          <a:p>
            <a:endParaRPr lang="en-US" altLang="en-US"/>
          </a:p>
          <a:p>
            <a:r>
              <a:rPr lang="en-US" altLang="en-US"/>
              <a:t>Text mining is well motivated, due to the fact that much of the world’s data can be</a:t>
            </a:r>
          </a:p>
          <a:p>
            <a:r>
              <a:rPr lang="en-US" altLang="en-US"/>
              <a:t>found in free text form (newspaper articles, emails, literature, etc.).  There is  a</a:t>
            </a:r>
          </a:p>
          <a:p>
            <a:r>
              <a:rPr lang="en-US" altLang="en-US"/>
              <a:t>lot of information available to mine.</a:t>
            </a:r>
          </a:p>
          <a:p>
            <a:endParaRPr lang="en-US" altLang="en-US"/>
          </a:p>
          <a:p>
            <a:r>
              <a:rPr lang="en-US" altLang="en-US"/>
              <a:t>While mining free text has the same goals as data mining in general</a:t>
            </a:r>
          </a:p>
          <a:p>
            <a:r>
              <a:rPr lang="en-US" altLang="en-US"/>
              <a:t>(extracting useful knowledge/stats/trends), text mining must overcome</a:t>
            </a:r>
          </a:p>
          <a:p>
            <a:r>
              <a:rPr lang="en-US" altLang="en-US"/>
              <a:t>a major difficulty – there is no explicit structure.</a:t>
            </a:r>
          </a:p>
          <a:p>
            <a:endParaRPr lang="en-US" altLang="en-US"/>
          </a:p>
          <a:p>
            <a:r>
              <a:rPr lang="en-US" altLang="en-US"/>
              <a:t>Machines can reason will relational data well since schemas are explicitly available.</a:t>
            </a:r>
          </a:p>
          <a:p>
            <a:r>
              <a:rPr lang="en-US" altLang="en-US"/>
              <a:t>Free text, however, encodes all semantic information within natural language.  Our</a:t>
            </a:r>
          </a:p>
          <a:p>
            <a:r>
              <a:rPr lang="en-US" altLang="en-US"/>
              <a:t>text mining algorithms, then, must make some sense out of this natural language</a:t>
            </a:r>
          </a:p>
          <a:p>
            <a:r>
              <a:rPr lang="en-US" altLang="en-US"/>
              <a:t>representation.  Humans are great at doing this, but this has proved to be a problem for machines.</a:t>
            </a:r>
          </a:p>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E9FB38-FF6F-46BB-ACFF-652951876015}" type="slidenum">
              <a:rPr lang="en-US" altLang="en-US"/>
              <a:pPr/>
              <a:t>8</a:t>
            </a:fld>
            <a:endParaRPr lang="en-US" altLang="en-US"/>
          </a:p>
        </p:txBody>
      </p:sp>
      <p:sp>
        <p:nvSpPr>
          <p:cNvPr id="1597442" name="Rectangle 2"/>
          <p:cNvSpPr>
            <a:spLocks noGrp="1" noRot="1" noChangeAspect="1" noChangeArrowheads="1" noTextEdit="1"/>
          </p:cNvSpPr>
          <p:nvPr>
            <p:ph type="sldImg"/>
          </p:nvPr>
        </p:nvSpPr>
        <p:spPr>
          <a:ln/>
        </p:spPr>
      </p:sp>
      <p:sp>
        <p:nvSpPr>
          <p:cNvPr id="1597443" name="Rectangle 3"/>
          <p:cNvSpPr>
            <a:spLocks noGrp="1" noChangeArrowheads="1"/>
          </p:cNvSpPr>
          <p:nvPr>
            <p:ph type="body" idx="1"/>
          </p:nvPr>
        </p:nvSpPr>
        <p:spPr>
          <a:xfrm>
            <a:off x="686421" y="4344025"/>
            <a:ext cx="5485158" cy="4114488"/>
          </a:xfrm>
        </p:spPr>
        <p:txBody>
          <a:bodyPr/>
          <a:lstStyle/>
          <a:p>
            <a:r>
              <a:rPr lang="en-US" altLang="en-US" dirty="0"/>
              <a:t>The previous text mining presentations “made sense” out of free text by</a:t>
            </a:r>
          </a:p>
          <a:p>
            <a:r>
              <a:rPr lang="en-US" altLang="en-US" dirty="0"/>
              <a:t>viewing text as a bag-of-tokens (words, n-grams).  This is the same approach as IR.</a:t>
            </a:r>
          </a:p>
          <a:p>
            <a:endParaRPr lang="en-US" altLang="en-US" dirty="0"/>
          </a:p>
          <a:p>
            <a:r>
              <a:rPr lang="en-US" altLang="en-US" dirty="0"/>
              <a:t>Under that model we can already summarize, classify, cluster, and compute co-occurrence stats over free text.</a:t>
            </a:r>
          </a:p>
          <a:p>
            <a:r>
              <a:rPr lang="en-US" altLang="en-US" dirty="0"/>
              <a:t>These are quite useful for mining and managing large volumes of free text.</a:t>
            </a:r>
          </a:p>
          <a:p>
            <a:endParaRPr lang="en-US" altLang="en-US" dirty="0"/>
          </a:p>
          <a:p>
            <a:r>
              <a:rPr lang="en-US" altLang="en-US" dirty="0"/>
              <a:t>However, there is a potential to do much more.  The BOT approach loses a LOT of information</a:t>
            </a:r>
          </a:p>
          <a:p>
            <a:r>
              <a:rPr lang="en-US" altLang="en-US" dirty="0"/>
              <a:t>contained in text, such as word order, sentence structure, and context.  These are precisely the</a:t>
            </a:r>
          </a:p>
          <a:p>
            <a:r>
              <a:rPr lang="en-US" altLang="en-US" dirty="0"/>
              <a:t>features that humans use to interpret text.</a:t>
            </a:r>
          </a:p>
          <a:p>
            <a:endParaRPr lang="en-US" altLang="en-US" dirty="0"/>
          </a:p>
          <a:p>
            <a:r>
              <a:rPr lang="en-US" altLang="en-US" dirty="0"/>
              <a:t>Thus the natural question is can we do better?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https://en.wikipedia.org/wiki/War_and_Peace</a:t>
            </a:r>
            <a:endParaRPr lang="en-GB" dirty="0"/>
          </a:p>
        </p:txBody>
      </p:sp>
      <p:sp>
        <p:nvSpPr>
          <p:cNvPr id="4" name="Slide Number Placeholder 3"/>
          <p:cNvSpPr>
            <a:spLocks noGrp="1"/>
          </p:cNvSpPr>
          <p:nvPr>
            <p:ph type="sldNum" sz="quarter" idx="10"/>
          </p:nvPr>
        </p:nvSpPr>
        <p:spPr/>
        <p:txBody>
          <a:bodyPr/>
          <a:lstStyle/>
          <a:p>
            <a:fld id="{56B5583A-ADB2-49FF-AA65-ECEDEE90905D}" type="slidenum">
              <a:rPr lang="en-GB" smtClean="0"/>
              <a:t>12</a:t>
            </a:fld>
            <a:endParaRPr lang="en-GB"/>
          </a:p>
        </p:txBody>
      </p:sp>
    </p:spTree>
    <p:extLst>
      <p:ext uri="{BB962C8B-B14F-4D97-AF65-F5344CB8AC3E}">
        <p14:creationId xmlns:p14="http://schemas.microsoft.com/office/powerpoint/2010/main" val="297352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http://www.gutenberg.org/cache/epub/2600/pg2600.txt</a:t>
            </a:r>
          </a:p>
          <a:p>
            <a:r>
              <a:rPr lang="de-DE" dirty="0" smtClean="0"/>
              <a:t>„Russia“ appears 173 times</a:t>
            </a:r>
            <a:endParaRPr lang="en-GB" dirty="0"/>
          </a:p>
        </p:txBody>
      </p:sp>
      <p:sp>
        <p:nvSpPr>
          <p:cNvPr id="4" name="Slide Number Placeholder 3"/>
          <p:cNvSpPr>
            <a:spLocks noGrp="1"/>
          </p:cNvSpPr>
          <p:nvPr>
            <p:ph type="sldNum" sz="quarter" idx="10"/>
          </p:nvPr>
        </p:nvSpPr>
        <p:spPr/>
        <p:txBody>
          <a:bodyPr/>
          <a:lstStyle/>
          <a:p>
            <a:fld id="{56B5583A-ADB2-49FF-AA65-ECEDEE90905D}" type="slidenum">
              <a:rPr lang="en-GB" smtClean="0"/>
              <a:t>13</a:t>
            </a:fld>
            <a:endParaRPr lang="en-GB"/>
          </a:p>
        </p:txBody>
      </p:sp>
    </p:spTree>
    <p:extLst>
      <p:ext uri="{BB962C8B-B14F-4D97-AF65-F5344CB8AC3E}">
        <p14:creationId xmlns:p14="http://schemas.microsoft.com/office/powerpoint/2010/main" val="2632256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http://trendsmap.com/ mon 29</a:t>
            </a:r>
            <a:r>
              <a:rPr lang="en-GB" baseline="30000" dirty="0" smtClean="0"/>
              <a:t>th</a:t>
            </a:r>
            <a:r>
              <a:rPr lang="en-GB" dirty="0" smtClean="0"/>
              <a:t> June</a:t>
            </a:r>
            <a:endParaRPr lang="en-GB" dirty="0"/>
          </a:p>
        </p:txBody>
      </p:sp>
      <p:sp>
        <p:nvSpPr>
          <p:cNvPr id="4" name="Slide Number Placeholder 3"/>
          <p:cNvSpPr>
            <a:spLocks noGrp="1"/>
          </p:cNvSpPr>
          <p:nvPr>
            <p:ph type="sldNum" sz="quarter" idx="10"/>
          </p:nvPr>
        </p:nvSpPr>
        <p:spPr/>
        <p:txBody>
          <a:bodyPr/>
          <a:lstStyle/>
          <a:p>
            <a:fld id="{56B5583A-ADB2-49FF-AA65-ECEDEE90905D}" type="slidenum">
              <a:rPr lang="en-GB" smtClean="0"/>
              <a:t>14</a:t>
            </a:fld>
            <a:endParaRPr lang="en-GB"/>
          </a:p>
        </p:txBody>
      </p:sp>
    </p:spTree>
    <p:extLst>
      <p:ext uri="{BB962C8B-B14F-4D97-AF65-F5344CB8AC3E}">
        <p14:creationId xmlns:p14="http://schemas.microsoft.com/office/powerpoint/2010/main" val="3848197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B32558-79CB-43BD-847E-C3597150DF14}" type="slidenum">
              <a:rPr lang="en-GB" smtClean="0"/>
              <a:t>17</a:t>
            </a:fld>
            <a:endParaRPr lang="en-GB"/>
          </a:p>
        </p:txBody>
      </p:sp>
    </p:spTree>
    <p:extLst>
      <p:ext uri="{BB962C8B-B14F-4D97-AF65-F5344CB8AC3E}">
        <p14:creationId xmlns:p14="http://schemas.microsoft.com/office/powerpoint/2010/main" val="318962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B32558-79CB-43BD-847E-C3597150DF14}" type="slidenum">
              <a:rPr lang="en-GB" smtClean="0"/>
              <a:t>18</a:t>
            </a:fld>
            <a:endParaRPr lang="en-GB"/>
          </a:p>
        </p:txBody>
      </p:sp>
    </p:spTree>
    <p:extLst>
      <p:ext uri="{BB962C8B-B14F-4D97-AF65-F5344CB8AC3E}">
        <p14:creationId xmlns:p14="http://schemas.microsoft.com/office/powerpoint/2010/main" val="318962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pPr fontAlgn="base">
              <a:spcBef>
                <a:spcPct val="0"/>
              </a:spcBef>
              <a:spcAft>
                <a:spcPct val="0"/>
              </a:spcAft>
            </a:pPr>
            <a:fld id="{1AA1645B-0CE9-44F4-86F0-2BCF962400CD}" type="datetime1">
              <a:rPr lang="en-US" altLang="en-US" smtClean="0">
                <a:solidFill>
                  <a:srgbClr val="1C1C1C"/>
                </a:solidFill>
              </a:rPr>
              <a:pPr fontAlgn="base">
                <a:spcBef>
                  <a:spcPct val="0"/>
                </a:spcBef>
                <a:spcAft>
                  <a:spcPct val="0"/>
                </a:spcAft>
              </a:pPr>
              <a:t>5/18/2019</a:t>
            </a:fld>
            <a:endParaRPr lang="en-US" altLang="en-US">
              <a:solidFill>
                <a:srgbClr val="1C1C1C"/>
              </a:solidFill>
            </a:endParaRPr>
          </a:p>
        </p:txBody>
      </p:sp>
      <p:sp>
        <p:nvSpPr>
          <p:cNvPr id="5" name="Footer Placeholder 4"/>
          <p:cNvSpPr>
            <a:spLocks noGrp="1"/>
          </p:cNvSpPr>
          <p:nvPr>
            <p:ph type="ftr" sz="quarter" idx="11"/>
          </p:nvPr>
        </p:nvSpPr>
        <p:spPr/>
        <p:txBody>
          <a:bodyPr/>
          <a:lstStyle/>
          <a:p>
            <a:pPr fontAlgn="base">
              <a:spcBef>
                <a:spcPct val="0"/>
              </a:spcBef>
              <a:spcAft>
                <a:spcPct val="0"/>
              </a:spcAft>
            </a:pPr>
            <a:r>
              <a:rPr lang="en-US" altLang="en-US" smtClean="0">
                <a:solidFill>
                  <a:srgbClr val="1C1C1C"/>
                </a:solidFill>
              </a:rPr>
              <a:t>Data Mining: Principles and Algorithms</a:t>
            </a:r>
            <a:endParaRPr lang="en-US" altLang="en-US">
              <a:solidFill>
                <a:srgbClr val="1C1C1C"/>
              </a:solidFill>
            </a:endParaRPr>
          </a:p>
        </p:txBody>
      </p:sp>
      <p:sp>
        <p:nvSpPr>
          <p:cNvPr id="6" name="Slide Number Placeholder 5"/>
          <p:cNvSpPr>
            <a:spLocks noGrp="1"/>
          </p:cNvSpPr>
          <p:nvPr>
            <p:ph type="sldNum" sz="quarter" idx="12"/>
          </p:nvPr>
        </p:nvSpPr>
        <p:spPr/>
        <p:txBody>
          <a:bodyPr/>
          <a:lstStyle/>
          <a:p>
            <a:pPr fontAlgn="base">
              <a:spcBef>
                <a:spcPct val="0"/>
              </a:spcBef>
              <a:spcAft>
                <a:spcPct val="0"/>
              </a:spcAft>
            </a:pPr>
            <a:fld id="{E5FD69BE-78EE-4CB5-97CC-E7B8ED68F387}" type="slidenum">
              <a:rPr lang="en-US" altLang="en-US" smtClean="0">
                <a:solidFill>
                  <a:srgbClr val="1C1C1C"/>
                </a:solidFill>
              </a:rPr>
              <a:pPr fontAlgn="base">
                <a:spcBef>
                  <a:spcPct val="0"/>
                </a:spcBef>
                <a:spcAft>
                  <a:spcPct val="0"/>
                </a:spcAft>
              </a:pPr>
              <a:t>‹#›</a:t>
            </a:fld>
            <a:endParaRPr lang="en-US" altLang="en-US">
              <a:solidFill>
                <a:srgbClr val="1C1C1C"/>
              </a:solidFill>
            </a:endParaRPr>
          </a:p>
        </p:txBody>
      </p:sp>
    </p:spTree>
    <p:extLst>
      <p:ext uri="{BB962C8B-B14F-4D97-AF65-F5344CB8AC3E}">
        <p14:creationId xmlns:p14="http://schemas.microsoft.com/office/powerpoint/2010/main" val="921597915"/>
      </p:ext>
    </p:extLst>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E3FA314-BAAC-43FB-BB16-C63D00546F0B}" type="datetimeFigureOut">
              <a:rPr lang="en-GB" smtClean="0"/>
              <a:t>18/05/2019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3745754679"/>
      </p:ext>
    </p:extLst>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3FA314-BAAC-43FB-BB16-C63D00546F0B}" type="datetimeFigureOut">
              <a:rPr lang="en-GB" smtClean="0"/>
              <a:t>18/05/2019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1930258884"/>
      </p:ext>
    </p:extLst>
  </p:cSld>
  <p:clrMapOvr>
    <a:masterClrMapping/>
  </p:clrMapOvr>
  <p:transition>
    <p:zo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E3FA314-BAAC-43FB-BB16-C63D00546F0B}" type="datetimeFigureOut">
              <a:rPr lang="en-GB" smtClean="0"/>
              <a:t>18/05/2019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18454452"/>
      </p:ext>
    </p:extLst>
  </p:cSld>
  <p:clrMapOvr>
    <a:masterClrMapping/>
  </p:clrMapOvr>
  <p:transition>
    <p:zo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E3FA314-BAAC-43FB-BB16-C63D00546F0B}" type="datetimeFigureOut">
              <a:rPr lang="en-GB" smtClean="0"/>
              <a:t>18/05/2019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343830884"/>
      </p:ext>
    </p:extLst>
  </p:cSld>
  <p:clrMapOvr>
    <a:masterClrMapping/>
  </p:clrMapOvr>
  <p:transition>
    <p:zo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E3FA314-BAAC-43FB-BB16-C63D00546F0B}" type="datetimeFigureOut">
              <a:rPr lang="en-GB" smtClean="0"/>
              <a:t>18/05/2019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632365229"/>
      </p:ext>
    </p:extLst>
  </p:cSld>
  <p:clrMapOvr>
    <a:masterClrMapping/>
  </p:clrMapOvr>
  <p:transition>
    <p:zo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FA314-BAAC-43FB-BB16-C63D00546F0B}" type="datetimeFigureOut">
              <a:rPr lang="en-GB" smtClean="0"/>
              <a:t>18/05/2019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306343192"/>
      </p:ext>
    </p:extLst>
  </p:cSld>
  <p:clrMapOvr>
    <a:masterClrMapping/>
  </p:clrMapOvr>
  <p:transition>
    <p:zo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3FA314-BAAC-43FB-BB16-C63D00546F0B}" type="datetimeFigureOut">
              <a:rPr lang="en-GB" smtClean="0"/>
              <a:t>18/05/2019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2795693416"/>
      </p:ext>
    </p:extLst>
  </p:cSld>
  <p:clrMapOvr>
    <a:masterClrMapping/>
  </p:clrMapOvr>
  <p:transition>
    <p:zo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3FA314-BAAC-43FB-BB16-C63D00546F0B}" type="datetimeFigureOut">
              <a:rPr lang="en-GB" smtClean="0"/>
              <a:t>18/05/2019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821771158"/>
      </p:ext>
    </p:extLst>
  </p:cSld>
  <p:clrMapOvr>
    <a:masterClrMapping/>
  </p:clrMapOvr>
  <p:transition>
    <p:zo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E3FA314-BAAC-43FB-BB16-C63D00546F0B}" type="datetimeFigureOut">
              <a:rPr lang="en-GB" smtClean="0"/>
              <a:t>18/05/2019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1994509615"/>
      </p:ext>
    </p:extLst>
  </p:cSld>
  <p:clrMapOvr>
    <a:masterClrMapping/>
  </p:clrMapOvr>
  <p:transition>
    <p:zo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E3FA314-BAAC-43FB-BB16-C63D00546F0B}" type="datetimeFigureOut">
              <a:rPr lang="en-GB" smtClean="0"/>
              <a:t>18/05/2019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7E04B0-2F71-40F2-83A5-064F05CBBD14}" type="slidenum">
              <a:rPr lang="en-GB" smtClean="0"/>
              <a:t>‹#›</a:t>
            </a:fld>
            <a:endParaRPr lang="en-GB"/>
          </a:p>
        </p:txBody>
      </p:sp>
    </p:spTree>
    <p:extLst>
      <p:ext uri="{BB962C8B-B14F-4D97-AF65-F5344CB8AC3E}">
        <p14:creationId xmlns:p14="http://schemas.microsoft.com/office/powerpoint/2010/main" val="2461795816"/>
      </p:ext>
    </p:extLst>
  </p:cSld>
  <p:clrMapOvr>
    <a:masterClrMapping/>
  </p:clrMapOvr>
  <p:transition>
    <p:zoom/>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838200" y="381000"/>
            <a:ext cx="7793038" cy="609600"/>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381000" y="1371600"/>
            <a:ext cx="41148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648200" y="1371600"/>
            <a:ext cx="41148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381000" y="4000500"/>
            <a:ext cx="41148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p:cNvSpPr>
            <a:spLocks noGrp="1"/>
          </p:cNvSpPr>
          <p:nvPr>
            <p:ph sz="quarter" idx="4"/>
          </p:nvPr>
        </p:nvSpPr>
        <p:spPr>
          <a:xfrm>
            <a:off x="4648200" y="4000500"/>
            <a:ext cx="41148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086368766"/>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04AF88FA-F8D4-47C9-BE5B-3E7C7196E26B}" type="slidenum">
              <a:rPr lang="en-US"/>
              <a:pPr>
                <a:defRPr/>
              </a:pPr>
              <a:t>‹#›</a:t>
            </a:fld>
            <a:endParaRPr lang="en-US"/>
          </a:p>
        </p:txBody>
      </p:sp>
    </p:spTree>
    <p:extLst>
      <p:ext uri="{BB962C8B-B14F-4D97-AF65-F5344CB8AC3E}">
        <p14:creationId xmlns:p14="http://schemas.microsoft.com/office/powerpoint/2010/main" val="3093495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3FA314-BAAC-43FB-BB16-C63D00546F0B}" type="datetimeFigureOut">
              <a:rPr lang="en-GB" smtClean="0"/>
              <a:t>18/05/2019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7E04B0-2F71-40F2-83A5-064F05CBBD14}" type="slidenum">
              <a:rPr lang="en-GB" smtClean="0"/>
              <a:t>‹#›</a:t>
            </a:fld>
            <a:endParaRPr lang="en-GB"/>
          </a:p>
        </p:txBody>
      </p:sp>
      <p:pic>
        <p:nvPicPr>
          <p:cNvPr id="7" name="Picture 2064" descr="paint"/>
          <p:cNvPicPr>
            <a:picLocks noChangeAspect="1" noChangeArrowheads="1"/>
          </p:cNvPicPr>
          <p:nvPr userDrawn="1"/>
        </p:nvPicPr>
        <p:blipFill>
          <a:blip r:embed="rId15">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914400" y="990600"/>
            <a:ext cx="8229600" cy="3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0444317"/>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transition>
    <p:zoom/>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wmf"/><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C/1811_F1"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en.wikipedia.org/wiki/Abortion"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wordclouds.co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850" name="Rectangle 2"/>
          <p:cNvSpPr>
            <a:spLocks noGrp="1" noChangeArrowheads="1"/>
          </p:cNvSpPr>
          <p:nvPr>
            <p:ph type="title"/>
          </p:nvPr>
        </p:nvSpPr>
        <p:spPr>
          <a:xfrm>
            <a:off x="533400" y="1066800"/>
            <a:ext cx="8077200" cy="3276600"/>
          </a:xfrm>
        </p:spPr>
        <p:txBody>
          <a:bodyPr/>
          <a:lstStyle/>
          <a:p>
            <a:r>
              <a:rPr lang="en-US" altLang="en-US" sz="5400" dirty="0" smtClean="0"/>
              <a:t>NLP and Some Text mining Methods:</a:t>
            </a:r>
            <a:r>
              <a:rPr lang="en-US" altLang="en-US" sz="5400" dirty="0" smtClean="0"/>
              <a:t/>
            </a:r>
            <a:br>
              <a:rPr lang="en-US" altLang="en-US" sz="5400" dirty="0" smtClean="0"/>
            </a:br>
            <a:r>
              <a:rPr lang="en-US" altLang="en-US" sz="5400" dirty="0" smtClean="0"/>
              <a:t>Introduction</a:t>
            </a:r>
            <a:endParaRPr lang="en-US" altLang="en-US" sz="2400" dirty="0"/>
          </a:p>
        </p:txBody>
      </p:sp>
    </p:spTree>
    <p:extLst>
      <p:ext uri="{BB962C8B-B14F-4D97-AF65-F5344CB8AC3E}">
        <p14:creationId xmlns:p14="http://schemas.microsoft.com/office/powerpoint/2010/main" val="3660618607"/>
      </p:ext>
    </p:extLst>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smtClean="0"/>
              <a:t>NLP &amp; it’s History</a:t>
            </a:r>
            <a:endParaRPr lang="en-GB" dirty="0"/>
          </a:p>
        </p:txBody>
      </p:sp>
      <p:sp>
        <p:nvSpPr>
          <p:cNvPr id="3" name="Content Placeholder 2"/>
          <p:cNvSpPr>
            <a:spLocks noGrp="1"/>
          </p:cNvSpPr>
          <p:nvPr>
            <p:ph sz="half" idx="1"/>
          </p:nvPr>
        </p:nvSpPr>
        <p:spPr>
          <a:xfrm>
            <a:off x="375923" y="1118862"/>
            <a:ext cx="3869070" cy="5053427"/>
          </a:xfrm>
        </p:spPr>
        <p:txBody>
          <a:bodyPr>
            <a:normAutofit fontScale="85000" lnSpcReduction="10000"/>
          </a:bodyPr>
          <a:lstStyle/>
          <a:p>
            <a:pPr defTabSz="1219139">
              <a:spcAft>
                <a:spcPts val="1067"/>
              </a:spcAft>
              <a:buClr>
                <a:srgbClr val="000000"/>
              </a:buClr>
            </a:pPr>
            <a:r>
              <a:rPr lang="en-GB" sz="1800" dirty="0" smtClean="0">
                <a:solidFill>
                  <a:schemeClr val="tx1">
                    <a:lumMod val="75000"/>
                    <a:lumOff val="25000"/>
                  </a:schemeClr>
                </a:solidFill>
              </a:rPr>
              <a:t>Natural Language Processing:</a:t>
            </a:r>
          </a:p>
          <a:p>
            <a:pPr marL="465750" lvl="2" indent="-285750" defTabSz="1219139">
              <a:spcAft>
                <a:spcPts val="1067"/>
              </a:spcAft>
              <a:buClr>
                <a:srgbClr val="000000"/>
              </a:buClr>
              <a:buFont typeface="Arial" panose="020B0604020202020204" pitchFamily="34" charset="0"/>
              <a:buChar char="•"/>
            </a:pPr>
            <a:r>
              <a:rPr lang="en-GB" sz="1400" b="0" i="1" dirty="0"/>
              <a:t>Natural Language Processing</a:t>
            </a:r>
            <a:r>
              <a:rPr lang="en-GB" sz="1400" b="0" dirty="0"/>
              <a:t> is </a:t>
            </a:r>
            <a:r>
              <a:rPr lang="en-GB" sz="1400" b="0" dirty="0" smtClean="0"/>
              <a:t>a sub field of Artificial Intelligence used </a:t>
            </a:r>
            <a:r>
              <a:rPr lang="en-GB" sz="1400" b="0" dirty="0"/>
              <a:t>to aid computers to </a:t>
            </a:r>
            <a:r>
              <a:rPr lang="en-GB" sz="1400" b="0" dirty="0" smtClean="0"/>
              <a:t>programmatically understand </a:t>
            </a:r>
            <a:r>
              <a:rPr lang="en-GB" sz="1400" b="0" dirty="0"/>
              <a:t>the human's natural </a:t>
            </a:r>
            <a:r>
              <a:rPr lang="en-GB" sz="1400" b="0" dirty="0" smtClean="0"/>
              <a:t>language to </a:t>
            </a:r>
            <a:r>
              <a:rPr lang="en-GB" sz="1400" b="0" i="1" dirty="0"/>
              <a:t>process</a:t>
            </a:r>
            <a:r>
              <a:rPr lang="en-GB" sz="1400" b="0" dirty="0"/>
              <a:t> and </a:t>
            </a:r>
            <a:r>
              <a:rPr lang="en-GB" sz="1400" b="0" dirty="0" smtClean="0"/>
              <a:t>analyse </a:t>
            </a:r>
            <a:r>
              <a:rPr lang="en-GB" sz="1400" b="0" dirty="0"/>
              <a:t>large amounts of </a:t>
            </a:r>
            <a:r>
              <a:rPr lang="en-GB" sz="1400" b="0" i="1" dirty="0"/>
              <a:t>natural language</a:t>
            </a:r>
            <a:r>
              <a:rPr lang="en-GB" sz="1400" b="0" dirty="0"/>
              <a:t> </a:t>
            </a:r>
            <a:r>
              <a:rPr lang="en-GB" sz="1400" b="0" dirty="0" smtClean="0"/>
              <a:t>data and develop insights out of that.</a:t>
            </a:r>
          </a:p>
          <a:p>
            <a:pPr marL="465750" lvl="2" indent="-285750" defTabSz="1219139">
              <a:spcAft>
                <a:spcPts val="1067"/>
              </a:spcAft>
              <a:buClr>
                <a:srgbClr val="000000"/>
              </a:buClr>
              <a:buFont typeface="Arial" panose="020B0604020202020204" pitchFamily="34" charset="0"/>
              <a:buChar char="•"/>
            </a:pPr>
            <a:r>
              <a:rPr lang="en-US" sz="1400" dirty="0" smtClean="0"/>
              <a:t>Data is question can be any unstructured data . E.g. Voice , Chat, social media data, feedback on any product, news etc.</a:t>
            </a:r>
            <a:endParaRPr lang="en-GB" sz="1400" dirty="0"/>
          </a:p>
        </p:txBody>
      </p:sp>
      <p:sp>
        <p:nvSpPr>
          <p:cNvPr id="7" name="Content Placeholder 6"/>
          <p:cNvSpPr>
            <a:spLocks noGrp="1"/>
          </p:cNvSpPr>
          <p:nvPr>
            <p:ph sz="half" idx="2"/>
          </p:nvPr>
        </p:nvSpPr>
        <p:spPr>
          <a:xfrm>
            <a:off x="4625930" y="1119359"/>
            <a:ext cx="4141821" cy="4475395"/>
          </a:xfrm>
        </p:spPr>
        <p:txBody>
          <a:bodyPr>
            <a:normAutofit fontScale="85000" lnSpcReduction="10000"/>
          </a:bodyPr>
          <a:lstStyle/>
          <a:p>
            <a:pPr defTabSz="1219139">
              <a:spcAft>
                <a:spcPts val="1067"/>
              </a:spcAft>
              <a:buClr>
                <a:srgbClr val="000000"/>
              </a:buClr>
            </a:pPr>
            <a:r>
              <a:rPr lang="en-US" sz="2000" dirty="0" smtClean="0">
                <a:solidFill>
                  <a:schemeClr val="tx1">
                    <a:lumMod val="75000"/>
                    <a:lumOff val="25000"/>
                  </a:schemeClr>
                </a:solidFill>
              </a:rPr>
              <a:t>History:</a:t>
            </a:r>
            <a:endParaRPr lang="en-GB" sz="2000" dirty="0">
              <a:solidFill>
                <a:schemeClr val="tx1">
                  <a:lumMod val="75000"/>
                  <a:lumOff val="25000"/>
                </a:schemeClr>
              </a:solidFill>
            </a:endParaRPr>
          </a:p>
          <a:p>
            <a:pPr marL="285750" indent="-285750" defTabSz="1219139">
              <a:spcAft>
                <a:spcPts val="1067"/>
              </a:spcAft>
              <a:buClr>
                <a:srgbClr val="000000"/>
              </a:buClr>
              <a:buFont typeface="Arial" panose="020B0604020202020204" pitchFamily="34" charset="0"/>
              <a:buChar char="•"/>
            </a:pPr>
            <a:r>
              <a:rPr lang="en-GB" sz="1600" dirty="0">
                <a:solidFill>
                  <a:schemeClr val="tx1">
                    <a:lumMod val="75000"/>
                    <a:lumOff val="25000"/>
                  </a:schemeClr>
                </a:solidFill>
              </a:rPr>
              <a:t>Way back in seventeenth century, philosophers such as </a:t>
            </a:r>
            <a:r>
              <a:rPr lang="en-GB" sz="1600" u="sng" dirty="0">
                <a:solidFill>
                  <a:schemeClr val="tx1">
                    <a:lumMod val="75000"/>
                    <a:lumOff val="25000"/>
                  </a:schemeClr>
                </a:solidFill>
              </a:rPr>
              <a:t>Leibniz and Descartes </a:t>
            </a:r>
            <a:r>
              <a:rPr lang="en-GB" sz="1600" dirty="0">
                <a:solidFill>
                  <a:schemeClr val="tx1">
                    <a:lumMod val="75000"/>
                    <a:lumOff val="25000"/>
                  </a:schemeClr>
                </a:solidFill>
              </a:rPr>
              <a:t>placed the proposal of codes to relate different languages, but those thought remained theoretical</a:t>
            </a:r>
          </a:p>
          <a:p>
            <a:pPr marL="285750" indent="-285750" defTabSz="1219139">
              <a:spcAft>
                <a:spcPts val="1067"/>
              </a:spcAft>
              <a:buClr>
                <a:srgbClr val="000000"/>
              </a:buClr>
              <a:buFont typeface="Arial" panose="020B0604020202020204" pitchFamily="34" charset="0"/>
              <a:buChar char="•"/>
            </a:pPr>
            <a:r>
              <a:rPr lang="en-GB" sz="1600" dirty="0">
                <a:solidFill>
                  <a:schemeClr val="tx1">
                    <a:lumMod val="75000"/>
                    <a:lumOff val="25000"/>
                  </a:schemeClr>
                </a:solidFill>
              </a:rPr>
              <a:t>In 1930s </a:t>
            </a:r>
            <a:r>
              <a:rPr lang="en-GB" sz="1600" u="sng" dirty="0">
                <a:solidFill>
                  <a:schemeClr val="tx1">
                    <a:lumMod val="75000"/>
                    <a:lumOff val="25000"/>
                  </a:schemeClr>
                </a:solidFill>
              </a:rPr>
              <a:t>Georges </a:t>
            </a:r>
            <a:r>
              <a:rPr lang="en-GB" sz="1600" u="sng" dirty="0" err="1">
                <a:solidFill>
                  <a:schemeClr val="tx1">
                    <a:lumMod val="75000"/>
                    <a:lumOff val="25000"/>
                  </a:schemeClr>
                </a:solidFill>
              </a:rPr>
              <a:t>Artsrouni</a:t>
            </a:r>
            <a:r>
              <a:rPr lang="en-GB" sz="1600" dirty="0">
                <a:solidFill>
                  <a:schemeClr val="tx1">
                    <a:lumMod val="75000"/>
                    <a:lumOff val="25000"/>
                  </a:schemeClr>
                </a:solidFill>
              </a:rPr>
              <a:t>, using paper tape, created the first bilingual dictionary</a:t>
            </a:r>
          </a:p>
          <a:p>
            <a:pPr marL="285750" indent="-285750" defTabSz="1219139">
              <a:spcAft>
                <a:spcPts val="1067"/>
              </a:spcAft>
              <a:buClr>
                <a:srgbClr val="000000"/>
              </a:buClr>
              <a:buFont typeface="Arial" panose="020B0604020202020204" pitchFamily="34" charset="0"/>
              <a:buChar char="•"/>
            </a:pPr>
            <a:r>
              <a:rPr lang="en-GB" sz="1600" dirty="0">
                <a:solidFill>
                  <a:schemeClr val="tx1">
                    <a:lumMod val="75000"/>
                    <a:lumOff val="25000"/>
                  </a:schemeClr>
                </a:solidFill>
              </a:rPr>
              <a:t>The other proposal, by </a:t>
            </a:r>
            <a:r>
              <a:rPr lang="en-GB" sz="1600" u="sng" dirty="0">
                <a:solidFill>
                  <a:schemeClr val="tx1">
                    <a:lumMod val="75000"/>
                    <a:lumOff val="25000"/>
                  </a:schemeClr>
                </a:solidFill>
              </a:rPr>
              <a:t>Peter </a:t>
            </a:r>
            <a:r>
              <a:rPr lang="en-GB" sz="1600" u="sng" dirty="0" err="1">
                <a:solidFill>
                  <a:schemeClr val="tx1">
                    <a:lumMod val="75000"/>
                    <a:lumOff val="25000"/>
                  </a:schemeClr>
                </a:solidFill>
              </a:rPr>
              <a:t>Troyanskii</a:t>
            </a:r>
            <a:r>
              <a:rPr lang="en-GB" sz="1600" dirty="0">
                <a:solidFill>
                  <a:schemeClr val="tx1">
                    <a:lumMod val="75000"/>
                    <a:lumOff val="25000"/>
                  </a:schemeClr>
                </a:solidFill>
              </a:rPr>
              <a:t>, a Russian, was more detailed. It included both the bilingual dictionary, and rationale of grammatical roles between languages</a:t>
            </a:r>
          </a:p>
          <a:p>
            <a:pPr marL="285750" indent="-285750" defTabSz="1219139">
              <a:spcAft>
                <a:spcPts val="1067"/>
              </a:spcAft>
              <a:buClr>
                <a:srgbClr val="000000"/>
              </a:buClr>
              <a:buFont typeface="Arial" panose="020B0604020202020204" pitchFamily="34" charset="0"/>
              <a:buChar char="•"/>
            </a:pPr>
            <a:r>
              <a:rPr lang="en-GB" sz="1600" dirty="0">
                <a:solidFill>
                  <a:schemeClr val="tx1">
                    <a:lumMod val="75000"/>
                    <a:lumOff val="25000"/>
                  </a:schemeClr>
                </a:solidFill>
              </a:rPr>
              <a:t>In 1950 , </a:t>
            </a:r>
            <a:r>
              <a:rPr lang="en-GB" sz="1600" u="sng" dirty="0">
                <a:solidFill>
                  <a:schemeClr val="tx1">
                    <a:lumMod val="75000"/>
                    <a:lumOff val="25000"/>
                  </a:schemeClr>
                </a:solidFill>
              </a:rPr>
              <a:t>Alan Turing</a:t>
            </a:r>
            <a:r>
              <a:rPr lang="en-GB" sz="1600" dirty="0">
                <a:solidFill>
                  <a:schemeClr val="tx1">
                    <a:lumMod val="75000"/>
                    <a:lumOff val="25000"/>
                  </a:schemeClr>
                </a:solidFill>
              </a:rPr>
              <a:t> published his famous article "Computing Machinery and Intelligence"  had a mention of thinking capability of machine</a:t>
            </a:r>
          </a:p>
          <a:p>
            <a:pPr marL="285750" indent="-285750" defTabSz="1219139">
              <a:spcAft>
                <a:spcPts val="1067"/>
              </a:spcAft>
              <a:buClr>
                <a:srgbClr val="000000"/>
              </a:buClr>
              <a:buFont typeface="Arial" panose="020B0604020202020204" pitchFamily="34" charset="0"/>
              <a:buChar char="•"/>
            </a:pPr>
            <a:r>
              <a:rPr lang="en-GB" sz="1600" dirty="0">
                <a:solidFill>
                  <a:schemeClr val="tx1">
                    <a:lumMod val="75000"/>
                    <a:lumOff val="25000"/>
                  </a:schemeClr>
                </a:solidFill>
              </a:rPr>
              <a:t>In 1980 first Statistical machine translation systems were developed: Based on statistical model</a:t>
            </a:r>
          </a:p>
          <a:p>
            <a:endParaRPr lang="en-GB" dirty="0"/>
          </a:p>
        </p:txBody>
      </p:sp>
      <p:pic>
        <p:nvPicPr>
          <p:cNvPr id="5" name="Picture 4" descr="C:\Users\611863711\Desktop\Big-Data_funnel-graphic-350x205-D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965" y="3645575"/>
            <a:ext cx="3912028" cy="2393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10762"/>
      </p:ext>
    </p:extLst>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138120" y="1046670"/>
            <a:ext cx="2791344" cy="5125619"/>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214535" y="1046670"/>
            <a:ext cx="5863749" cy="5143272"/>
          </a:xfrm>
          <a:prstGeom prst="rect">
            <a:avLst/>
          </a:prstGeom>
          <a:gradFill>
            <a:gsLst>
              <a:gs pos="0">
                <a:schemeClr val="accent3">
                  <a:tint val="50000"/>
                  <a:satMod val="300000"/>
                </a:schemeClr>
              </a:gs>
              <a:gs pos="35000">
                <a:schemeClr val="accent3">
                  <a:tint val="37000"/>
                  <a:satMod val="300000"/>
                </a:schemeClr>
              </a:gs>
              <a:gs pos="7000">
                <a:schemeClr val="accent3">
                  <a:tint val="15000"/>
                  <a:satMod val="350000"/>
                </a:schemeClr>
              </a:gs>
            </a:gsLst>
          </a:gra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800" dirty="0"/>
          </a:p>
        </p:txBody>
      </p:sp>
      <p:sp>
        <p:nvSpPr>
          <p:cNvPr id="2" name="Title 1"/>
          <p:cNvSpPr>
            <a:spLocks noGrp="1"/>
          </p:cNvSpPr>
          <p:nvPr>
            <p:ph type="title"/>
          </p:nvPr>
        </p:nvSpPr>
        <p:spPr/>
        <p:txBody>
          <a:bodyPr>
            <a:normAutofit fontScale="90000"/>
          </a:bodyPr>
          <a:lstStyle/>
          <a:p>
            <a:pPr lvl="0"/>
            <a:r>
              <a:rPr lang="en-GB" dirty="0" smtClean="0"/>
              <a:t>Application of </a:t>
            </a:r>
            <a:r>
              <a:rPr lang="en-GB" dirty="0"/>
              <a:t>NLP</a:t>
            </a:r>
            <a:br>
              <a:rPr lang="en-GB" dirty="0"/>
            </a:br>
            <a:endParaRPr lang="en-GB" dirty="0"/>
          </a:p>
        </p:txBody>
      </p:sp>
      <p:sp>
        <p:nvSpPr>
          <p:cNvPr id="4" name="Slide Number Placeholder 3"/>
          <p:cNvSpPr>
            <a:spLocks noGrp="1"/>
          </p:cNvSpPr>
          <p:nvPr>
            <p:ph type="sldNum" sz="quarter" idx="12"/>
          </p:nvPr>
        </p:nvSpPr>
        <p:spPr/>
        <p:txBody>
          <a:bodyPr/>
          <a:lstStyle/>
          <a:p>
            <a:fld id="{0B868178-02AE-42FC-958D-6B8F13B60175}" type="slidenum">
              <a:rPr lang="en-GB" smtClean="0"/>
              <a:t>3</a:t>
            </a:fld>
            <a:endParaRPr lang="en-GB"/>
          </a:p>
        </p:txBody>
      </p:sp>
      <p:grpSp>
        <p:nvGrpSpPr>
          <p:cNvPr id="3" name="Group 2"/>
          <p:cNvGrpSpPr/>
          <p:nvPr/>
        </p:nvGrpSpPr>
        <p:grpSpPr>
          <a:xfrm>
            <a:off x="322127" y="1191054"/>
            <a:ext cx="2151834" cy="4692468"/>
            <a:chOff x="3311500" y="1188021"/>
            <a:chExt cx="2880320" cy="4680520"/>
          </a:xfrm>
        </p:grpSpPr>
        <p:pic>
          <p:nvPicPr>
            <p:cNvPr id="1027" name="Picture 3" descr="C:\Users\611863711\Desktop\Screenshot_20190409-13444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1500" y="1188021"/>
              <a:ext cx="2880320" cy="4680520"/>
            </a:xfrm>
            <a:prstGeom prst="rect">
              <a:avLst/>
            </a:prstGeom>
            <a:noFill/>
            <a:extLst>
              <a:ext uri="{909E8E84-426E-40DD-AFC4-6F175D3DCCD1}">
                <a14:hiddenFill xmlns:a14="http://schemas.microsoft.com/office/drawing/2010/main">
                  <a:solidFill>
                    <a:srgbClr val="FFFFFF"/>
                  </a:solidFill>
                </a14:hiddenFill>
              </a:ext>
            </a:extLst>
          </p:spPr>
        </p:pic>
        <p:sp>
          <p:nvSpPr>
            <p:cNvPr id="8" name="Right Brace 7"/>
            <p:cNvSpPr/>
            <p:nvPr/>
          </p:nvSpPr>
          <p:spPr>
            <a:xfrm rot="-5400000">
              <a:off x="4499632" y="3247123"/>
              <a:ext cx="504056" cy="2592288"/>
            </a:xfrm>
            <a:prstGeom prst="rightBrace">
              <a:avLst/>
            </a:prstGeom>
            <a:ln w="31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16" name="Group 15">
            <a:extLst>
              <a:ext uri="{FF2B5EF4-FFF2-40B4-BE49-F238E27FC236}">
                <a16:creationId xmlns="" xmlns:a16="http://schemas.microsoft.com/office/drawing/2014/main" id="{15F311B2-EF63-4794-8453-C957B97D2009}"/>
              </a:ext>
            </a:extLst>
          </p:cNvPr>
          <p:cNvGrpSpPr/>
          <p:nvPr/>
        </p:nvGrpSpPr>
        <p:grpSpPr>
          <a:xfrm rot="5400000" flipH="1">
            <a:off x="5051758" y="1081912"/>
            <a:ext cx="630008" cy="992676"/>
            <a:chOff x="2163029" y="4524231"/>
            <a:chExt cx="860425" cy="1771650"/>
          </a:xfrm>
        </p:grpSpPr>
        <p:sp>
          <p:nvSpPr>
            <p:cNvPr id="18" name="Freeform: Shape 121">
              <a:extLst>
                <a:ext uri="{FF2B5EF4-FFF2-40B4-BE49-F238E27FC236}">
                  <a16:creationId xmlns="" xmlns:a16="http://schemas.microsoft.com/office/drawing/2014/main" id="{2477AC3F-7E5F-44CB-94B3-94F48E586BD0}"/>
                </a:ext>
              </a:extLst>
            </p:cNvPr>
            <p:cNvSpPr>
              <a:spLocks/>
            </p:cNvSpPr>
            <p:nvPr/>
          </p:nvSpPr>
          <p:spPr bwMode="auto">
            <a:xfrm>
              <a:off x="2170845" y="4524231"/>
              <a:ext cx="844793" cy="1481137"/>
            </a:xfrm>
            <a:custGeom>
              <a:avLst/>
              <a:gdLst>
                <a:gd name="connsiteX0" fmla="*/ 638010 w 844793"/>
                <a:gd name="connsiteY0" fmla="*/ 0 h 1481137"/>
                <a:gd name="connsiteX1" fmla="*/ 657681 w 844793"/>
                <a:gd name="connsiteY1" fmla="*/ 2461 h 1481137"/>
                <a:gd name="connsiteX2" fmla="*/ 733906 w 844793"/>
                <a:gd name="connsiteY2" fmla="*/ 90223 h 1481137"/>
                <a:gd name="connsiteX3" fmla="*/ 756036 w 844793"/>
                <a:gd name="connsiteY3" fmla="*/ 854657 h 1481137"/>
                <a:gd name="connsiteX4" fmla="*/ 757323 w 844793"/>
                <a:gd name="connsiteY4" fmla="*/ 901441 h 1481137"/>
                <a:gd name="connsiteX5" fmla="*/ 836993 w 844793"/>
                <a:gd name="connsiteY5" fmla="*/ 1036679 h 1481137"/>
                <a:gd name="connsiteX6" fmla="*/ 835353 w 844793"/>
                <a:gd name="connsiteY6" fmla="*/ 1095739 h 1481137"/>
                <a:gd name="connsiteX7" fmla="*/ 650845 w 844793"/>
                <a:gd name="connsiteY7" fmla="*/ 1369713 h 1481137"/>
                <a:gd name="connsiteX8" fmla="*/ 650845 w 844793"/>
                <a:gd name="connsiteY8" fmla="*/ 1481137 h 1481137"/>
                <a:gd name="connsiteX9" fmla="*/ 237214 w 844793"/>
                <a:gd name="connsiteY9" fmla="*/ 1481137 h 1481137"/>
                <a:gd name="connsiteX10" fmla="*/ 237214 w 844793"/>
                <a:gd name="connsiteY10" fmla="*/ 1384512 h 1481137"/>
                <a:gd name="connsiteX11" fmla="*/ 87222 w 844793"/>
                <a:gd name="connsiteY11" fmla="*/ 1238515 h 1481137"/>
                <a:gd name="connsiteX12" fmla="*/ 42348 w 844793"/>
                <a:gd name="connsiteY12" fmla="*/ 1162748 h 1481137"/>
                <a:gd name="connsiteX13" fmla="*/ 16055 w 844793"/>
                <a:gd name="connsiteY13" fmla="*/ 1073310 h 1481137"/>
                <a:gd name="connsiteX14" fmla="*/ 15915 w 844793"/>
                <a:gd name="connsiteY14" fmla="*/ 1073204 h 1481137"/>
                <a:gd name="connsiteX15" fmla="*/ 240 w 844793"/>
                <a:gd name="connsiteY15" fmla="*/ 877531 h 1481137"/>
                <a:gd name="connsiteX16" fmla="*/ 249 w 844793"/>
                <a:gd name="connsiteY16" fmla="*/ 877341 h 1481137"/>
                <a:gd name="connsiteX17" fmla="*/ 240 w 844793"/>
                <a:gd name="connsiteY17" fmla="*/ 876906 h 1481137"/>
                <a:gd name="connsiteX18" fmla="*/ 6079 w 844793"/>
                <a:gd name="connsiteY18" fmla="*/ 784940 h 1481137"/>
                <a:gd name="connsiteX19" fmla="*/ 6349 w 844793"/>
                <a:gd name="connsiteY19" fmla="*/ 784853 h 1481137"/>
                <a:gd name="connsiteX20" fmla="*/ 9871 w 844793"/>
                <a:gd name="connsiteY20" fmla="*/ 772895 h 1481137"/>
                <a:gd name="connsiteX21" fmla="*/ 104126 w 844793"/>
                <a:gd name="connsiteY21" fmla="*/ 712173 h 1481137"/>
                <a:gd name="connsiteX22" fmla="*/ 144081 w 844793"/>
                <a:gd name="connsiteY22" fmla="*/ 720366 h 1481137"/>
                <a:gd name="connsiteX23" fmla="*/ 144153 w 844793"/>
                <a:gd name="connsiteY23" fmla="*/ 720927 h 1481137"/>
                <a:gd name="connsiteX24" fmla="*/ 144375 w 844793"/>
                <a:gd name="connsiteY24" fmla="*/ 720973 h 1481137"/>
                <a:gd name="connsiteX25" fmla="*/ 150280 w 844793"/>
                <a:gd name="connsiteY25" fmla="*/ 767185 h 1481137"/>
                <a:gd name="connsiteX26" fmla="*/ 150388 w 844793"/>
                <a:gd name="connsiteY26" fmla="*/ 767186 h 1481137"/>
                <a:gd name="connsiteX27" fmla="*/ 144391 w 844793"/>
                <a:gd name="connsiteY27" fmla="*/ 720843 h 1481137"/>
                <a:gd name="connsiteX28" fmla="*/ 216027 w 844793"/>
                <a:gd name="connsiteY28" fmla="*/ 660032 h 1481137"/>
                <a:gd name="connsiteX29" fmla="*/ 276243 w 844793"/>
                <a:gd name="connsiteY29" fmla="*/ 657788 h 1481137"/>
                <a:gd name="connsiteX30" fmla="*/ 276153 w 844793"/>
                <a:gd name="connsiteY30" fmla="*/ 657225 h 1481137"/>
                <a:gd name="connsiteX31" fmla="*/ 318134 w 844793"/>
                <a:gd name="connsiteY31" fmla="*/ 671175 h 1481137"/>
                <a:gd name="connsiteX32" fmla="*/ 318205 w 844793"/>
                <a:gd name="connsiteY32" fmla="*/ 671672 h 1481137"/>
                <a:gd name="connsiteX33" fmla="*/ 318297 w 844793"/>
                <a:gd name="connsiteY33" fmla="*/ 671703 h 1481137"/>
                <a:gd name="connsiteX34" fmla="*/ 332298 w 844793"/>
                <a:gd name="connsiteY34" fmla="*/ 769556 h 1481137"/>
                <a:gd name="connsiteX35" fmla="*/ 332648 w 844793"/>
                <a:gd name="connsiteY35" fmla="*/ 769561 h 1481137"/>
                <a:gd name="connsiteX36" fmla="*/ 319016 w 844793"/>
                <a:gd name="connsiteY36" fmla="*/ 671575 h 1481137"/>
                <a:gd name="connsiteX37" fmla="*/ 488972 w 844793"/>
                <a:gd name="connsiteY37" fmla="*/ 631394 h 1481137"/>
                <a:gd name="connsiteX38" fmla="*/ 528441 w 844793"/>
                <a:gd name="connsiteY38" fmla="*/ 648914 h 1481137"/>
                <a:gd name="connsiteX39" fmla="*/ 542114 w 844793"/>
                <a:gd name="connsiteY39" fmla="*/ 96785 h 1481137"/>
                <a:gd name="connsiteX40" fmla="*/ 638010 w 844793"/>
                <a:gd name="connsiteY40" fmla="*/ 0 h 1481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44793" h="1481137">
                  <a:moveTo>
                    <a:pt x="638010" y="0"/>
                  </a:moveTo>
                  <a:cubicBezTo>
                    <a:pt x="644567" y="0"/>
                    <a:pt x="651124" y="820"/>
                    <a:pt x="657681" y="2461"/>
                  </a:cubicBezTo>
                  <a:cubicBezTo>
                    <a:pt x="698662" y="10663"/>
                    <a:pt x="731447" y="45932"/>
                    <a:pt x="733906" y="90223"/>
                  </a:cubicBezTo>
                  <a:lnTo>
                    <a:pt x="756036" y="854657"/>
                  </a:lnTo>
                  <a:lnTo>
                    <a:pt x="757323" y="901441"/>
                  </a:lnTo>
                  <a:lnTo>
                    <a:pt x="836993" y="1036679"/>
                  </a:lnTo>
                  <a:cubicBezTo>
                    <a:pt x="847653" y="1054725"/>
                    <a:pt x="847653" y="1077693"/>
                    <a:pt x="835353" y="1095739"/>
                  </a:cubicBezTo>
                  <a:lnTo>
                    <a:pt x="650845" y="1369713"/>
                  </a:lnTo>
                  <a:lnTo>
                    <a:pt x="650845" y="1481137"/>
                  </a:lnTo>
                  <a:lnTo>
                    <a:pt x="237214" y="1481137"/>
                  </a:lnTo>
                  <a:lnTo>
                    <a:pt x="237214" y="1384512"/>
                  </a:lnTo>
                  <a:cubicBezTo>
                    <a:pt x="237214" y="1384512"/>
                    <a:pt x="183938" y="1352524"/>
                    <a:pt x="87222" y="1238515"/>
                  </a:cubicBezTo>
                  <a:cubicBezTo>
                    <a:pt x="68781" y="1216779"/>
                    <a:pt x="54028" y="1190943"/>
                    <a:pt x="42348" y="1162748"/>
                  </a:cubicBezTo>
                  <a:lnTo>
                    <a:pt x="16055" y="1073310"/>
                  </a:lnTo>
                  <a:lnTo>
                    <a:pt x="15915" y="1073204"/>
                  </a:lnTo>
                  <a:cubicBezTo>
                    <a:pt x="1572" y="1003986"/>
                    <a:pt x="-887" y="932106"/>
                    <a:pt x="240" y="877531"/>
                  </a:cubicBezTo>
                  <a:lnTo>
                    <a:pt x="249" y="877341"/>
                  </a:lnTo>
                  <a:lnTo>
                    <a:pt x="240" y="876906"/>
                  </a:lnTo>
                  <a:cubicBezTo>
                    <a:pt x="1367" y="822259"/>
                    <a:pt x="6079" y="784940"/>
                    <a:pt x="6079" y="784940"/>
                  </a:cubicBezTo>
                  <a:lnTo>
                    <a:pt x="6349" y="784853"/>
                  </a:lnTo>
                  <a:lnTo>
                    <a:pt x="9871" y="772895"/>
                  </a:lnTo>
                  <a:cubicBezTo>
                    <a:pt x="17898" y="751041"/>
                    <a:pt x="41748" y="707871"/>
                    <a:pt x="104126" y="712173"/>
                  </a:cubicBezTo>
                  <a:cubicBezTo>
                    <a:pt x="115542" y="712992"/>
                    <a:pt x="129404" y="715450"/>
                    <a:pt x="144081" y="720366"/>
                  </a:cubicBezTo>
                  <a:lnTo>
                    <a:pt x="144153" y="720927"/>
                  </a:lnTo>
                  <a:lnTo>
                    <a:pt x="144375" y="720973"/>
                  </a:lnTo>
                  <a:lnTo>
                    <a:pt x="150280" y="767185"/>
                  </a:lnTo>
                  <a:lnTo>
                    <a:pt x="150388" y="767186"/>
                  </a:lnTo>
                  <a:lnTo>
                    <a:pt x="144391" y="720843"/>
                  </a:lnTo>
                  <a:cubicBezTo>
                    <a:pt x="144391" y="720843"/>
                    <a:pt x="165617" y="675235"/>
                    <a:pt x="216027" y="660032"/>
                  </a:cubicBezTo>
                  <a:lnTo>
                    <a:pt x="276243" y="657788"/>
                  </a:lnTo>
                  <a:lnTo>
                    <a:pt x="276153" y="657225"/>
                  </a:lnTo>
                  <a:cubicBezTo>
                    <a:pt x="289323" y="659687"/>
                    <a:pt x="302494" y="664610"/>
                    <a:pt x="318134" y="671175"/>
                  </a:cubicBezTo>
                  <a:lnTo>
                    <a:pt x="318205" y="671672"/>
                  </a:lnTo>
                  <a:lnTo>
                    <a:pt x="318297" y="671703"/>
                  </a:lnTo>
                  <a:lnTo>
                    <a:pt x="332298" y="769556"/>
                  </a:lnTo>
                  <a:lnTo>
                    <a:pt x="332648" y="769561"/>
                  </a:lnTo>
                  <a:lnTo>
                    <a:pt x="319016" y="671575"/>
                  </a:lnTo>
                  <a:cubicBezTo>
                    <a:pt x="319016" y="671575"/>
                    <a:pt x="381932" y="595312"/>
                    <a:pt x="488972" y="631394"/>
                  </a:cubicBezTo>
                  <a:lnTo>
                    <a:pt x="528441" y="648914"/>
                  </a:lnTo>
                  <a:lnTo>
                    <a:pt x="542114" y="96785"/>
                  </a:lnTo>
                  <a:cubicBezTo>
                    <a:pt x="542114" y="43471"/>
                    <a:pt x="584734" y="0"/>
                    <a:pt x="638010" y="0"/>
                  </a:cubicBezTo>
                  <a:close/>
                </a:path>
              </a:pathLst>
            </a:custGeom>
            <a:solidFill>
              <a:srgbClr val="FAB29A"/>
            </a:solidFill>
            <a:ln w="139700">
              <a:solidFill>
                <a:srgbClr val="F0EEEF"/>
              </a:solidFill>
              <a:round/>
              <a:headEnd/>
              <a:tailEnd/>
            </a:ln>
          </p:spPr>
          <p:txBody>
            <a:bodyPr vert="horz" wrap="square" lIns="68580" tIns="34290" rIns="68580" bIns="34290" numCol="1" anchor="t" anchorCtr="0" compatLnSpc="1">
              <a:prstTxWarp prst="textNoShape">
                <a:avLst/>
              </a:prstTxWarp>
              <a:noAutofit/>
            </a:bodyPr>
            <a:lstStyle/>
            <a:p>
              <a:endParaRPr lang="en-US" sz="1350"/>
            </a:p>
          </p:txBody>
        </p:sp>
        <p:grpSp>
          <p:nvGrpSpPr>
            <p:cNvPr id="19" name="Group 18">
              <a:extLst>
                <a:ext uri="{FF2B5EF4-FFF2-40B4-BE49-F238E27FC236}">
                  <a16:creationId xmlns="" xmlns:a16="http://schemas.microsoft.com/office/drawing/2014/main" id="{B04CA1CF-8385-4FEE-A78F-D4117B5CF9CF}"/>
                </a:ext>
              </a:extLst>
            </p:cNvPr>
            <p:cNvGrpSpPr/>
            <p:nvPr/>
          </p:nvGrpSpPr>
          <p:grpSpPr>
            <a:xfrm>
              <a:off x="2163029" y="4524231"/>
              <a:ext cx="860425" cy="1771650"/>
              <a:chOff x="7518400" y="506413"/>
              <a:chExt cx="860425" cy="1771650"/>
            </a:xfrm>
          </p:grpSpPr>
          <p:sp>
            <p:nvSpPr>
              <p:cNvPr id="20" name="Freeform 18">
                <a:extLst>
                  <a:ext uri="{FF2B5EF4-FFF2-40B4-BE49-F238E27FC236}">
                    <a16:creationId xmlns="" xmlns:a16="http://schemas.microsoft.com/office/drawing/2014/main" id="{A4A1AC8F-5CCB-4F98-BB6F-FA2C81EF4535}"/>
                  </a:ext>
                </a:extLst>
              </p:cNvPr>
              <p:cNvSpPr>
                <a:spLocks/>
              </p:cNvSpPr>
              <p:nvPr/>
            </p:nvSpPr>
            <p:spPr bwMode="auto">
              <a:xfrm>
                <a:off x="7518400" y="506413"/>
                <a:ext cx="779463" cy="1771650"/>
              </a:xfrm>
              <a:custGeom>
                <a:avLst/>
                <a:gdLst>
                  <a:gd name="T0" fmla="*/ 943 w 951"/>
                  <a:gd name="T1" fmla="*/ 1230 h 2160"/>
                  <a:gd name="T2" fmla="*/ 945 w 951"/>
                  <a:gd name="T3" fmla="*/ 1289 h 2160"/>
                  <a:gd name="T4" fmla="*/ 919 w 951"/>
                  <a:gd name="T5" fmla="*/ 1286 h 2160"/>
                  <a:gd name="T6" fmla="*/ 713 w 951"/>
                  <a:gd name="T7" fmla="*/ 1766 h 2160"/>
                  <a:gd name="T8" fmla="*/ 544 w 951"/>
                  <a:gd name="T9" fmla="*/ 2160 h 2160"/>
                  <a:gd name="T10" fmla="*/ 305 w 951"/>
                  <a:gd name="T11" fmla="*/ 2160 h 2160"/>
                  <a:gd name="T12" fmla="*/ 305 w 951"/>
                  <a:gd name="T13" fmla="*/ 1688 h 2160"/>
                  <a:gd name="T14" fmla="*/ 122 w 951"/>
                  <a:gd name="T15" fmla="*/ 1510 h 2160"/>
                  <a:gd name="T16" fmla="*/ 35 w 951"/>
                  <a:gd name="T17" fmla="*/ 1308 h 2160"/>
                  <a:gd name="T18" fmla="*/ 23 w 951"/>
                  <a:gd name="T19" fmla="*/ 957 h 2160"/>
                  <a:gd name="T20" fmla="*/ 95 w 951"/>
                  <a:gd name="T21" fmla="*/ 934 h 2160"/>
                  <a:gd name="T22" fmla="*/ 479 w 951"/>
                  <a:gd name="T23" fmla="*/ 939 h 2160"/>
                  <a:gd name="T24" fmla="*/ 474 w 951"/>
                  <a:gd name="T25" fmla="*/ 888 h 2160"/>
                  <a:gd name="T26" fmla="*/ 587 w 951"/>
                  <a:gd name="T27" fmla="*/ 837 h 2160"/>
                  <a:gd name="T28" fmla="*/ 660 w 951"/>
                  <a:gd name="T29" fmla="*/ 804 h 2160"/>
                  <a:gd name="T30" fmla="*/ 677 w 951"/>
                  <a:gd name="T31" fmla="*/ 118 h 2160"/>
                  <a:gd name="T32" fmla="*/ 677 w 951"/>
                  <a:gd name="T33" fmla="*/ 118 h 2160"/>
                  <a:gd name="T34" fmla="*/ 794 w 951"/>
                  <a:gd name="T35" fmla="*/ 0 h 2160"/>
                  <a:gd name="T36" fmla="*/ 818 w 951"/>
                  <a:gd name="T37" fmla="*/ 3 h 2160"/>
                  <a:gd name="T38" fmla="*/ 911 w 951"/>
                  <a:gd name="T39" fmla="*/ 110 h 2160"/>
                  <a:gd name="T40" fmla="*/ 938 w 951"/>
                  <a:gd name="T41" fmla="*/ 1042 h 2160"/>
                  <a:gd name="T42" fmla="*/ 941 w 951"/>
                  <a:gd name="T43" fmla="*/ 1151 h 2160"/>
                  <a:gd name="T44" fmla="*/ 942 w 951"/>
                  <a:gd name="T45" fmla="*/ 1188 h 2160"/>
                  <a:gd name="T46" fmla="*/ 949 w 951"/>
                  <a:gd name="T47" fmla="*/ 1206 h 2160"/>
                  <a:gd name="T48" fmla="*/ 951 w 951"/>
                  <a:gd name="T49" fmla="*/ 1212 h 2160"/>
                  <a:gd name="T50" fmla="*/ 943 w 951"/>
                  <a:gd name="T51" fmla="*/ 123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51" h="2160">
                    <a:moveTo>
                      <a:pt x="943" y="1230"/>
                    </a:moveTo>
                    <a:lnTo>
                      <a:pt x="945" y="1289"/>
                    </a:lnTo>
                    <a:lnTo>
                      <a:pt x="919" y="1286"/>
                    </a:lnTo>
                    <a:lnTo>
                      <a:pt x="713" y="1766"/>
                    </a:lnTo>
                    <a:lnTo>
                      <a:pt x="544" y="2160"/>
                    </a:lnTo>
                    <a:lnTo>
                      <a:pt x="305" y="2160"/>
                    </a:lnTo>
                    <a:lnTo>
                      <a:pt x="305" y="1688"/>
                    </a:lnTo>
                    <a:cubicBezTo>
                      <a:pt x="305" y="1688"/>
                      <a:pt x="240" y="1649"/>
                      <a:pt x="122" y="1510"/>
                    </a:cubicBezTo>
                    <a:cubicBezTo>
                      <a:pt x="77" y="1457"/>
                      <a:pt x="50" y="1384"/>
                      <a:pt x="35" y="1308"/>
                    </a:cubicBezTo>
                    <a:cubicBezTo>
                      <a:pt x="0" y="1139"/>
                      <a:pt x="23" y="957"/>
                      <a:pt x="23" y="957"/>
                    </a:cubicBezTo>
                    <a:lnTo>
                      <a:pt x="95" y="934"/>
                    </a:lnTo>
                    <a:lnTo>
                      <a:pt x="479" y="939"/>
                    </a:lnTo>
                    <a:lnTo>
                      <a:pt x="474" y="888"/>
                    </a:lnTo>
                    <a:lnTo>
                      <a:pt x="587" y="837"/>
                    </a:lnTo>
                    <a:lnTo>
                      <a:pt x="660" y="804"/>
                    </a:lnTo>
                    <a:lnTo>
                      <a:pt x="677" y="118"/>
                    </a:lnTo>
                    <a:lnTo>
                      <a:pt x="677" y="118"/>
                    </a:lnTo>
                    <a:cubicBezTo>
                      <a:pt x="677" y="53"/>
                      <a:pt x="729" y="0"/>
                      <a:pt x="794" y="0"/>
                    </a:cubicBezTo>
                    <a:cubicBezTo>
                      <a:pt x="802" y="0"/>
                      <a:pt x="810" y="1"/>
                      <a:pt x="818" y="3"/>
                    </a:cubicBezTo>
                    <a:cubicBezTo>
                      <a:pt x="868" y="13"/>
                      <a:pt x="908" y="56"/>
                      <a:pt x="911" y="110"/>
                    </a:cubicBezTo>
                    <a:lnTo>
                      <a:pt x="938" y="1042"/>
                    </a:lnTo>
                    <a:lnTo>
                      <a:pt x="941" y="1151"/>
                    </a:lnTo>
                    <a:lnTo>
                      <a:pt x="942" y="1188"/>
                    </a:lnTo>
                    <a:lnTo>
                      <a:pt x="949" y="1206"/>
                    </a:lnTo>
                    <a:lnTo>
                      <a:pt x="951" y="1212"/>
                    </a:lnTo>
                    <a:lnTo>
                      <a:pt x="943" y="1230"/>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1" name="Freeform 19">
                <a:extLst>
                  <a:ext uri="{FF2B5EF4-FFF2-40B4-BE49-F238E27FC236}">
                    <a16:creationId xmlns="" xmlns:a16="http://schemas.microsoft.com/office/drawing/2014/main" id="{29594420-A51E-486E-B78F-CFE1F88FEF40}"/>
                  </a:ext>
                </a:extLst>
              </p:cNvPr>
              <p:cNvSpPr>
                <a:spLocks/>
              </p:cNvSpPr>
              <p:nvPr/>
            </p:nvSpPr>
            <p:spPr bwMode="auto">
              <a:xfrm>
                <a:off x="7518400" y="1193800"/>
                <a:ext cx="779463" cy="793750"/>
              </a:xfrm>
              <a:custGeom>
                <a:avLst/>
                <a:gdLst>
                  <a:gd name="T0" fmla="*/ 943 w 951"/>
                  <a:gd name="T1" fmla="*/ 393 h 969"/>
                  <a:gd name="T2" fmla="*/ 945 w 951"/>
                  <a:gd name="T3" fmla="*/ 452 h 969"/>
                  <a:gd name="T4" fmla="*/ 919 w 951"/>
                  <a:gd name="T5" fmla="*/ 449 h 969"/>
                  <a:gd name="T6" fmla="*/ 713 w 951"/>
                  <a:gd name="T7" fmla="*/ 929 h 969"/>
                  <a:gd name="T8" fmla="*/ 456 w 951"/>
                  <a:gd name="T9" fmla="*/ 890 h 969"/>
                  <a:gd name="T10" fmla="*/ 462 w 951"/>
                  <a:gd name="T11" fmla="*/ 565 h 969"/>
                  <a:gd name="T12" fmla="*/ 35 w 951"/>
                  <a:gd name="T13" fmla="*/ 471 h 969"/>
                  <a:gd name="T14" fmla="*/ 23 w 951"/>
                  <a:gd name="T15" fmla="*/ 120 h 969"/>
                  <a:gd name="T16" fmla="*/ 95 w 951"/>
                  <a:gd name="T17" fmla="*/ 97 h 969"/>
                  <a:gd name="T18" fmla="*/ 479 w 951"/>
                  <a:gd name="T19" fmla="*/ 102 h 969"/>
                  <a:gd name="T20" fmla="*/ 474 w 951"/>
                  <a:gd name="T21" fmla="*/ 51 h 969"/>
                  <a:gd name="T22" fmla="*/ 587 w 951"/>
                  <a:gd name="T23" fmla="*/ 0 h 969"/>
                  <a:gd name="T24" fmla="*/ 564 w 951"/>
                  <a:gd name="T25" fmla="*/ 256 h 969"/>
                  <a:gd name="T26" fmla="*/ 721 w 951"/>
                  <a:gd name="T27" fmla="*/ 332 h 969"/>
                  <a:gd name="T28" fmla="*/ 941 w 951"/>
                  <a:gd name="T29" fmla="*/ 314 h 969"/>
                  <a:gd name="T30" fmla="*/ 942 w 951"/>
                  <a:gd name="T31" fmla="*/ 351 h 969"/>
                  <a:gd name="T32" fmla="*/ 951 w 951"/>
                  <a:gd name="T33" fmla="*/ 375 h 969"/>
                  <a:gd name="T34" fmla="*/ 943 w 951"/>
                  <a:gd name="T35" fmla="*/ 393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1" h="969">
                    <a:moveTo>
                      <a:pt x="943" y="393"/>
                    </a:moveTo>
                    <a:lnTo>
                      <a:pt x="945" y="452"/>
                    </a:lnTo>
                    <a:lnTo>
                      <a:pt x="919" y="449"/>
                    </a:lnTo>
                    <a:lnTo>
                      <a:pt x="713" y="929"/>
                    </a:lnTo>
                    <a:cubicBezTo>
                      <a:pt x="598" y="964"/>
                      <a:pt x="491" y="969"/>
                      <a:pt x="456" y="890"/>
                    </a:cubicBezTo>
                    <a:cubicBezTo>
                      <a:pt x="368" y="693"/>
                      <a:pt x="462" y="565"/>
                      <a:pt x="462" y="565"/>
                    </a:cubicBezTo>
                    <a:cubicBezTo>
                      <a:pt x="204" y="592"/>
                      <a:pt x="83" y="518"/>
                      <a:pt x="35" y="471"/>
                    </a:cubicBezTo>
                    <a:cubicBezTo>
                      <a:pt x="0" y="302"/>
                      <a:pt x="23" y="120"/>
                      <a:pt x="23" y="120"/>
                    </a:cubicBezTo>
                    <a:lnTo>
                      <a:pt x="95" y="97"/>
                    </a:lnTo>
                    <a:lnTo>
                      <a:pt x="479" y="102"/>
                    </a:lnTo>
                    <a:lnTo>
                      <a:pt x="474" y="51"/>
                    </a:lnTo>
                    <a:lnTo>
                      <a:pt x="587" y="0"/>
                    </a:lnTo>
                    <a:lnTo>
                      <a:pt x="564" y="256"/>
                    </a:lnTo>
                    <a:lnTo>
                      <a:pt x="721" y="332"/>
                    </a:lnTo>
                    <a:lnTo>
                      <a:pt x="941" y="314"/>
                    </a:lnTo>
                    <a:lnTo>
                      <a:pt x="942" y="351"/>
                    </a:lnTo>
                    <a:lnTo>
                      <a:pt x="951" y="375"/>
                    </a:lnTo>
                    <a:lnTo>
                      <a:pt x="943" y="393"/>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2" name="Freeform 20">
                <a:extLst>
                  <a:ext uri="{FF2B5EF4-FFF2-40B4-BE49-F238E27FC236}">
                    <a16:creationId xmlns="" xmlns:a16="http://schemas.microsoft.com/office/drawing/2014/main" id="{3AA0C245-FE0F-4A67-AB96-53D2EC378F29}"/>
                  </a:ext>
                </a:extLst>
              </p:cNvPr>
              <p:cNvSpPr>
                <a:spLocks/>
              </p:cNvSpPr>
              <p:nvPr/>
            </p:nvSpPr>
            <p:spPr bwMode="auto">
              <a:xfrm>
                <a:off x="7850188" y="1101725"/>
                <a:ext cx="222250" cy="495300"/>
              </a:xfrm>
              <a:custGeom>
                <a:avLst/>
                <a:gdLst>
                  <a:gd name="T0" fmla="*/ 272 w 272"/>
                  <a:gd name="T1" fmla="*/ 493 h 604"/>
                  <a:gd name="T2" fmla="*/ 229 w 272"/>
                  <a:gd name="T3" fmla="*/ 565 h 604"/>
                  <a:gd name="T4" fmla="*/ 202 w 272"/>
                  <a:gd name="T5" fmla="*/ 582 h 604"/>
                  <a:gd name="T6" fmla="*/ 153 w 272"/>
                  <a:gd name="T7" fmla="*/ 596 h 604"/>
                  <a:gd name="T8" fmla="*/ 54 w 272"/>
                  <a:gd name="T9" fmla="*/ 520 h 604"/>
                  <a:gd name="T10" fmla="*/ 57 w 272"/>
                  <a:gd name="T11" fmla="*/ 492 h 604"/>
                  <a:gd name="T12" fmla="*/ 37 w 272"/>
                  <a:gd name="T13" fmla="*/ 358 h 604"/>
                  <a:gd name="T14" fmla="*/ 0 w 272"/>
                  <a:gd name="T15" fmla="*/ 93 h 604"/>
                  <a:gd name="T16" fmla="*/ 208 w 272"/>
                  <a:gd name="T17" fmla="*/ 44 h 604"/>
                  <a:gd name="T18" fmla="*/ 260 w 272"/>
                  <a:gd name="T19" fmla="*/ 67 h 604"/>
                  <a:gd name="T20" fmla="*/ 267 w 272"/>
                  <a:gd name="T21" fmla="*/ 326 h 604"/>
                  <a:gd name="T22" fmla="*/ 268 w 272"/>
                  <a:gd name="T23" fmla="*/ 353 h 604"/>
                  <a:gd name="T24" fmla="*/ 272 w 272"/>
                  <a:gd name="T25" fmla="*/ 493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2" h="604">
                    <a:moveTo>
                      <a:pt x="272" y="493"/>
                    </a:moveTo>
                    <a:cubicBezTo>
                      <a:pt x="272" y="493"/>
                      <a:pt x="265" y="534"/>
                      <a:pt x="229" y="565"/>
                    </a:cubicBezTo>
                    <a:cubicBezTo>
                      <a:pt x="221" y="571"/>
                      <a:pt x="213" y="577"/>
                      <a:pt x="202" y="582"/>
                    </a:cubicBezTo>
                    <a:cubicBezTo>
                      <a:pt x="189" y="589"/>
                      <a:pt x="173" y="594"/>
                      <a:pt x="153" y="596"/>
                    </a:cubicBezTo>
                    <a:cubicBezTo>
                      <a:pt x="93" y="604"/>
                      <a:pt x="66" y="559"/>
                      <a:pt x="54" y="520"/>
                    </a:cubicBezTo>
                    <a:cubicBezTo>
                      <a:pt x="57" y="504"/>
                      <a:pt x="57" y="492"/>
                      <a:pt x="57" y="492"/>
                    </a:cubicBezTo>
                    <a:lnTo>
                      <a:pt x="37" y="358"/>
                    </a:lnTo>
                    <a:lnTo>
                      <a:pt x="0" y="93"/>
                    </a:lnTo>
                    <a:cubicBezTo>
                      <a:pt x="0" y="93"/>
                      <a:pt x="77" y="0"/>
                      <a:pt x="208" y="44"/>
                    </a:cubicBezTo>
                    <a:cubicBezTo>
                      <a:pt x="224" y="49"/>
                      <a:pt x="241" y="57"/>
                      <a:pt x="260" y="67"/>
                    </a:cubicBezTo>
                    <a:lnTo>
                      <a:pt x="267" y="326"/>
                    </a:lnTo>
                    <a:lnTo>
                      <a:pt x="268" y="353"/>
                    </a:lnTo>
                    <a:lnTo>
                      <a:pt x="272" y="493"/>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3" name="Freeform 21">
                <a:extLst>
                  <a:ext uri="{FF2B5EF4-FFF2-40B4-BE49-F238E27FC236}">
                    <a16:creationId xmlns="" xmlns:a16="http://schemas.microsoft.com/office/drawing/2014/main" id="{8B355E78-9019-4CB1-8844-B15CC0706753}"/>
                  </a:ext>
                </a:extLst>
              </p:cNvPr>
              <p:cNvSpPr>
                <a:spLocks/>
              </p:cNvSpPr>
              <p:nvPr/>
            </p:nvSpPr>
            <p:spPr bwMode="auto">
              <a:xfrm>
                <a:off x="7537450" y="1212850"/>
                <a:ext cx="179388" cy="381000"/>
              </a:xfrm>
              <a:custGeom>
                <a:avLst/>
                <a:gdLst>
                  <a:gd name="T0" fmla="*/ 183 w 220"/>
                  <a:gd name="T1" fmla="*/ 455 h 465"/>
                  <a:gd name="T2" fmla="*/ 125 w 220"/>
                  <a:gd name="T3" fmla="*/ 465 h 465"/>
                  <a:gd name="T4" fmla="*/ 0 w 220"/>
                  <a:gd name="T5" fmla="*/ 96 h 465"/>
                  <a:gd name="T6" fmla="*/ 120 w 220"/>
                  <a:gd name="T7" fmla="*/ 7 h 465"/>
                  <a:gd name="T8" fmla="*/ 169 w 220"/>
                  <a:gd name="T9" fmla="*/ 17 h 465"/>
                  <a:gd name="T10" fmla="*/ 219 w 220"/>
                  <a:gd name="T11" fmla="*/ 404 h 465"/>
                  <a:gd name="T12" fmla="*/ 183 w 220"/>
                  <a:gd name="T13" fmla="*/ 455 h 465"/>
                </a:gdLst>
                <a:ahLst/>
                <a:cxnLst>
                  <a:cxn ang="0">
                    <a:pos x="T0" y="T1"/>
                  </a:cxn>
                  <a:cxn ang="0">
                    <a:pos x="T2" y="T3"/>
                  </a:cxn>
                  <a:cxn ang="0">
                    <a:pos x="T4" y="T5"/>
                  </a:cxn>
                  <a:cxn ang="0">
                    <a:pos x="T6" y="T7"/>
                  </a:cxn>
                  <a:cxn ang="0">
                    <a:pos x="T8" y="T9"/>
                  </a:cxn>
                  <a:cxn ang="0">
                    <a:pos x="T10" y="T11"/>
                  </a:cxn>
                  <a:cxn ang="0">
                    <a:pos x="T12" y="T13"/>
                  </a:cxn>
                </a:cxnLst>
                <a:rect l="0" t="0" r="r" b="b"/>
                <a:pathLst>
                  <a:path w="220" h="465">
                    <a:moveTo>
                      <a:pt x="183" y="455"/>
                    </a:moveTo>
                    <a:cubicBezTo>
                      <a:pt x="169" y="461"/>
                      <a:pt x="151" y="465"/>
                      <a:pt x="125" y="465"/>
                    </a:cubicBezTo>
                    <a:cubicBezTo>
                      <a:pt x="29" y="465"/>
                      <a:pt x="29" y="406"/>
                      <a:pt x="0" y="96"/>
                    </a:cubicBezTo>
                    <a:cubicBezTo>
                      <a:pt x="0" y="96"/>
                      <a:pt x="18" y="0"/>
                      <a:pt x="120" y="7"/>
                    </a:cubicBezTo>
                    <a:cubicBezTo>
                      <a:pt x="134" y="8"/>
                      <a:pt x="151" y="11"/>
                      <a:pt x="169" y="17"/>
                    </a:cubicBezTo>
                    <a:lnTo>
                      <a:pt x="219" y="404"/>
                    </a:lnTo>
                    <a:cubicBezTo>
                      <a:pt x="219" y="404"/>
                      <a:pt x="220" y="437"/>
                      <a:pt x="183" y="455"/>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4" name="Freeform 22">
                <a:extLst>
                  <a:ext uri="{FF2B5EF4-FFF2-40B4-BE49-F238E27FC236}">
                    <a16:creationId xmlns="" xmlns:a16="http://schemas.microsoft.com/office/drawing/2014/main" id="{CC2F3A31-34F9-4057-A249-DB304DF60BFC}"/>
                  </a:ext>
                </a:extLst>
              </p:cNvPr>
              <p:cNvSpPr>
                <a:spLocks/>
              </p:cNvSpPr>
              <p:nvPr/>
            </p:nvSpPr>
            <p:spPr bwMode="auto">
              <a:xfrm>
                <a:off x="7675563" y="1146175"/>
                <a:ext cx="220663" cy="463550"/>
              </a:xfrm>
              <a:custGeom>
                <a:avLst/>
                <a:gdLst>
                  <a:gd name="T0" fmla="*/ 269 w 269"/>
                  <a:gd name="T1" fmla="*/ 438 h 566"/>
                  <a:gd name="T2" fmla="*/ 241 w 269"/>
                  <a:gd name="T3" fmla="*/ 525 h 566"/>
                  <a:gd name="T4" fmla="*/ 190 w 269"/>
                  <a:gd name="T5" fmla="*/ 554 h 566"/>
                  <a:gd name="T6" fmla="*/ 50 w 269"/>
                  <a:gd name="T7" fmla="*/ 486 h 566"/>
                  <a:gd name="T8" fmla="*/ 0 w 269"/>
                  <a:gd name="T9" fmla="*/ 99 h 566"/>
                  <a:gd name="T10" fmla="*/ 161 w 269"/>
                  <a:gd name="T11" fmla="*/ 22 h 566"/>
                  <a:gd name="T12" fmla="*/ 212 w 269"/>
                  <a:gd name="T13" fmla="*/ 39 h 566"/>
                  <a:gd name="T14" fmla="*/ 269 w 269"/>
                  <a:gd name="T15" fmla="*/ 438 h 5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9" h="566">
                    <a:moveTo>
                      <a:pt x="269" y="438"/>
                    </a:moveTo>
                    <a:cubicBezTo>
                      <a:pt x="269" y="438"/>
                      <a:pt x="269" y="490"/>
                      <a:pt x="241" y="525"/>
                    </a:cubicBezTo>
                    <a:cubicBezTo>
                      <a:pt x="229" y="539"/>
                      <a:pt x="213" y="550"/>
                      <a:pt x="190" y="554"/>
                    </a:cubicBezTo>
                    <a:cubicBezTo>
                      <a:pt x="118" y="566"/>
                      <a:pt x="72" y="546"/>
                      <a:pt x="50" y="486"/>
                    </a:cubicBezTo>
                    <a:lnTo>
                      <a:pt x="0" y="99"/>
                    </a:lnTo>
                    <a:cubicBezTo>
                      <a:pt x="0" y="99"/>
                      <a:pt x="46" y="0"/>
                      <a:pt x="161" y="22"/>
                    </a:cubicBezTo>
                    <a:cubicBezTo>
                      <a:pt x="177" y="25"/>
                      <a:pt x="193" y="31"/>
                      <a:pt x="212" y="39"/>
                    </a:cubicBezTo>
                    <a:lnTo>
                      <a:pt x="269" y="438"/>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5" name="Freeform 23">
                <a:extLst>
                  <a:ext uri="{FF2B5EF4-FFF2-40B4-BE49-F238E27FC236}">
                    <a16:creationId xmlns="" xmlns:a16="http://schemas.microsoft.com/office/drawing/2014/main" id="{CC482A4A-473B-4C02-9628-E25A23DA9DFF}"/>
                  </a:ext>
                </a:extLst>
              </p:cNvPr>
              <p:cNvSpPr>
                <a:spLocks/>
              </p:cNvSpPr>
              <p:nvPr/>
            </p:nvSpPr>
            <p:spPr bwMode="auto">
              <a:xfrm>
                <a:off x="7880350" y="1358900"/>
                <a:ext cx="406400" cy="238125"/>
              </a:xfrm>
              <a:custGeom>
                <a:avLst/>
                <a:gdLst>
                  <a:gd name="T0" fmla="*/ 496 w 496"/>
                  <a:gd name="T1" fmla="*/ 62 h 291"/>
                  <a:gd name="T2" fmla="*/ 453 w 496"/>
                  <a:gd name="T3" fmla="*/ 131 h 291"/>
                  <a:gd name="T4" fmla="*/ 300 w 496"/>
                  <a:gd name="T5" fmla="*/ 277 h 291"/>
                  <a:gd name="T6" fmla="*/ 231 w 496"/>
                  <a:gd name="T7" fmla="*/ 204 h 291"/>
                  <a:gd name="T8" fmla="*/ 196 w 496"/>
                  <a:gd name="T9" fmla="*/ 258 h 291"/>
                  <a:gd name="T10" fmla="*/ 177 w 496"/>
                  <a:gd name="T11" fmla="*/ 272 h 291"/>
                  <a:gd name="T12" fmla="*/ 165 w 496"/>
                  <a:gd name="T13" fmla="*/ 269 h 291"/>
                  <a:gd name="T14" fmla="*/ 116 w 496"/>
                  <a:gd name="T15" fmla="*/ 283 h 291"/>
                  <a:gd name="T16" fmla="*/ 17 w 496"/>
                  <a:gd name="T17" fmla="*/ 207 h 291"/>
                  <a:gd name="T18" fmla="*/ 20 w 496"/>
                  <a:gd name="T19" fmla="*/ 179 h 291"/>
                  <a:gd name="T20" fmla="*/ 0 w 496"/>
                  <a:gd name="T21" fmla="*/ 45 h 291"/>
                  <a:gd name="T22" fmla="*/ 10 w 496"/>
                  <a:gd name="T23" fmla="*/ 20 h 291"/>
                  <a:gd name="T24" fmla="*/ 42 w 496"/>
                  <a:gd name="T25" fmla="*/ 2 h 291"/>
                  <a:gd name="T26" fmla="*/ 203 w 496"/>
                  <a:gd name="T27" fmla="*/ 13 h 291"/>
                  <a:gd name="T28" fmla="*/ 214 w 496"/>
                  <a:gd name="T29" fmla="*/ 13 h 291"/>
                  <a:gd name="T30" fmla="*/ 230 w 496"/>
                  <a:gd name="T31" fmla="*/ 13 h 291"/>
                  <a:gd name="T32" fmla="*/ 431 w 496"/>
                  <a:gd name="T33" fmla="*/ 5 h 291"/>
                  <a:gd name="T34" fmla="*/ 444 w 496"/>
                  <a:gd name="T35" fmla="*/ 6 h 291"/>
                  <a:gd name="T36" fmla="*/ 496 w 496"/>
                  <a:gd name="T37" fmla="*/ 58 h 291"/>
                  <a:gd name="T38" fmla="*/ 496 w 496"/>
                  <a:gd name="T39" fmla="*/ 6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6" h="291">
                    <a:moveTo>
                      <a:pt x="496" y="62"/>
                    </a:moveTo>
                    <a:cubicBezTo>
                      <a:pt x="496" y="62"/>
                      <a:pt x="481" y="92"/>
                      <a:pt x="453" y="131"/>
                    </a:cubicBezTo>
                    <a:cubicBezTo>
                      <a:pt x="419" y="178"/>
                      <a:pt x="366" y="239"/>
                      <a:pt x="300" y="277"/>
                    </a:cubicBezTo>
                    <a:cubicBezTo>
                      <a:pt x="276" y="268"/>
                      <a:pt x="252" y="245"/>
                      <a:pt x="231" y="204"/>
                    </a:cubicBezTo>
                    <a:cubicBezTo>
                      <a:pt x="226" y="217"/>
                      <a:pt x="216" y="239"/>
                      <a:pt x="196" y="258"/>
                    </a:cubicBezTo>
                    <a:cubicBezTo>
                      <a:pt x="191" y="263"/>
                      <a:pt x="184" y="268"/>
                      <a:pt x="177" y="272"/>
                    </a:cubicBezTo>
                    <a:cubicBezTo>
                      <a:pt x="173" y="271"/>
                      <a:pt x="169" y="270"/>
                      <a:pt x="165" y="269"/>
                    </a:cubicBezTo>
                    <a:cubicBezTo>
                      <a:pt x="152" y="276"/>
                      <a:pt x="136" y="281"/>
                      <a:pt x="116" y="283"/>
                    </a:cubicBezTo>
                    <a:cubicBezTo>
                      <a:pt x="56" y="291"/>
                      <a:pt x="29" y="246"/>
                      <a:pt x="17" y="207"/>
                    </a:cubicBezTo>
                    <a:cubicBezTo>
                      <a:pt x="20" y="191"/>
                      <a:pt x="20" y="179"/>
                      <a:pt x="20" y="179"/>
                    </a:cubicBezTo>
                    <a:lnTo>
                      <a:pt x="0" y="45"/>
                    </a:lnTo>
                    <a:cubicBezTo>
                      <a:pt x="3" y="35"/>
                      <a:pt x="7" y="27"/>
                      <a:pt x="10" y="20"/>
                    </a:cubicBezTo>
                    <a:cubicBezTo>
                      <a:pt x="15" y="8"/>
                      <a:pt x="28" y="0"/>
                      <a:pt x="42" y="2"/>
                    </a:cubicBezTo>
                    <a:cubicBezTo>
                      <a:pt x="103" y="8"/>
                      <a:pt x="156" y="11"/>
                      <a:pt x="203" y="13"/>
                    </a:cubicBezTo>
                    <a:cubicBezTo>
                      <a:pt x="207" y="13"/>
                      <a:pt x="211" y="13"/>
                      <a:pt x="214" y="13"/>
                    </a:cubicBezTo>
                    <a:cubicBezTo>
                      <a:pt x="220" y="13"/>
                      <a:pt x="225" y="13"/>
                      <a:pt x="230" y="13"/>
                    </a:cubicBezTo>
                    <a:cubicBezTo>
                      <a:pt x="326" y="14"/>
                      <a:pt x="389" y="6"/>
                      <a:pt x="431" y="5"/>
                    </a:cubicBezTo>
                    <a:cubicBezTo>
                      <a:pt x="436" y="5"/>
                      <a:pt x="440" y="5"/>
                      <a:pt x="444" y="6"/>
                    </a:cubicBezTo>
                    <a:cubicBezTo>
                      <a:pt x="488" y="11"/>
                      <a:pt x="495" y="46"/>
                      <a:pt x="496" y="58"/>
                    </a:cubicBezTo>
                    <a:cubicBezTo>
                      <a:pt x="496" y="61"/>
                      <a:pt x="496" y="62"/>
                      <a:pt x="496" y="62"/>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6" name="Freeform 24">
                <a:extLst>
                  <a:ext uri="{FF2B5EF4-FFF2-40B4-BE49-F238E27FC236}">
                    <a16:creationId xmlns="" xmlns:a16="http://schemas.microsoft.com/office/drawing/2014/main" id="{E4FC746B-4A87-4B22-89FA-43BC87ACE4FA}"/>
                  </a:ext>
                </a:extLst>
              </p:cNvPr>
              <p:cNvSpPr>
                <a:spLocks/>
              </p:cNvSpPr>
              <p:nvPr/>
            </p:nvSpPr>
            <p:spPr bwMode="auto">
              <a:xfrm>
                <a:off x="7807325" y="1163638"/>
                <a:ext cx="88900" cy="412750"/>
              </a:xfrm>
              <a:custGeom>
                <a:avLst/>
                <a:gdLst>
                  <a:gd name="T0" fmla="*/ 108 w 108"/>
                  <a:gd name="T1" fmla="*/ 416 h 503"/>
                  <a:gd name="T2" fmla="*/ 80 w 108"/>
                  <a:gd name="T3" fmla="*/ 503 h 503"/>
                  <a:gd name="T4" fmla="*/ 0 w 108"/>
                  <a:gd name="T5" fmla="*/ 0 h 503"/>
                  <a:gd name="T6" fmla="*/ 51 w 108"/>
                  <a:gd name="T7" fmla="*/ 17 h 503"/>
                  <a:gd name="T8" fmla="*/ 108 w 108"/>
                  <a:gd name="T9" fmla="*/ 416 h 503"/>
                </a:gdLst>
                <a:ahLst/>
                <a:cxnLst>
                  <a:cxn ang="0">
                    <a:pos x="T0" y="T1"/>
                  </a:cxn>
                  <a:cxn ang="0">
                    <a:pos x="T2" y="T3"/>
                  </a:cxn>
                  <a:cxn ang="0">
                    <a:pos x="T4" y="T5"/>
                  </a:cxn>
                  <a:cxn ang="0">
                    <a:pos x="T6" y="T7"/>
                  </a:cxn>
                  <a:cxn ang="0">
                    <a:pos x="T8" y="T9"/>
                  </a:cxn>
                </a:cxnLst>
                <a:rect l="0" t="0" r="r" b="b"/>
                <a:pathLst>
                  <a:path w="108" h="503">
                    <a:moveTo>
                      <a:pt x="108" y="416"/>
                    </a:moveTo>
                    <a:cubicBezTo>
                      <a:pt x="108" y="416"/>
                      <a:pt x="108" y="468"/>
                      <a:pt x="80" y="503"/>
                    </a:cubicBezTo>
                    <a:lnTo>
                      <a:pt x="0" y="0"/>
                    </a:lnTo>
                    <a:cubicBezTo>
                      <a:pt x="16" y="3"/>
                      <a:pt x="32" y="9"/>
                      <a:pt x="51" y="17"/>
                    </a:cubicBezTo>
                    <a:lnTo>
                      <a:pt x="108" y="416"/>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7" name="Freeform 25">
                <a:extLst>
                  <a:ext uri="{FF2B5EF4-FFF2-40B4-BE49-F238E27FC236}">
                    <a16:creationId xmlns="" xmlns:a16="http://schemas.microsoft.com/office/drawing/2014/main" id="{60561301-B2B8-4D5F-85DF-54408C69ACDF}"/>
                  </a:ext>
                </a:extLst>
              </p:cNvPr>
              <p:cNvSpPr>
                <a:spLocks/>
              </p:cNvSpPr>
              <p:nvPr/>
            </p:nvSpPr>
            <p:spPr bwMode="auto">
              <a:xfrm>
                <a:off x="7635875" y="1219200"/>
                <a:ext cx="80963" cy="366713"/>
              </a:xfrm>
              <a:custGeom>
                <a:avLst/>
                <a:gdLst>
                  <a:gd name="T0" fmla="*/ 63 w 100"/>
                  <a:gd name="T1" fmla="*/ 448 h 448"/>
                  <a:gd name="T2" fmla="*/ 0 w 100"/>
                  <a:gd name="T3" fmla="*/ 0 h 448"/>
                  <a:gd name="T4" fmla="*/ 49 w 100"/>
                  <a:gd name="T5" fmla="*/ 10 h 448"/>
                  <a:gd name="T6" fmla="*/ 99 w 100"/>
                  <a:gd name="T7" fmla="*/ 397 h 448"/>
                  <a:gd name="T8" fmla="*/ 63 w 100"/>
                  <a:gd name="T9" fmla="*/ 448 h 448"/>
                </a:gdLst>
                <a:ahLst/>
                <a:cxnLst>
                  <a:cxn ang="0">
                    <a:pos x="T0" y="T1"/>
                  </a:cxn>
                  <a:cxn ang="0">
                    <a:pos x="T2" y="T3"/>
                  </a:cxn>
                  <a:cxn ang="0">
                    <a:pos x="T4" y="T5"/>
                  </a:cxn>
                  <a:cxn ang="0">
                    <a:pos x="T6" y="T7"/>
                  </a:cxn>
                  <a:cxn ang="0">
                    <a:pos x="T8" y="T9"/>
                  </a:cxn>
                </a:cxnLst>
                <a:rect l="0" t="0" r="r" b="b"/>
                <a:pathLst>
                  <a:path w="100" h="448">
                    <a:moveTo>
                      <a:pt x="63" y="448"/>
                    </a:moveTo>
                    <a:lnTo>
                      <a:pt x="0" y="0"/>
                    </a:lnTo>
                    <a:cubicBezTo>
                      <a:pt x="14" y="1"/>
                      <a:pt x="31" y="4"/>
                      <a:pt x="49" y="10"/>
                    </a:cubicBezTo>
                    <a:lnTo>
                      <a:pt x="99" y="397"/>
                    </a:lnTo>
                    <a:cubicBezTo>
                      <a:pt x="99" y="397"/>
                      <a:pt x="100" y="430"/>
                      <a:pt x="63" y="448"/>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8" name="Freeform 26">
                <a:extLst>
                  <a:ext uri="{FF2B5EF4-FFF2-40B4-BE49-F238E27FC236}">
                    <a16:creationId xmlns="" xmlns:a16="http://schemas.microsoft.com/office/drawing/2014/main" id="{82704B85-F4D7-4FD1-8A20-C64D252E7F40}"/>
                  </a:ext>
                </a:extLst>
              </p:cNvPr>
              <p:cNvSpPr>
                <a:spLocks/>
              </p:cNvSpPr>
              <p:nvPr/>
            </p:nvSpPr>
            <p:spPr bwMode="auto">
              <a:xfrm>
                <a:off x="8020050" y="1138238"/>
                <a:ext cx="52388" cy="427038"/>
              </a:xfrm>
              <a:custGeom>
                <a:avLst/>
                <a:gdLst>
                  <a:gd name="T0" fmla="*/ 64 w 64"/>
                  <a:gd name="T1" fmla="*/ 449 h 521"/>
                  <a:gd name="T2" fmla="*/ 21 w 64"/>
                  <a:gd name="T3" fmla="*/ 521 h 521"/>
                  <a:gd name="T4" fmla="*/ 0 w 64"/>
                  <a:gd name="T5" fmla="*/ 0 h 521"/>
                  <a:gd name="T6" fmla="*/ 52 w 64"/>
                  <a:gd name="T7" fmla="*/ 23 h 521"/>
                  <a:gd name="T8" fmla="*/ 64 w 64"/>
                  <a:gd name="T9" fmla="*/ 449 h 521"/>
                </a:gdLst>
                <a:ahLst/>
                <a:cxnLst>
                  <a:cxn ang="0">
                    <a:pos x="T0" y="T1"/>
                  </a:cxn>
                  <a:cxn ang="0">
                    <a:pos x="T2" y="T3"/>
                  </a:cxn>
                  <a:cxn ang="0">
                    <a:pos x="T4" y="T5"/>
                  </a:cxn>
                  <a:cxn ang="0">
                    <a:pos x="T6" y="T7"/>
                  </a:cxn>
                  <a:cxn ang="0">
                    <a:pos x="T8" y="T9"/>
                  </a:cxn>
                </a:cxnLst>
                <a:rect l="0" t="0" r="r" b="b"/>
                <a:pathLst>
                  <a:path w="64" h="521">
                    <a:moveTo>
                      <a:pt x="64" y="449"/>
                    </a:moveTo>
                    <a:cubicBezTo>
                      <a:pt x="64" y="449"/>
                      <a:pt x="57" y="490"/>
                      <a:pt x="21" y="521"/>
                    </a:cubicBezTo>
                    <a:lnTo>
                      <a:pt x="0" y="0"/>
                    </a:lnTo>
                    <a:cubicBezTo>
                      <a:pt x="16" y="5"/>
                      <a:pt x="33" y="13"/>
                      <a:pt x="52" y="23"/>
                    </a:cubicBezTo>
                    <a:lnTo>
                      <a:pt x="64" y="449"/>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29" name="Freeform 27">
                <a:extLst>
                  <a:ext uri="{FF2B5EF4-FFF2-40B4-BE49-F238E27FC236}">
                    <a16:creationId xmlns="" xmlns:a16="http://schemas.microsoft.com/office/drawing/2014/main" id="{8812821E-CCD5-43D5-8355-E98BD8E72442}"/>
                  </a:ext>
                </a:extLst>
              </p:cNvPr>
              <p:cNvSpPr>
                <a:spLocks/>
              </p:cNvSpPr>
              <p:nvPr/>
            </p:nvSpPr>
            <p:spPr bwMode="auto">
              <a:xfrm>
                <a:off x="7883525" y="1370013"/>
                <a:ext cx="495300" cy="908050"/>
              </a:xfrm>
              <a:custGeom>
                <a:avLst/>
                <a:gdLst>
                  <a:gd name="T0" fmla="*/ 589 w 604"/>
                  <a:gd name="T1" fmla="*/ 283 h 1107"/>
                  <a:gd name="T2" fmla="*/ 364 w 604"/>
                  <a:gd name="T3" fmla="*/ 617 h 1107"/>
                  <a:gd name="T4" fmla="*/ 364 w 604"/>
                  <a:gd name="T5" fmla="*/ 1107 h 1107"/>
                  <a:gd name="T6" fmla="*/ 0 w 604"/>
                  <a:gd name="T7" fmla="*/ 1107 h 1107"/>
                  <a:gd name="T8" fmla="*/ 0 w 604"/>
                  <a:gd name="T9" fmla="*/ 501 h 1107"/>
                  <a:gd name="T10" fmla="*/ 218 w 604"/>
                  <a:gd name="T11" fmla="*/ 264 h 1107"/>
                  <a:gd name="T12" fmla="*/ 173 w 604"/>
                  <a:gd name="T13" fmla="*/ 257 h 1107"/>
                  <a:gd name="T14" fmla="*/ 161 w 604"/>
                  <a:gd name="T15" fmla="*/ 254 h 1107"/>
                  <a:gd name="T16" fmla="*/ 24 w 604"/>
                  <a:gd name="T17" fmla="*/ 42 h 1107"/>
                  <a:gd name="T18" fmla="*/ 60 w 604"/>
                  <a:gd name="T19" fmla="*/ 14 h 1107"/>
                  <a:gd name="T20" fmla="*/ 227 w 604"/>
                  <a:gd name="T21" fmla="*/ 25 h 1107"/>
                  <a:gd name="T22" fmla="*/ 417 w 604"/>
                  <a:gd name="T23" fmla="*/ 5 h 1107"/>
                  <a:gd name="T24" fmla="*/ 489 w 604"/>
                  <a:gd name="T25" fmla="*/ 37 h 1107"/>
                  <a:gd name="T26" fmla="*/ 492 w 604"/>
                  <a:gd name="T27" fmla="*/ 43 h 1107"/>
                  <a:gd name="T28" fmla="*/ 591 w 604"/>
                  <a:gd name="T29" fmla="*/ 211 h 1107"/>
                  <a:gd name="T30" fmla="*/ 589 w 604"/>
                  <a:gd name="T31" fmla="*/ 28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4" h="1107">
                    <a:moveTo>
                      <a:pt x="589" y="283"/>
                    </a:moveTo>
                    <a:lnTo>
                      <a:pt x="364" y="617"/>
                    </a:lnTo>
                    <a:lnTo>
                      <a:pt x="364" y="1107"/>
                    </a:lnTo>
                    <a:lnTo>
                      <a:pt x="0" y="1107"/>
                    </a:lnTo>
                    <a:lnTo>
                      <a:pt x="0" y="501"/>
                    </a:lnTo>
                    <a:cubicBezTo>
                      <a:pt x="24" y="311"/>
                      <a:pt x="218" y="264"/>
                      <a:pt x="218" y="264"/>
                    </a:cubicBezTo>
                    <a:cubicBezTo>
                      <a:pt x="202" y="262"/>
                      <a:pt x="187" y="260"/>
                      <a:pt x="173" y="257"/>
                    </a:cubicBezTo>
                    <a:cubicBezTo>
                      <a:pt x="169" y="256"/>
                      <a:pt x="165" y="255"/>
                      <a:pt x="161" y="254"/>
                    </a:cubicBezTo>
                    <a:cubicBezTo>
                      <a:pt x="18" y="217"/>
                      <a:pt x="16" y="99"/>
                      <a:pt x="24" y="42"/>
                    </a:cubicBezTo>
                    <a:cubicBezTo>
                      <a:pt x="26" y="25"/>
                      <a:pt x="42" y="12"/>
                      <a:pt x="60" y="14"/>
                    </a:cubicBezTo>
                    <a:cubicBezTo>
                      <a:pt x="121" y="22"/>
                      <a:pt x="177" y="25"/>
                      <a:pt x="227" y="25"/>
                    </a:cubicBezTo>
                    <a:cubicBezTo>
                      <a:pt x="310" y="24"/>
                      <a:pt x="376" y="14"/>
                      <a:pt x="417" y="5"/>
                    </a:cubicBezTo>
                    <a:cubicBezTo>
                      <a:pt x="445" y="0"/>
                      <a:pt x="474" y="12"/>
                      <a:pt x="489" y="37"/>
                    </a:cubicBezTo>
                    <a:lnTo>
                      <a:pt x="492" y="43"/>
                    </a:lnTo>
                    <a:lnTo>
                      <a:pt x="591" y="211"/>
                    </a:lnTo>
                    <a:cubicBezTo>
                      <a:pt x="604" y="233"/>
                      <a:pt x="604" y="261"/>
                      <a:pt x="589" y="283"/>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grpSp>
      </p:grpSp>
      <p:grpSp>
        <p:nvGrpSpPr>
          <p:cNvPr id="34" name="Group 33"/>
          <p:cNvGrpSpPr/>
          <p:nvPr/>
        </p:nvGrpSpPr>
        <p:grpSpPr>
          <a:xfrm>
            <a:off x="1290453" y="1046670"/>
            <a:ext cx="1926660" cy="4692468"/>
            <a:chOff x="359172" y="1188021"/>
            <a:chExt cx="2578915" cy="4680520"/>
          </a:xfrm>
        </p:grpSpPr>
        <p:pic>
          <p:nvPicPr>
            <p:cNvPr id="35" name="Picture 2" descr="C:\Users\611863711\Desktop\Screenshot_20190409-13430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9172" y="1188021"/>
              <a:ext cx="2578915" cy="4680520"/>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35"/>
            <p:cNvSpPr/>
            <p:nvPr/>
          </p:nvSpPr>
          <p:spPr>
            <a:xfrm>
              <a:off x="1295276" y="4092679"/>
              <a:ext cx="648072" cy="191686"/>
            </a:xfrm>
            <a:prstGeom prst="rect">
              <a:avLst/>
            </a:prstGeom>
            <a:solidFill>
              <a:schemeClr val="bg1">
                <a:alpha val="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p:cNvCxnSpPr>
              <a:stCxn id="36" idx="0"/>
            </p:cNvCxnSpPr>
            <p:nvPr/>
          </p:nvCxnSpPr>
          <p:spPr>
            <a:xfrm flipH="1" flipV="1">
              <a:off x="1439292" y="3924325"/>
              <a:ext cx="180020" cy="168354"/>
            </a:xfrm>
            <a:prstGeom prst="straightConnector1">
              <a:avLst/>
            </a:prstGeom>
            <a:ln w="3175">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 xmlns:a16="http://schemas.microsoft.com/office/drawing/2014/main" id="{15F311B2-EF63-4794-8453-C957B97D2009}"/>
              </a:ext>
            </a:extLst>
          </p:cNvPr>
          <p:cNvGrpSpPr/>
          <p:nvPr/>
        </p:nvGrpSpPr>
        <p:grpSpPr>
          <a:xfrm rot="5400000" flipH="1">
            <a:off x="5051758" y="2112315"/>
            <a:ext cx="630008" cy="992676"/>
            <a:chOff x="2163029" y="4524231"/>
            <a:chExt cx="860425" cy="1771650"/>
          </a:xfrm>
        </p:grpSpPr>
        <p:sp>
          <p:nvSpPr>
            <p:cNvPr id="40" name="Freeform: Shape 121">
              <a:extLst>
                <a:ext uri="{FF2B5EF4-FFF2-40B4-BE49-F238E27FC236}">
                  <a16:creationId xmlns="" xmlns:a16="http://schemas.microsoft.com/office/drawing/2014/main" id="{2477AC3F-7E5F-44CB-94B3-94F48E586BD0}"/>
                </a:ext>
              </a:extLst>
            </p:cNvPr>
            <p:cNvSpPr>
              <a:spLocks/>
            </p:cNvSpPr>
            <p:nvPr/>
          </p:nvSpPr>
          <p:spPr bwMode="auto">
            <a:xfrm>
              <a:off x="2170845" y="4524231"/>
              <a:ext cx="844793" cy="1481137"/>
            </a:xfrm>
            <a:custGeom>
              <a:avLst/>
              <a:gdLst>
                <a:gd name="connsiteX0" fmla="*/ 638010 w 844793"/>
                <a:gd name="connsiteY0" fmla="*/ 0 h 1481137"/>
                <a:gd name="connsiteX1" fmla="*/ 657681 w 844793"/>
                <a:gd name="connsiteY1" fmla="*/ 2461 h 1481137"/>
                <a:gd name="connsiteX2" fmla="*/ 733906 w 844793"/>
                <a:gd name="connsiteY2" fmla="*/ 90223 h 1481137"/>
                <a:gd name="connsiteX3" fmla="*/ 756036 w 844793"/>
                <a:gd name="connsiteY3" fmla="*/ 854657 h 1481137"/>
                <a:gd name="connsiteX4" fmla="*/ 757323 w 844793"/>
                <a:gd name="connsiteY4" fmla="*/ 901441 h 1481137"/>
                <a:gd name="connsiteX5" fmla="*/ 836993 w 844793"/>
                <a:gd name="connsiteY5" fmla="*/ 1036679 h 1481137"/>
                <a:gd name="connsiteX6" fmla="*/ 835353 w 844793"/>
                <a:gd name="connsiteY6" fmla="*/ 1095739 h 1481137"/>
                <a:gd name="connsiteX7" fmla="*/ 650845 w 844793"/>
                <a:gd name="connsiteY7" fmla="*/ 1369713 h 1481137"/>
                <a:gd name="connsiteX8" fmla="*/ 650845 w 844793"/>
                <a:gd name="connsiteY8" fmla="*/ 1481137 h 1481137"/>
                <a:gd name="connsiteX9" fmla="*/ 237214 w 844793"/>
                <a:gd name="connsiteY9" fmla="*/ 1481137 h 1481137"/>
                <a:gd name="connsiteX10" fmla="*/ 237214 w 844793"/>
                <a:gd name="connsiteY10" fmla="*/ 1384512 h 1481137"/>
                <a:gd name="connsiteX11" fmla="*/ 87222 w 844793"/>
                <a:gd name="connsiteY11" fmla="*/ 1238515 h 1481137"/>
                <a:gd name="connsiteX12" fmla="*/ 42348 w 844793"/>
                <a:gd name="connsiteY12" fmla="*/ 1162748 h 1481137"/>
                <a:gd name="connsiteX13" fmla="*/ 16055 w 844793"/>
                <a:gd name="connsiteY13" fmla="*/ 1073310 h 1481137"/>
                <a:gd name="connsiteX14" fmla="*/ 15915 w 844793"/>
                <a:gd name="connsiteY14" fmla="*/ 1073204 h 1481137"/>
                <a:gd name="connsiteX15" fmla="*/ 240 w 844793"/>
                <a:gd name="connsiteY15" fmla="*/ 877531 h 1481137"/>
                <a:gd name="connsiteX16" fmla="*/ 249 w 844793"/>
                <a:gd name="connsiteY16" fmla="*/ 877341 h 1481137"/>
                <a:gd name="connsiteX17" fmla="*/ 240 w 844793"/>
                <a:gd name="connsiteY17" fmla="*/ 876906 h 1481137"/>
                <a:gd name="connsiteX18" fmla="*/ 6079 w 844793"/>
                <a:gd name="connsiteY18" fmla="*/ 784940 h 1481137"/>
                <a:gd name="connsiteX19" fmla="*/ 6349 w 844793"/>
                <a:gd name="connsiteY19" fmla="*/ 784853 h 1481137"/>
                <a:gd name="connsiteX20" fmla="*/ 9871 w 844793"/>
                <a:gd name="connsiteY20" fmla="*/ 772895 h 1481137"/>
                <a:gd name="connsiteX21" fmla="*/ 104126 w 844793"/>
                <a:gd name="connsiteY21" fmla="*/ 712173 h 1481137"/>
                <a:gd name="connsiteX22" fmla="*/ 144081 w 844793"/>
                <a:gd name="connsiteY22" fmla="*/ 720366 h 1481137"/>
                <a:gd name="connsiteX23" fmla="*/ 144153 w 844793"/>
                <a:gd name="connsiteY23" fmla="*/ 720927 h 1481137"/>
                <a:gd name="connsiteX24" fmla="*/ 144375 w 844793"/>
                <a:gd name="connsiteY24" fmla="*/ 720973 h 1481137"/>
                <a:gd name="connsiteX25" fmla="*/ 150280 w 844793"/>
                <a:gd name="connsiteY25" fmla="*/ 767185 h 1481137"/>
                <a:gd name="connsiteX26" fmla="*/ 150388 w 844793"/>
                <a:gd name="connsiteY26" fmla="*/ 767186 h 1481137"/>
                <a:gd name="connsiteX27" fmla="*/ 144391 w 844793"/>
                <a:gd name="connsiteY27" fmla="*/ 720843 h 1481137"/>
                <a:gd name="connsiteX28" fmla="*/ 216027 w 844793"/>
                <a:gd name="connsiteY28" fmla="*/ 660032 h 1481137"/>
                <a:gd name="connsiteX29" fmla="*/ 276243 w 844793"/>
                <a:gd name="connsiteY29" fmla="*/ 657788 h 1481137"/>
                <a:gd name="connsiteX30" fmla="*/ 276153 w 844793"/>
                <a:gd name="connsiteY30" fmla="*/ 657225 h 1481137"/>
                <a:gd name="connsiteX31" fmla="*/ 318134 w 844793"/>
                <a:gd name="connsiteY31" fmla="*/ 671175 h 1481137"/>
                <a:gd name="connsiteX32" fmla="*/ 318205 w 844793"/>
                <a:gd name="connsiteY32" fmla="*/ 671672 h 1481137"/>
                <a:gd name="connsiteX33" fmla="*/ 318297 w 844793"/>
                <a:gd name="connsiteY33" fmla="*/ 671703 h 1481137"/>
                <a:gd name="connsiteX34" fmla="*/ 332298 w 844793"/>
                <a:gd name="connsiteY34" fmla="*/ 769556 h 1481137"/>
                <a:gd name="connsiteX35" fmla="*/ 332648 w 844793"/>
                <a:gd name="connsiteY35" fmla="*/ 769561 h 1481137"/>
                <a:gd name="connsiteX36" fmla="*/ 319016 w 844793"/>
                <a:gd name="connsiteY36" fmla="*/ 671575 h 1481137"/>
                <a:gd name="connsiteX37" fmla="*/ 488972 w 844793"/>
                <a:gd name="connsiteY37" fmla="*/ 631394 h 1481137"/>
                <a:gd name="connsiteX38" fmla="*/ 528441 w 844793"/>
                <a:gd name="connsiteY38" fmla="*/ 648914 h 1481137"/>
                <a:gd name="connsiteX39" fmla="*/ 542114 w 844793"/>
                <a:gd name="connsiteY39" fmla="*/ 96785 h 1481137"/>
                <a:gd name="connsiteX40" fmla="*/ 638010 w 844793"/>
                <a:gd name="connsiteY40" fmla="*/ 0 h 1481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44793" h="1481137">
                  <a:moveTo>
                    <a:pt x="638010" y="0"/>
                  </a:moveTo>
                  <a:cubicBezTo>
                    <a:pt x="644567" y="0"/>
                    <a:pt x="651124" y="820"/>
                    <a:pt x="657681" y="2461"/>
                  </a:cubicBezTo>
                  <a:cubicBezTo>
                    <a:pt x="698662" y="10663"/>
                    <a:pt x="731447" y="45932"/>
                    <a:pt x="733906" y="90223"/>
                  </a:cubicBezTo>
                  <a:lnTo>
                    <a:pt x="756036" y="854657"/>
                  </a:lnTo>
                  <a:lnTo>
                    <a:pt x="757323" y="901441"/>
                  </a:lnTo>
                  <a:lnTo>
                    <a:pt x="836993" y="1036679"/>
                  </a:lnTo>
                  <a:cubicBezTo>
                    <a:pt x="847653" y="1054725"/>
                    <a:pt x="847653" y="1077693"/>
                    <a:pt x="835353" y="1095739"/>
                  </a:cubicBezTo>
                  <a:lnTo>
                    <a:pt x="650845" y="1369713"/>
                  </a:lnTo>
                  <a:lnTo>
                    <a:pt x="650845" y="1481137"/>
                  </a:lnTo>
                  <a:lnTo>
                    <a:pt x="237214" y="1481137"/>
                  </a:lnTo>
                  <a:lnTo>
                    <a:pt x="237214" y="1384512"/>
                  </a:lnTo>
                  <a:cubicBezTo>
                    <a:pt x="237214" y="1384512"/>
                    <a:pt x="183938" y="1352524"/>
                    <a:pt x="87222" y="1238515"/>
                  </a:cubicBezTo>
                  <a:cubicBezTo>
                    <a:pt x="68781" y="1216779"/>
                    <a:pt x="54028" y="1190943"/>
                    <a:pt x="42348" y="1162748"/>
                  </a:cubicBezTo>
                  <a:lnTo>
                    <a:pt x="16055" y="1073310"/>
                  </a:lnTo>
                  <a:lnTo>
                    <a:pt x="15915" y="1073204"/>
                  </a:lnTo>
                  <a:cubicBezTo>
                    <a:pt x="1572" y="1003986"/>
                    <a:pt x="-887" y="932106"/>
                    <a:pt x="240" y="877531"/>
                  </a:cubicBezTo>
                  <a:lnTo>
                    <a:pt x="249" y="877341"/>
                  </a:lnTo>
                  <a:lnTo>
                    <a:pt x="240" y="876906"/>
                  </a:lnTo>
                  <a:cubicBezTo>
                    <a:pt x="1367" y="822259"/>
                    <a:pt x="6079" y="784940"/>
                    <a:pt x="6079" y="784940"/>
                  </a:cubicBezTo>
                  <a:lnTo>
                    <a:pt x="6349" y="784853"/>
                  </a:lnTo>
                  <a:lnTo>
                    <a:pt x="9871" y="772895"/>
                  </a:lnTo>
                  <a:cubicBezTo>
                    <a:pt x="17898" y="751041"/>
                    <a:pt x="41748" y="707871"/>
                    <a:pt x="104126" y="712173"/>
                  </a:cubicBezTo>
                  <a:cubicBezTo>
                    <a:pt x="115542" y="712992"/>
                    <a:pt x="129404" y="715450"/>
                    <a:pt x="144081" y="720366"/>
                  </a:cubicBezTo>
                  <a:lnTo>
                    <a:pt x="144153" y="720927"/>
                  </a:lnTo>
                  <a:lnTo>
                    <a:pt x="144375" y="720973"/>
                  </a:lnTo>
                  <a:lnTo>
                    <a:pt x="150280" y="767185"/>
                  </a:lnTo>
                  <a:lnTo>
                    <a:pt x="150388" y="767186"/>
                  </a:lnTo>
                  <a:lnTo>
                    <a:pt x="144391" y="720843"/>
                  </a:lnTo>
                  <a:cubicBezTo>
                    <a:pt x="144391" y="720843"/>
                    <a:pt x="165617" y="675235"/>
                    <a:pt x="216027" y="660032"/>
                  </a:cubicBezTo>
                  <a:lnTo>
                    <a:pt x="276243" y="657788"/>
                  </a:lnTo>
                  <a:lnTo>
                    <a:pt x="276153" y="657225"/>
                  </a:lnTo>
                  <a:cubicBezTo>
                    <a:pt x="289323" y="659687"/>
                    <a:pt x="302494" y="664610"/>
                    <a:pt x="318134" y="671175"/>
                  </a:cubicBezTo>
                  <a:lnTo>
                    <a:pt x="318205" y="671672"/>
                  </a:lnTo>
                  <a:lnTo>
                    <a:pt x="318297" y="671703"/>
                  </a:lnTo>
                  <a:lnTo>
                    <a:pt x="332298" y="769556"/>
                  </a:lnTo>
                  <a:lnTo>
                    <a:pt x="332648" y="769561"/>
                  </a:lnTo>
                  <a:lnTo>
                    <a:pt x="319016" y="671575"/>
                  </a:lnTo>
                  <a:cubicBezTo>
                    <a:pt x="319016" y="671575"/>
                    <a:pt x="381932" y="595312"/>
                    <a:pt x="488972" y="631394"/>
                  </a:cubicBezTo>
                  <a:lnTo>
                    <a:pt x="528441" y="648914"/>
                  </a:lnTo>
                  <a:lnTo>
                    <a:pt x="542114" y="96785"/>
                  </a:lnTo>
                  <a:cubicBezTo>
                    <a:pt x="542114" y="43471"/>
                    <a:pt x="584734" y="0"/>
                    <a:pt x="638010" y="0"/>
                  </a:cubicBezTo>
                  <a:close/>
                </a:path>
              </a:pathLst>
            </a:custGeom>
            <a:solidFill>
              <a:srgbClr val="FAB29A"/>
            </a:solidFill>
            <a:ln w="139700">
              <a:solidFill>
                <a:srgbClr val="F0EEEF"/>
              </a:solidFill>
              <a:round/>
              <a:headEnd/>
              <a:tailEnd/>
            </a:ln>
          </p:spPr>
          <p:txBody>
            <a:bodyPr vert="horz" wrap="square" lIns="68580" tIns="34290" rIns="68580" bIns="34290" numCol="1" anchor="t" anchorCtr="0" compatLnSpc="1">
              <a:prstTxWarp prst="textNoShape">
                <a:avLst/>
              </a:prstTxWarp>
              <a:noAutofit/>
            </a:bodyPr>
            <a:lstStyle/>
            <a:p>
              <a:endParaRPr lang="en-US" sz="1350"/>
            </a:p>
          </p:txBody>
        </p:sp>
        <p:grpSp>
          <p:nvGrpSpPr>
            <p:cNvPr id="41" name="Group 40">
              <a:extLst>
                <a:ext uri="{FF2B5EF4-FFF2-40B4-BE49-F238E27FC236}">
                  <a16:creationId xmlns="" xmlns:a16="http://schemas.microsoft.com/office/drawing/2014/main" id="{B04CA1CF-8385-4FEE-A78F-D4117B5CF9CF}"/>
                </a:ext>
              </a:extLst>
            </p:cNvPr>
            <p:cNvGrpSpPr/>
            <p:nvPr/>
          </p:nvGrpSpPr>
          <p:grpSpPr>
            <a:xfrm>
              <a:off x="2163029" y="4524231"/>
              <a:ext cx="860425" cy="1771650"/>
              <a:chOff x="7518400" y="506413"/>
              <a:chExt cx="860425" cy="1771650"/>
            </a:xfrm>
          </p:grpSpPr>
          <p:sp>
            <p:nvSpPr>
              <p:cNvPr id="42" name="Freeform 18">
                <a:extLst>
                  <a:ext uri="{FF2B5EF4-FFF2-40B4-BE49-F238E27FC236}">
                    <a16:creationId xmlns="" xmlns:a16="http://schemas.microsoft.com/office/drawing/2014/main" id="{A4A1AC8F-5CCB-4F98-BB6F-FA2C81EF4535}"/>
                  </a:ext>
                </a:extLst>
              </p:cNvPr>
              <p:cNvSpPr>
                <a:spLocks/>
              </p:cNvSpPr>
              <p:nvPr/>
            </p:nvSpPr>
            <p:spPr bwMode="auto">
              <a:xfrm>
                <a:off x="7518400" y="506413"/>
                <a:ext cx="779463" cy="1771650"/>
              </a:xfrm>
              <a:custGeom>
                <a:avLst/>
                <a:gdLst>
                  <a:gd name="T0" fmla="*/ 943 w 951"/>
                  <a:gd name="T1" fmla="*/ 1230 h 2160"/>
                  <a:gd name="T2" fmla="*/ 945 w 951"/>
                  <a:gd name="T3" fmla="*/ 1289 h 2160"/>
                  <a:gd name="T4" fmla="*/ 919 w 951"/>
                  <a:gd name="T5" fmla="*/ 1286 h 2160"/>
                  <a:gd name="T6" fmla="*/ 713 w 951"/>
                  <a:gd name="T7" fmla="*/ 1766 h 2160"/>
                  <a:gd name="T8" fmla="*/ 544 w 951"/>
                  <a:gd name="T9" fmla="*/ 2160 h 2160"/>
                  <a:gd name="T10" fmla="*/ 305 w 951"/>
                  <a:gd name="T11" fmla="*/ 2160 h 2160"/>
                  <a:gd name="T12" fmla="*/ 305 w 951"/>
                  <a:gd name="T13" fmla="*/ 1688 h 2160"/>
                  <a:gd name="T14" fmla="*/ 122 w 951"/>
                  <a:gd name="T15" fmla="*/ 1510 h 2160"/>
                  <a:gd name="T16" fmla="*/ 35 w 951"/>
                  <a:gd name="T17" fmla="*/ 1308 h 2160"/>
                  <a:gd name="T18" fmla="*/ 23 w 951"/>
                  <a:gd name="T19" fmla="*/ 957 h 2160"/>
                  <a:gd name="T20" fmla="*/ 95 w 951"/>
                  <a:gd name="T21" fmla="*/ 934 h 2160"/>
                  <a:gd name="T22" fmla="*/ 479 w 951"/>
                  <a:gd name="T23" fmla="*/ 939 h 2160"/>
                  <a:gd name="T24" fmla="*/ 474 w 951"/>
                  <a:gd name="T25" fmla="*/ 888 h 2160"/>
                  <a:gd name="T26" fmla="*/ 587 w 951"/>
                  <a:gd name="T27" fmla="*/ 837 h 2160"/>
                  <a:gd name="T28" fmla="*/ 660 w 951"/>
                  <a:gd name="T29" fmla="*/ 804 h 2160"/>
                  <a:gd name="T30" fmla="*/ 677 w 951"/>
                  <a:gd name="T31" fmla="*/ 118 h 2160"/>
                  <a:gd name="T32" fmla="*/ 677 w 951"/>
                  <a:gd name="T33" fmla="*/ 118 h 2160"/>
                  <a:gd name="T34" fmla="*/ 794 w 951"/>
                  <a:gd name="T35" fmla="*/ 0 h 2160"/>
                  <a:gd name="T36" fmla="*/ 818 w 951"/>
                  <a:gd name="T37" fmla="*/ 3 h 2160"/>
                  <a:gd name="T38" fmla="*/ 911 w 951"/>
                  <a:gd name="T39" fmla="*/ 110 h 2160"/>
                  <a:gd name="T40" fmla="*/ 938 w 951"/>
                  <a:gd name="T41" fmla="*/ 1042 h 2160"/>
                  <a:gd name="T42" fmla="*/ 941 w 951"/>
                  <a:gd name="T43" fmla="*/ 1151 h 2160"/>
                  <a:gd name="T44" fmla="*/ 942 w 951"/>
                  <a:gd name="T45" fmla="*/ 1188 h 2160"/>
                  <a:gd name="T46" fmla="*/ 949 w 951"/>
                  <a:gd name="T47" fmla="*/ 1206 h 2160"/>
                  <a:gd name="T48" fmla="*/ 951 w 951"/>
                  <a:gd name="T49" fmla="*/ 1212 h 2160"/>
                  <a:gd name="T50" fmla="*/ 943 w 951"/>
                  <a:gd name="T51" fmla="*/ 123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51" h="2160">
                    <a:moveTo>
                      <a:pt x="943" y="1230"/>
                    </a:moveTo>
                    <a:lnTo>
                      <a:pt x="945" y="1289"/>
                    </a:lnTo>
                    <a:lnTo>
                      <a:pt x="919" y="1286"/>
                    </a:lnTo>
                    <a:lnTo>
                      <a:pt x="713" y="1766"/>
                    </a:lnTo>
                    <a:lnTo>
                      <a:pt x="544" y="2160"/>
                    </a:lnTo>
                    <a:lnTo>
                      <a:pt x="305" y="2160"/>
                    </a:lnTo>
                    <a:lnTo>
                      <a:pt x="305" y="1688"/>
                    </a:lnTo>
                    <a:cubicBezTo>
                      <a:pt x="305" y="1688"/>
                      <a:pt x="240" y="1649"/>
                      <a:pt x="122" y="1510"/>
                    </a:cubicBezTo>
                    <a:cubicBezTo>
                      <a:pt x="77" y="1457"/>
                      <a:pt x="50" y="1384"/>
                      <a:pt x="35" y="1308"/>
                    </a:cubicBezTo>
                    <a:cubicBezTo>
                      <a:pt x="0" y="1139"/>
                      <a:pt x="23" y="957"/>
                      <a:pt x="23" y="957"/>
                    </a:cubicBezTo>
                    <a:lnTo>
                      <a:pt x="95" y="934"/>
                    </a:lnTo>
                    <a:lnTo>
                      <a:pt x="479" y="939"/>
                    </a:lnTo>
                    <a:lnTo>
                      <a:pt x="474" y="888"/>
                    </a:lnTo>
                    <a:lnTo>
                      <a:pt x="587" y="837"/>
                    </a:lnTo>
                    <a:lnTo>
                      <a:pt x="660" y="804"/>
                    </a:lnTo>
                    <a:lnTo>
                      <a:pt x="677" y="118"/>
                    </a:lnTo>
                    <a:lnTo>
                      <a:pt x="677" y="118"/>
                    </a:lnTo>
                    <a:cubicBezTo>
                      <a:pt x="677" y="53"/>
                      <a:pt x="729" y="0"/>
                      <a:pt x="794" y="0"/>
                    </a:cubicBezTo>
                    <a:cubicBezTo>
                      <a:pt x="802" y="0"/>
                      <a:pt x="810" y="1"/>
                      <a:pt x="818" y="3"/>
                    </a:cubicBezTo>
                    <a:cubicBezTo>
                      <a:pt x="868" y="13"/>
                      <a:pt x="908" y="56"/>
                      <a:pt x="911" y="110"/>
                    </a:cubicBezTo>
                    <a:lnTo>
                      <a:pt x="938" y="1042"/>
                    </a:lnTo>
                    <a:lnTo>
                      <a:pt x="941" y="1151"/>
                    </a:lnTo>
                    <a:lnTo>
                      <a:pt x="942" y="1188"/>
                    </a:lnTo>
                    <a:lnTo>
                      <a:pt x="949" y="1206"/>
                    </a:lnTo>
                    <a:lnTo>
                      <a:pt x="951" y="1212"/>
                    </a:lnTo>
                    <a:lnTo>
                      <a:pt x="943" y="1230"/>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43" name="Freeform 19">
                <a:extLst>
                  <a:ext uri="{FF2B5EF4-FFF2-40B4-BE49-F238E27FC236}">
                    <a16:creationId xmlns="" xmlns:a16="http://schemas.microsoft.com/office/drawing/2014/main" id="{29594420-A51E-486E-B78F-CFE1F88FEF40}"/>
                  </a:ext>
                </a:extLst>
              </p:cNvPr>
              <p:cNvSpPr>
                <a:spLocks/>
              </p:cNvSpPr>
              <p:nvPr/>
            </p:nvSpPr>
            <p:spPr bwMode="auto">
              <a:xfrm>
                <a:off x="7518400" y="1193800"/>
                <a:ext cx="779463" cy="793750"/>
              </a:xfrm>
              <a:custGeom>
                <a:avLst/>
                <a:gdLst>
                  <a:gd name="T0" fmla="*/ 943 w 951"/>
                  <a:gd name="T1" fmla="*/ 393 h 969"/>
                  <a:gd name="T2" fmla="*/ 945 w 951"/>
                  <a:gd name="T3" fmla="*/ 452 h 969"/>
                  <a:gd name="T4" fmla="*/ 919 w 951"/>
                  <a:gd name="T5" fmla="*/ 449 h 969"/>
                  <a:gd name="T6" fmla="*/ 713 w 951"/>
                  <a:gd name="T7" fmla="*/ 929 h 969"/>
                  <a:gd name="T8" fmla="*/ 456 w 951"/>
                  <a:gd name="T9" fmla="*/ 890 h 969"/>
                  <a:gd name="T10" fmla="*/ 462 w 951"/>
                  <a:gd name="T11" fmla="*/ 565 h 969"/>
                  <a:gd name="T12" fmla="*/ 35 w 951"/>
                  <a:gd name="T13" fmla="*/ 471 h 969"/>
                  <a:gd name="T14" fmla="*/ 23 w 951"/>
                  <a:gd name="T15" fmla="*/ 120 h 969"/>
                  <a:gd name="T16" fmla="*/ 95 w 951"/>
                  <a:gd name="T17" fmla="*/ 97 h 969"/>
                  <a:gd name="T18" fmla="*/ 479 w 951"/>
                  <a:gd name="T19" fmla="*/ 102 h 969"/>
                  <a:gd name="T20" fmla="*/ 474 w 951"/>
                  <a:gd name="T21" fmla="*/ 51 h 969"/>
                  <a:gd name="T22" fmla="*/ 587 w 951"/>
                  <a:gd name="T23" fmla="*/ 0 h 969"/>
                  <a:gd name="T24" fmla="*/ 564 w 951"/>
                  <a:gd name="T25" fmla="*/ 256 h 969"/>
                  <a:gd name="T26" fmla="*/ 721 w 951"/>
                  <a:gd name="T27" fmla="*/ 332 h 969"/>
                  <a:gd name="T28" fmla="*/ 941 w 951"/>
                  <a:gd name="T29" fmla="*/ 314 h 969"/>
                  <a:gd name="T30" fmla="*/ 942 w 951"/>
                  <a:gd name="T31" fmla="*/ 351 h 969"/>
                  <a:gd name="T32" fmla="*/ 951 w 951"/>
                  <a:gd name="T33" fmla="*/ 375 h 969"/>
                  <a:gd name="T34" fmla="*/ 943 w 951"/>
                  <a:gd name="T35" fmla="*/ 393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1" h="969">
                    <a:moveTo>
                      <a:pt x="943" y="393"/>
                    </a:moveTo>
                    <a:lnTo>
                      <a:pt x="945" y="452"/>
                    </a:lnTo>
                    <a:lnTo>
                      <a:pt x="919" y="449"/>
                    </a:lnTo>
                    <a:lnTo>
                      <a:pt x="713" y="929"/>
                    </a:lnTo>
                    <a:cubicBezTo>
                      <a:pt x="598" y="964"/>
                      <a:pt x="491" y="969"/>
                      <a:pt x="456" y="890"/>
                    </a:cubicBezTo>
                    <a:cubicBezTo>
                      <a:pt x="368" y="693"/>
                      <a:pt x="462" y="565"/>
                      <a:pt x="462" y="565"/>
                    </a:cubicBezTo>
                    <a:cubicBezTo>
                      <a:pt x="204" y="592"/>
                      <a:pt x="83" y="518"/>
                      <a:pt x="35" y="471"/>
                    </a:cubicBezTo>
                    <a:cubicBezTo>
                      <a:pt x="0" y="302"/>
                      <a:pt x="23" y="120"/>
                      <a:pt x="23" y="120"/>
                    </a:cubicBezTo>
                    <a:lnTo>
                      <a:pt x="95" y="97"/>
                    </a:lnTo>
                    <a:lnTo>
                      <a:pt x="479" y="102"/>
                    </a:lnTo>
                    <a:lnTo>
                      <a:pt x="474" y="51"/>
                    </a:lnTo>
                    <a:lnTo>
                      <a:pt x="587" y="0"/>
                    </a:lnTo>
                    <a:lnTo>
                      <a:pt x="564" y="256"/>
                    </a:lnTo>
                    <a:lnTo>
                      <a:pt x="721" y="332"/>
                    </a:lnTo>
                    <a:lnTo>
                      <a:pt x="941" y="314"/>
                    </a:lnTo>
                    <a:lnTo>
                      <a:pt x="942" y="351"/>
                    </a:lnTo>
                    <a:lnTo>
                      <a:pt x="951" y="375"/>
                    </a:lnTo>
                    <a:lnTo>
                      <a:pt x="943" y="393"/>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44" name="Freeform 20">
                <a:extLst>
                  <a:ext uri="{FF2B5EF4-FFF2-40B4-BE49-F238E27FC236}">
                    <a16:creationId xmlns="" xmlns:a16="http://schemas.microsoft.com/office/drawing/2014/main" id="{3AA0C245-FE0F-4A67-AB96-53D2EC378F29}"/>
                  </a:ext>
                </a:extLst>
              </p:cNvPr>
              <p:cNvSpPr>
                <a:spLocks/>
              </p:cNvSpPr>
              <p:nvPr/>
            </p:nvSpPr>
            <p:spPr bwMode="auto">
              <a:xfrm>
                <a:off x="7850188" y="1101725"/>
                <a:ext cx="222250" cy="495300"/>
              </a:xfrm>
              <a:custGeom>
                <a:avLst/>
                <a:gdLst>
                  <a:gd name="T0" fmla="*/ 272 w 272"/>
                  <a:gd name="T1" fmla="*/ 493 h 604"/>
                  <a:gd name="T2" fmla="*/ 229 w 272"/>
                  <a:gd name="T3" fmla="*/ 565 h 604"/>
                  <a:gd name="T4" fmla="*/ 202 w 272"/>
                  <a:gd name="T5" fmla="*/ 582 h 604"/>
                  <a:gd name="T6" fmla="*/ 153 w 272"/>
                  <a:gd name="T7" fmla="*/ 596 h 604"/>
                  <a:gd name="T8" fmla="*/ 54 w 272"/>
                  <a:gd name="T9" fmla="*/ 520 h 604"/>
                  <a:gd name="T10" fmla="*/ 57 w 272"/>
                  <a:gd name="T11" fmla="*/ 492 h 604"/>
                  <a:gd name="T12" fmla="*/ 37 w 272"/>
                  <a:gd name="T13" fmla="*/ 358 h 604"/>
                  <a:gd name="T14" fmla="*/ 0 w 272"/>
                  <a:gd name="T15" fmla="*/ 93 h 604"/>
                  <a:gd name="T16" fmla="*/ 208 w 272"/>
                  <a:gd name="T17" fmla="*/ 44 h 604"/>
                  <a:gd name="T18" fmla="*/ 260 w 272"/>
                  <a:gd name="T19" fmla="*/ 67 h 604"/>
                  <a:gd name="T20" fmla="*/ 267 w 272"/>
                  <a:gd name="T21" fmla="*/ 326 h 604"/>
                  <a:gd name="T22" fmla="*/ 268 w 272"/>
                  <a:gd name="T23" fmla="*/ 353 h 604"/>
                  <a:gd name="T24" fmla="*/ 272 w 272"/>
                  <a:gd name="T25" fmla="*/ 493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2" h="604">
                    <a:moveTo>
                      <a:pt x="272" y="493"/>
                    </a:moveTo>
                    <a:cubicBezTo>
                      <a:pt x="272" y="493"/>
                      <a:pt x="265" y="534"/>
                      <a:pt x="229" y="565"/>
                    </a:cubicBezTo>
                    <a:cubicBezTo>
                      <a:pt x="221" y="571"/>
                      <a:pt x="213" y="577"/>
                      <a:pt x="202" y="582"/>
                    </a:cubicBezTo>
                    <a:cubicBezTo>
                      <a:pt x="189" y="589"/>
                      <a:pt x="173" y="594"/>
                      <a:pt x="153" y="596"/>
                    </a:cubicBezTo>
                    <a:cubicBezTo>
                      <a:pt x="93" y="604"/>
                      <a:pt x="66" y="559"/>
                      <a:pt x="54" y="520"/>
                    </a:cubicBezTo>
                    <a:cubicBezTo>
                      <a:pt x="57" y="504"/>
                      <a:pt x="57" y="492"/>
                      <a:pt x="57" y="492"/>
                    </a:cubicBezTo>
                    <a:lnTo>
                      <a:pt x="37" y="358"/>
                    </a:lnTo>
                    <a:lnTo>
                      <a:pt x="0" y="93"/>
                    </a:lnTo>
                    <a:cubicBezTo>
                      <a:pt x="0" y="93"/>
                      <a:pt x="77" y="0"/>
                      <a:pt x="208" y="44"/>
                    </a:cubicBezTo>
                    <a:cubicBezTo>
                      <a:pt x="224" y="49"/>
                      <a:pt x="241" y="57"/>
                      <a:pt x="260" y="67"/>
                    </a:cubicBezTo>
                    <a:lnTo>
                      <a:pt x="267" y="326"/>
                    </a:lnTo>
                    <a:lnTo>
                      <a:pt x="268" y="353"/>
                    </a:lnTo>
                    <a:lnTo>
                      <a:pt x="272" y="493"/>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45" name="Freeform 21">
                <a:extLst>
                  <a:ext uri="{FF2B5EF4-FFF2-40B4-BE49-F238E27FC236}">
                    <a16:creationId xmlns="" xmlns:a16="http://schemas.microsoft.com/office/drawing/2014/main" id="{8B355E78-9019-4CB1-8844-B15CC0706753}"/>
                  </a:ext>
                </a:extLst>
              </p:cNvPr>
              <p:cNvSpPr>
                <a:spLocks/>
              </p:cNvSpPr>
              <p:nvPr/>
            </p:nvSpPr>
            <p:spPr bwMode="auto">
              <a:xfrm>
                <a:off x="7537450" y="1212850"/>
                <a:ext cx="179388" cy="381000"/>
              </a:xfrm>
              <a:custGeom>
                <a:avLst/>
                <a:gdLst>
                  <a:gd name="T0" fmla="*/ 183 w 220"/>
                  <a:gd name="T1" fmla="*/ 455 h 465"/>
                  <a:gd name="T2" fmla="*/ 125 w 220"/>
                  <a:gd name="T3" fmla="*/ 465 h 465"/>
                  <a:gd name="T4" fmla="*/ 0 w 220"/>
                  <a:gd name="T5" fmla="*/ 96 h 465"/>
                  <a:gd name="T6" fmla="*/ 120 w 220"/>
                  <a:gd name="T7" fmla="*/ 7 h 465"/>
                  <a:gd name="T8" fmla="*/ 169 w 220"/>
                  <a:gd name="T9" fmla="*/ 17 h 465"/>
                  <a:gd name="T10" fmla="*/ 219 w 220"/>
                  <a:gd name="T11" fmla="*/ 404 h 465"/>
                  <a:gd name="T12" fmla="*/ 183 w 220"/>
                  <a:gd name="T13" fmla="*/ 455 h 465"/>
                </a:gdLst>
                <a:ahLst/>
                <a:cxnLst>
                  <a:cxn ang="0">
                    <a:pos x="T0" y="T1"/>
                  </a:cxn>
                  <a:cxn ang="0">
                    <a:pos x="T2" y="T3"/>
                  </a:cxn>
                  <a:cxn ang="0">
                    <a:pos x="T4" y="T5"/>
                  </a:cxn>
                  <a:cxn ang="0">
                    <a:pos x="T6" y="T7"/>
                  </a:cxn>
                  <a:cxn ang="0">
                    <a:pos x="T8" y="T9"/>
                  </a:cxn>
                  <a:cxn ang="0">
                    <a:pos x="T10" y="T11"/>
                  </a:cxn>
                  <a:cxn ang="0">
                    <a:pos x="T12" y="T13"/>
                  </a:cxn>
                </a:cxnLst>
                <a:rect l="0" t="0" r="r" b="b"/>
                <a:pathLst>
                  <a:path w="220" h="465">
                    <a:moveTo>
                      <a:pt x="183" y="455"/>
                    </a:moveTo>
                    <a:cubicBezTo>
                      <a:pt x="169" y="461"/>
                      <a:pt x="151" y="465"/>
                      <a:pt x="125" y="465"/>
                    </a:cubicBezTo>
                    <a:cubicBezTo>
                      <a:pt x="29" y="465"/>
                      <a:pt x="29" y="406"/>
                      <a:pt x="0" y="96"/>
                    </a:cubicBezTo>
                    <a:cubicBezTo>
                      <a:pt x="0" y="96"/>
                      <a:pt x="18" y="0"/>
                      <a:pt x="120" y="7"/>
                    </a:cubicBezTo>
                    <a:cubicBezTo>
                      <a:pt x="134" y="8"/>
                      <a:pt x="151" y="11"/>
                      <a:pt x="169" y="17"/>
                    </a:cubicBezTo>
                    <a:lnTo>
                      <a:pt x="219" y="404"/>
                    </a:lnTo>
                    <a:cubicBezTo>
                      <a:pt x="219" y="404"/>
                      <a:pt x="220" y="437"/>
                      <a:pt x="183" y="455"/>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46" name="Freeform 22">
                <a:extLst>
                  <a:ext uri="{FF2B5EF4-FFF2-40B4-BE49-F238E27FC236}">
                    <a16:creationId xmlns="" xmlns:a16="http://schemas.microsoft.com/office/drawing/2014/main" id="{CC2F3A31-34F9-4057-A249-DB304DF60BFC}"/>
                  </a:ext>
                </a:extLst>
              </p:cNvPr>
              <p:cNvSpPr>
                <a:spLocks/>
              </p:cNvSpPr>
              <p:nvPr/>
            </p:nvSpPr>
            <p:spPr bwMode="auto">
              <a:xfrm>
                <a:off x="7675563" y="1146175"/>
                <a:ext cx="220663" cy="463550"/>
              </a:xfrm>
              <a:custGeom>
                <a:avLst/>
                <a:gdLst>
                  <a:gd name="T0" fmla="*/ 269 w 269"/>
                  <a:gd name="T1" fmla="*/ 438 h 566"/>
                  <a:gd name="T2" fmla="*/ 241 w 269"/>
                  <a:gd name="T3" fmla="*/ 525 h 566"/>
                  <a:gd name="T4" fmla="*/ 190 w 269"/>
                  <a:gd name="T5" fmla="*/ 554 h 566"/>
                  <a:gd name="T6" fmla="*/ 50 w 269"/>
                  <a:gd name="T7" fmla="*/ 486 h 566"/>
                  <a:gd name="T8" fmla="*/ 0 w 269"/>
                  <a:gd name="T9" fmla="*/ 99 h 566"/>
                  <a:gd name="T10" fmla="*/ 161 w 269"/>
                  <a:gd name="T11" fmla="*/ 22 h 566"/>
                  <a:gd name="T12" fmla="*/ 212 w 269"/>
                  <a:gd name="T13" fmla="*/ 39 h 566"/>
                  <a:gd name="T14" fmla="*/ 269 w 269"/>
                  <a:gd name="T15" fmla="*/ 438 h 5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9" h="566">
                    <a:moveTo>
                      <a:pt x="269" y="438"/>
                    </a:moveTo>
                    <a:cubicBezTo>
                      <a:pt x="269" y="438"/>
                      <a:pt x="269" y="490"/>
                      <a:pt x="241" y="525"/>
                    </a:cubicBezTo>
                    <a:cubicBezTo>
                      <a:pt x="229" y="539"/>
                      <a:pt x="213" y="550"/>
                      <a:pt x="190" y="554"/>
                    </a:cubicBezTo>
                    <a:cubicBezTo>
                      <a:pt x="118" y="566"/>
                      <a:pt x="72" y="546"/>
                      <a:pt x="50" y="486"/>
                    </a:cubicBezTo>
                    <a:lnTo>
                      <a:pt x="0" y="99"/>
                    </a:lnTo>
                    <a:cubicBezTo>
                      <a:pt x="0" y="99"/>
                      <a:pt x="46" y="0"/>
                      <a:pt x="161" y="22"/>
                    </a:cubicBezTo>
                    <a:cubicBezTo>
                      <a:pt x="177" y="25"/>
                      <a:pt x="193" y="31"/>
                      <a:pt x="212" y="39"/>
                    </a:cubicBezTo>
                    <a:lnTo>
                      <a:pt x="269" y="438"/>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47" name="Freeform 23">
                <a:extLst>
                  <a:ext uri="{FF2B5EF4-FFF2-40B4-BE49-F238E27FC236}">
                    <a16:creationId xmlns="" xmlns:a16="http://schemas.microsoft.com/office/drawing/2014/main" id="{CC482A4A-473B-4C02-9628-E25A23DA9DFF}"/>
                  </a:ext>
                </a:extLst>
              </p:cNvPr>
              <p:cNvSpPr>
                <a:spLocks/>
              </p:cNvSpPr>
              <p:nvPr/>
            </p:nvSpPr>
            <p:spPr bwMode="auto">
              <a:xfrm>
                <a:off x="7880350" y="1358900"/>
                <a:ext cx="406400" cy="238125"/>
              </a:xfrm>
              <a:custGeom>
                <a:avLst/>
                <a:gdLst>
                  <a:gd name="T0" fmla="*/ 496 w 496"/>
                  <a:gd name="T1" fmla="*/ 62 h 291"/>
                  <a:gd name="T2" fmla="*/ 453 w 496"/>
                  <a:gd name="T3" fmla="*/ 131 h 291"/>
                  <a:gd name="T4" fmla="*/ 300 w 496"/>
                  <a:gd name="T5" fmla="*/ 277 h 291"/>
                  <a:gd name="T6" fmla="*/ 231 w 496"/>
                  <a:gd name="T7" fmla="*/ 204 h 291"/>
                  <a:gd name="T8" fmla="*/ 196 w 496"/>
                  <a:gd name="T9" fmla="*/ 258 h 291"/>
                  <a:gd name="T10" fmla="*/ 177 w 496"/>
                  <a:gd name="T11" fmla="*/ 272 h 291"/>
                  <a:gd name="T12" fmla="*/ 165 w 496"/>
                  <a:gd name="T13" fmla="*/ 269 h 291"/>
                  <a:gd name="T14" fmla="*/ 116 w 496"/>
                  <a:gd name="T15" fmla="*/ 283 h 291"/>
                  <a:gd name="T16" fmla="*/ 17 w 496"/>
                  <a:gd name="T17" fmla="*/ 207 h 291"/>
                  <a:gd name="T18" fmla="*/ 20 w 496"/>
                  <a:gd name="T19" fmla="*/ 179 h 291"/>
                  <a:gd name="T20" fmla="*/ 0 w 496"/>
                  <a:gd name="T21" fmla="*/ 45 h 291"/>
                  <a:gd name="T22" fmla="*/ 10 w 496"/>
                  <a:gd name="T23" fmla="*/ 20 h 291"/>
                  <a:gd name="T24" fmla="*/ 42 w 496"/>
                  <a:gd name="T25" fmla="*/ 2 h 291"/>
                  <a:gd name="T26" fmla="*/ 203 w 496"/>
                  <a:gd name="T27" fmla="*/ 13 h 291"/>
                  <a:gd name="T28" fmla="*/ 214 w 496"/>
                  <a:gd name="T29" fmla="*/ 13 h 291"/>
                  <a:gd name="T30" fmla="*/ 230 w 496"/>
                  <a:gd name="T31" fmla="*/ 13 h 291"/>
                  <a:gd name="T32" fmla="*/ 431 w 496"/>
                  <a:gd name="T33" fmla="*/ 5 h 291"/>
                  <a:gd name="T34" fmla="*/ 444 w 496"/>
                  <a:gd name="T35" fmla="*/ 6 h 291"/>
                  <a:gd name="T36" fmla="*/ 496 w 496"/>
                  <a:gd name="T37" fmla="*/ 58 h 291"/>
                  <a:gd name="T38" fmla="*/ 496 w 496"/>
                  <a:gd name="T39" fmla="*/ 6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6" h="291">
                    <a:moveTo>
                      <a:pt x="496" y="62"/>
                    </a:moveTo>
                    <a:cubicBezTo>
                      <a:pt x="496" y="62"/>
                      <a:pt x="481" y="92"/>
                      <a:pt x="453" y="131"/>
                    </a:cubicBezTo>
                    <a:cubicBezTo>
                      <a:pt x="419" y="178"/>
                      <a:pt x="366" y="239"/>
                      <a:pt x="300" y="277"/>
                    </a:cubicBezTo>
                    <a:cubicBezTo>
                      <a:pt x="276" y="268"/>
                      <a:pt x="252" y="245"/>
                      <a:pt x="231" y="204"/>
                    </a:cubicBezTo>
                    <a:cubicBezTo>
                      <a:pt x="226" y="217"/>
                      <a:pt x="216" y="239"/>
                      <a:pt x="196" y="258"/>
                    </a:cubicBezTo>
                    <a:cubicBezTo>
                      <a:pt x="191" y="263"/>
                      <a:pt x="184" y="268"/>
                      <a:pt x="177" y="272"/>
                    </a:cubicBezTo>
                    <a:cubicBezTo>
                      <a:pt x="173" y="271"/>
                      <a:pt x="169" y="270"/>
                      <a:pt x="165" y="269"/>
                    </a:cubicBezTo>
                    <a:cubicBezTo>
                      <a:pt x="152" y="276"/>
                      <a:pt x="136" y="281"/>
                      <a:pt x="116" y="283"/>
                    </a:cubicBezTo>
                    <a:cubicBezTo>
                      <a:pt x="56" y="291"/>
                      <a:pt x="29" y="246"/>
                      <a:pt x="17" y="207"/>
                    </a:cubicBezTo>
                    <a:cubicBezTo>
                      <a:pt x="20" y="191"/>
                      <a:pt x="20" y="179"/>
                      <a:pt x="20" y="179"/>
                    </a:cubicBezTo>
                    <a:lnTo>
                      <a:pt x="0" y="45"/>
                    </a:lnTo>
                    <a:cubicBezTo>
                      <a:pt x="3" y="35"/>
                      <a:pt x="7" y="27"/>
                      <a:pt x="10" y="20"/>
                    </a:cubicBezTo>
                    <a:cubicBezTo>
                      <a:pt x="15" y="8"/>
                      <a:pt x="28" y="0"/>
                      <a:pt x="42" y="2"/>
                    </a:cubicBezTo>
                    <a:cubicBezTo>
                      <a:pt x="103" y="8"/>
                      <a:pt x="156" y="11"/>
                      <a:pt x="203" y="13"/>
                    </a:cubicBezTo>
                    <a:cubicBezTo>
                      <a:pt x="207" y="13"/>
                      <a:pt x="211" y="13"/>
                      <a:pt x="214" y="13"/>
                    </a:cubicBezTo>
                    <a:cubicBezTo>
                      <a:pt x="220" y="13"/>
                      <a:pt x="225" y="13"/>
                      <a:pt x="230" y="13"/>
                    </a:cubicBezTo>
                    <a:cubicBezTo>
                      <a:pt x="326" y="14"/>
                      <a:pt x="389" y="6"/>
                      <a:pt x="431" y="5"/>
                    </a:cubicBezTo>
                    <a:cubicBezTo>
                      <a:pt x="436" y="5"/>
                      <a:pt x="440" y="5"/>
                      <a:pt x="444" y="6"/>
                    </a:cubicBezTo>
                    <a:cubicBezTo>
                      <a:pt x="488" y="11"/>
                      <a:pt x="495" y="46"/>
                      <a:pt x="496" y="58"/>
                    </a:cubicBezTo>
                    <a:cubicBezTo>
                      <a:pt x="496" y="61"/>
                      <a:pt x="496" y="62"/>
                      <a:pt x="496" y="62"/>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48" name="Freeform 24">
                <a:extLst>
                  <a:ext uri="{FF2B5EF4-FFF2-40B4-BE49-F238E27FC236}">
                    <a16:creationId xmlns="" xmlns:a16="http://schemas.microsoft.com/office/drawing/2014/main" id="{E4FC746B-4A87-4B22-89FA-43BC87ACE4FA}"/>
                  </a:ext>
                </a:extLst>
              </p:cNvPr>
              <p:cNvSpPr>
                <a:spLocks/>
              </p:cNvSpPr>
              <p:nvPr/>
            </p:nvSpPr>
            <p:spPr bwMode="auto">
              <a:xfrm>
                <a:off x="7807325" y="1163638"/>
                <a:ext cx="88900" cy="412750"/>
              </a:xfrm>
              <a:custGeom>
                <a:avLst/>
                <a:gdLst>
                  <a:gd name="T0" fmla="*/ 108 w 108"/>
                  <a:gd name="T1" fmla="*/ 416 h 503"/>
                  <a:gd name="T2" fmla="*/ 80 w 108"/>
                  <a:gd name="T3" fmla="*/ 503 h 503"/>
                  <a:gd name="T4" fmla="*/ 0 w 108"/>
                  <a:gd name="T5" fmla="*/ 0 h 503"/>
                  <a:gd name="T6" fmla="*/ 51 w 108"/>
                  <a:gd name="T7" fmla="*/ 17 h 503"/>
                  <a:gd name="T8" fmla="*/ 108 w 108"/>
                  <a:gd name="T9" fmla="*/ 416 h 503"/>
                </a:gdLst>
                <a:ahLst/>
                <a:cxnLst>
                  <a:cxn ang="0">
                    <a:pos x="T0" y="T1"/>
                  </a:cxn>
                  <a:cxn ang="0">
                    <a:pos x="T2" y="T3"/>
                  </a:cxn>
                  <a:cxn ang="0">
                    <a:pos x="T4" y="T5"/>
                  </a:cxn>
                  <a:cxn ang="0">
                    <a:pos x="T6" y="T7"/>
                  </a:cxn>
                  <a:cxn ang="0">
                    <a:pos x="T8" y="T9"/>
                  </a:cxn>
                </a:cxnLst>
                <a:rect l="0" t="0" r="r" b="b"/>
                <a:pathLst>
                  <a:path w="108" h="503">
                    <a:moveTo>
                      <a:pt x="108" y="416"/>
                    </a:moveTo>
                    <a:cubicBezTo>
                      <a:pt x="108" y="416"/>
                      <a:pt x="108" y="468"/>
                      <a:pt x="80" y="503"/>
                    </a:cubicBezTo>
                    <a:lnTo>
                      <a:pt x="0" y="0"/>
                    </a:lnTo>
                    <a:cubicBezTo>
                      <a:pt x="16" y="3"/>
                      <a:pt x="32" y="9"/>
                      <a:pt x="51" y="17"/>
                    </a:cubicBezTo>
                    <a:lnTo>
                      <a:pt x="108" y="416"/>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49" name="Freeform 25">
                <a:extLst>
                  <a:ext uri="{FF2B5EF4-FFF2-40B4-BE49-F238E27FC236}">
                    <a16:creationId xmlns="" xmlns:a16="http://schemas.microsoft.com/office/drawing/2014/main" id="{60561301-B2B8-4D5F-85DF-54408C69ACDF}"/>
                  </a:ext>
                </a:extLst>
              </p:cNvPr>
              <p:cNvSpPr>
                <a:spLocks/>
              </p:cNvSpPr>
              <p:nvPr/>
            </p:nvSpPr>
            <p:spPr bwMode="auto">
              <a:xfrm>
                <a:off x="7635875" y="1219200"/>
                <a:ext cx="80963" cy="366713"/>
              </a:xfrm>
              <a:custGeom>
                <a:avLst/>
                <a:gdLst>
                  <a:gd name="T0" fmla="*/ 63 w 100"/>
                  <a:gd name="T1" fmla="*/ 448 h 448"/>
                  <a:gd name="T2" fmla="*/ 0 w 100"/>
                  <a:gd name="T3" fmla="*/ 0 h 448"/>
                  <a:gd name="T4" fmla="*/ 49 w 100"/>
                  <a:gd name="T5" fmla="*/ 10 h 448"/>
                  <a:gd name="T6" fmla="*/ 99 w 100"/>
                  <a:gd name="T7" fmla="*/ 397 h 448"/>
                  <a:gd name="T8" fmla="*/ 63 w 100"/>
                  <a:gd name="T9" fmla="*/ 448 h 448"/>
                </a:gdLst>
                <a:ahLst/>
                <a:cxnLst>
                  <a:cxn ang="0">
                    <a:pos x="T0" y="T1"/>
                  </a:cxn>
                  <a:cxn ang="0">
                    <a:pos x="T2" y="T3"/>
                  </a:cxn>
                  <a:cxn ang="0">
                    <a:pos x="T4" y="T5"/>
                  </a:cxn>
                  <a:cxn ang="0">
                    <a:pos x="T6" y="T7"/>
                  </a:cxn>
                  <a:cxn ang="0">
                    <a:pos x="T8" y="T9"/>
                  </a:cxn>
                </a:cxnLst>
                <a:rect l="0" t="0" r="r" b="b"/>
                <a:pathLst>
                  <a:path w="100" h="448">
                    <a:moveTo>
                      <a:pt x="63" y="448"/>
                    </a:moveTo>
                    <a:lnTo>
                      <a:pt x="0" y="0"/>
                    </a:lnTo>
                    <a:cubicBezTo>
                      <a:pt x="14" y="1"/>
                      <a:pt x="31" y="4"/>
                      <a:pt x="49" y="10"/>
                    </a:cubicBezTo>
                    <a:lnTo>
                      <a:pt x="99" y="397"/>
                    </a:lnTo>
                    <a:cubicBezTo>
                      <a:pt x="99" y="397"/>
                      <a:pt x="100" y="430"/>
                      <a:pt x="63" y="448"/>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50" name="Freeform 26">
                <a:extLst>
                  <a:ext uri="{FF2B5EF4-FFF2-40B4-BE49-F238E27FC236}">
                    <a16:creationId xmlns="" xmlns:a16="http://schemas.microsoft.com/office/drawing/2014/main" id="{82704B85-F4D7-4FD1-8A20-C64D252E7F40}"/>
                  </a:ext>
                </a:extLst>
              </p:cNvPr>
              <p:cNvSpPr>
                <a:spLocks/>
              </p:cNvSpPr>
              <p:nvPr/>
            </p:nvSpPr>
            <p:spPr bwMode="auto">
              <a:xfrm>
                <a:off x="8020050" y="1138238"/>
                <a:ext cx="52388" cy="427038"/>
              </a:xfrm>
              <a:custGeom>
                <a:avLst/>
                <a:gdLst>
                  <a:gd name="T0" fmla="*/ 64 w 64"/>
                  <a:gd name="T1" fmla="*/ 449 h 521"/>
                  <a:gd name="T2" fmla="*/ 21 w 64"/>
                  <a:gd name="T3" fmla="*/ 521 h 521"/>
                  <a:gd name="T4" fmla="*/ 0 w 64"/>
                  <a:gd name="T5" fmla="*/ 0 h 521"/>
                  <a:gd name="T6" fmla="*/ 52 w 64"/>
                  <a:gd name="T7" fmla="*/ 23 h 521"/>
                  <a:gd name="T8" fmla="*/ 64 w 64"/>
                  <a:gd name="T9" fmla="*/ 449 h 521"/>
                </a:gdLst>
                <a:ahLst/>
                <a:cxnLst>
                  <a:cxn ang="0">
                    <a:pos x="T0" y="T1"/>
                  </a:cxn>
                  <a:cxn ang="0">
                    <a:pos x="T2" y="T3"/>
                  </a:cxn>
                  <a:cxn ang="0">
                    <a:pos x="T4" y="T5"/>
                  </a:cxn>
                  <a:cxn ang="0">
                    <a:pos x="T6" y="T7"/>
                  </a:cxn>
                  <a:cxn ang="0">
                    <a:pos x="T8" y="T9"/>
                  </a:cxn>
                </a:cxnLst>
                <a:rect l="0" t="0" r="r" b="b"/>
                <a:pathLst>
                  <a:path w="64" h="521">
                    <a:moveTo>
                      <a:pt x="64" y="449"/>
                    </a:moveTo>
                    <a:cubicBezTo>
                      <a:pt x="64" y="449"/>
                      <a:pt x="57" y="490"/>
                      <a:pt x="21" y="521"/>
                    </a:cubicBezTo>
                    <a:lnTo>
                      <a:pt x="0" y="0"/>
                    </a:lnTo>
                    <a:cubicBezTo>
                      <a:pt x="16" y="5"/>
                      <a:pt x="33" y="13"/>
                      <a:pt x="52" y="23"/>
                    </a:cubicBezTo>
                    <a:lnTo>
                      <a:pt x="64" y="449"/>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51" name="Freeform 27">
                <a:extLst>
                  <a:ext uri="{FF2B5EF4-FFF2-40B4-BE49-F238E27FC236}">
                    <a16:creationId xmlns="" xmlns:a16="http://schemas.microsoft.com/office/drawing/2014/main" id="{8812821E-CCD5-43D5-8355-E98BD8E72442}"/>
                  </a:ext>
                </a:extLst>
              </p:cNvPr>
              <p:cNvSpPr>
                <a:spLocks/>
              </p:cNvSpPr>
              <p:nvPr/>
            </p:nvSpPr>
            <p:spPr bwMode="auto">
              <a:xfrm>
                <a:off x="7883525" y="1370013"/>
                <a:ext cx="495300" cy="908050"/>
              </a:xfrm>
              <a:custGeom>
                <a:avLst/>
                <a:gdLst>
                  <a:gd name="T0" fmla="*/ 589 w 604"/>
                  <a:gd name="T1" fmla="*/ 283 h 1107"/>
                  <a:gd name="T2" fmla="*/ 364 w 604"/>
                  <a:gd name="T3" fmla="*/ 617 h 1107"/>
                  <a:gd name="T4" fmla="*/ 364 w 604"/>
                  <a:gd name="T5" fmla="*/ 1107 h 1107"/>
                  <a:gd name="T6" fmla="*/ 0 w 604"/>
                  <a:gd name="T7" fmla="*/ 1107 h 1107"/>
                  <a:gd name="T8" fmla="*/ 0 w 604"/>
                  <a:gd name="T9" fmla="*/ 501 h 1107"/>
                  <a:gd name="T10" fmla="*/ 218 w 604"/>
                  <a:gd name="T11" fmla="*/ 264 h 1107"/>
                  <a:gd name="T12" fmla="*/ 173 w 604"/>
                  <a:gd name="T13" fmla="*/ 257 h 1107"/>
                  <a:gd name="T14" fmla="*/ 161 w 604"/>
                  <a:gd name="T15" fmla="*/ 254 h 1107"/>
                  <a:gd name="T16" fmla="*/ 24 w 604"/>
                  <a:gd name="T17" fmla="*/ 42 h 1107"/>
                  <a:gd name="T18" fmla="*/ 60 w 604"/>
                  <a:gd name="T19" fmla="*/ 14 h 1107"/>
                  <a:gd name="T20" fmla="*/ 227 w 604"/>
                  <a:gd name="T21" fmla="*/ 25 h 1107"/>
                  <a:gd name="T22" fmla="*/ 417 w 604"/>
                  <a:gd name="T23" fmla="*/ 5 h 1107"/>
                  <a:gd name="T24" fmla="*/ 489 w 604"/>
                  <a:gd name="T25" fmla="*/ 37 h 1107"/>
                  <a:gd name="T26" fmla="*/ 492 w 604"/>
                  <a:gd name="T27" fmla="*/ 43 h 1107"/>
                  <a:gd name="T28" fmla="*/ 591 w 604"/>
                  <a:gd name="T29" fmla="*/ 211 h 1107"/>
                  <a:gd name="T30" fmla="*/ 589 w 604"/>
                  <a:gd name="T31" fmla="*/ 28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4" h="1107">
                    <a:moveTo>
                      <a:pt x="589" y="283"/>
                    </a:moveTo>
                    <a:lnTo>
                      <a:pt x="364" y="617"/>
                    </a:lnTo>
                    <a:lnTo>
                      <a:pt x="364" y="1107"/>
                    </a:lnTo>
                    <a:lnTo>
                      <a:pt x="0" y="1107"/>
                    </a:lnTo>
                    <a:lnTo>
                      <a:pt x="0" y="501"/>
                    </a:lnTo>
                    <a:cubicBezTo>
                      <a:pt x="24" y="311"/>
                      <a:pt x="218" y="264"/>
                      <a:pt x="218" y="264"/>
                    </a:cubicBezTo>
                    <a:cubicBezTo>
                      <a:pt x="202" y="262"/>
                      <a:pt x="187" y="260"/>
                      <a:pt x="173" y="257"/>
                    </a:cubicBezTo>
                    <a:cubicBezTo>
                      <a:pt x="169" y="256"/>
                      <a:pt x="165" y="255"/>
                      <a:pt x="161" y="254"/>
                    </a:cubicBezTo>
                    <a:cubicBezTo>
                      <a:pt x="18" y="217"/>
                      <a:pt x="16" y="99"/>
                      <a:pt x="24" y="42"/>
                    </a:cubicBezTo>
                    <a:cubicBezTo>
                      <a:pt x="26" y="25"/>
                      <a:pt x="42" y="12"/>
                      <a:pt x="60" y="14"/>
                    </a:cubicBezTo>
                    <a:cubicBezTo>
                      <a:pt x="121" y="22"/>
                      <a:pt x="177" y="25"/>
                      <a:pt x="227" y="25"/>
                    </a:cubicBezTo>
                    <a:cubicBezTo>
                      <a:pt x="310" y="24"/>
                      <a:pt x="376" y="14"/>
                      <a:pt x="417" y="5"/>
                    </a:cubicBezTo>
                    <a:cubicBezTo>
                      <a:pt x="445" y="0"/>
                      <a:pt x="474" y="12"/>
                      <a:pt x="489" y="37"/>
                    </a:cubicBezTo>
                    <a:lnTo>
                      <a:pt x="492" y="43"/>
                    </a:lnTo>
                    <a:lnTo>
                      <a:pt x="591" y="211"/>
                    </a:lnTo>
                    <a:cubicBezTo>
                      <a:pt x="604" y="233"/>
                      <a:pt x="604" y="261"/>
                      <a:pt x="589" y="283"/>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grpSp>
      </p:grpSp>
      <p:pic>
        <p:nvPicPr>
          <p:cNvPr id="5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31815">
            <a:off x="281780" y="2458171"/>
            <a:ext cx="3765710" cy="21582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3" name="Group 52">
            <a:extLst>
              <a:ext uri="{FF2B5EF4-FFF2-40B4-BE49-F238E27FC236}">
                <a16:creationId xmlns="" xmlns:a16="http://schemas.microsoft.com/office/drawing/2014/main" id="{15F311B2-EF63-4794-8453-C957B97D2009}"/>
              </a:ext>
            </a:extLst>
          </p:cNvPr>
          <p:cNvGrpSpPr/>
          <p:nvPr/>
        </p:nvGrpSpPr>
        <p:grpSpPr>
          <a:xfrm rot="5400000" flipH="1">
            <a:off x="5051758" y="3195192"/>
            <a:ext cx="630008" cy="992676"/>
            <a:chOff x="2163029" y="4524231"/>
            <a:chExt cx="860425" cy="1771650"/>
          </a:xfrm>
        </p:grpSpPr>
        <p:sp>
          <p:nvSpPr>
            <p:cNvPr id="54" name="Freeform: Shape 121">
              <a:extLst>
                <a:ext uri="{FF2B5EF4-FFF2-40B4-BE49-F238E27FC236}">
                  <a16:creationId xmlns="" xmlns:a16="http://schemas.microsoft.com/office/drawing/2014/main" id="{2477AC3F-7E5F-44CB-94B3-94F48E586BD0}"/>
                </a:ext>
              </a:extLst>
            </p:cNvPr>
            <p:cNvSpPr>
              <a:spLocks/>
            </p:cNvSpPr>
            <p:nvPr/>
          </p:nvSpPr>
          <p:spPr bwMode="auto">
            <a:xfrm>
              <a:off x="2170845" y="4524231"/>
              <a:ext cx="844793" cy="1481137"/>
            </a:xfrm>
            <a:custGeom>
              <a:avLst/>
              <a:gdLst>
                <a:gd name="connsiteX0" fmla="*/ 638010 w 844793"/>
                <a:gd name="connsiteY0" fmla="*/ 0 h 1481137"/>
                <a:gd name="connsiteX1" fmla="*/ 657681 w 844793"/>
                <a:gd name="connsiteY1" fmla="*/ 2461 h 1481137"/>
                <a:gd name="connsiteX2" fmla="*/ 733906 w 844793"/>
                <a:gd name="connsiteY2" fmla="*/ 90223 h 1481137"/>
                <a:gd name="connsiteX3" fmla="*/ 756036 w 844793"/>
                <a:gd name="connsiteY3" fmla="*/ 854657 h 1481137"/>
                <a:gd name="connsiteX4" fmla="*/ 757323 w 844793"/>
                <a:gd name="connsiteY4" fmla="*/ 901441 h 1481137"/>
                <a:gd name="connsiteX5" fmla="*/ 836993 w 844793"/>
                <a:gd name="connsiteY5" fmla="*/ 1036679 h 1481137"/>
                <a:gd name="connsiteX6" fmla="*/ 835353 w 844793"/>
                <a:gd name="connsiteY6" fmla="*/ 1095739 h 1481137"/>
                <a:gd name="connsiteX7" fmla="*/ 650845 w 844793"/>
                <a:gd name="connsiteY7" fmla="*/ 1369713 h 1481137"/>
                <a:gd name="connsiteX8" fmla="*/ 650845 w 844793"/>
                <a:gd name="connsiteY8" fmla="*/ 1481137 h 1481137"/>
                <a:gd name="connsiteX9" fmla="*/ 237214 w 844793"/>
                <a:gd name="connsiteY9" fmla="*/ 1481137 h 1481137"/>
                <a:gd name="connsiteX10" fmla="*/ 237214 w 844793"/>
                <a:gd name="connsiteY10" fmla="*/ 1384512 h 1481137"/>
                <a:gd name="connsiteX11" fmla="*/ 87222 w 844793"/>
                <a:gd name="connsiteY11" fmla="*/ 1238515 h 1481137"/>
                <a:gd name="connsiteX12" fmla="*/ 42348 w 844793"/>
                <a:gd name="connsiteY12" fmla="*/ 1162748 h 1481137"/>
                <a:gd name="connsiteX13" fmla="*/ 16055 w 844793"/>
                <a:gd name="connsiteY13" fmla="*/ 1073310 h 1481137"/>
                <a:gd name="connsiteX14" fmla="*/ 15915 w 844793"/>
                <a:gd name="connsiteY14" fmla="*/ 1073204 h 1481137"/>
                <a:gd name="connsiteX15" fmla="*/ 240 w 844793"/>
                <a:gd name="connsiteY15" fmla="*/ 877531 h 1481137"/>
                <a:gd name="connsiteX16" fmla="*/ 249 w 844793"/>
                <a:gd name="connsiteY16" fmla="*/ 877341 h 1481137"/>
                <a:gd name="connsiteX17" fmla="*/ 240 w 844793"/>
                <a:gd name="connsiteY17" fmla="*/ 876906 h 1481137"/>
                <a:gd name="connsiteX18" fmla="*/ 6079 w 844793"/>
                <a:gd name="connsiteY18" fmla="*/ 784940 h 1481137"/>
                <a:gd name="connsiteX19" fmla="*/ 6349 w 844793"/>
                <a:gd name="connsiteY19" fmla="*/ 784853 h 1481137"/>
                <a:gd name="connsiteX20" fmla="*/ 9871 w 844793"/>
                <a:gd name="connsiteY20" fmla="*/ 772895 h 1481137"/>
                <a:gd name="connsiteX21" fmla="*/ 104126 w 844793"/>
                <a:gd name="connsiteY21" fmla="*/ 712173 h 1481137"/>
                <a:gd name="connsiteX22" fmla="*/ 144081 w 844793"/>
                <a:gd name="connsiteY22" fmla="*/ 720366 h 1481137"/>
                <a:gd name="connsiteX23" fmla="*/ 144153 w 844793"/>
                <a:gd name="connsiteY23" fmla="*/ 720927 h 1481137"/>
                <a:gd name="connsiteX24" fmla="*/ 144375 w 844793"/>
                <a:gd name="connsiteY24" fmla="*/ 720973 h 1481137"/>
                <a:gd name="connsiteX25" fmla="*/ 150280 w 844793"/>
                <a:gd name="connsiteY25" fmla="*/ 767185 h 1481137"/>
                <a:gd name="connsiteX26" fmla="*/ 150388 w 844793"/>
                <a:gd name="connsiteY26" fmla="*/ 767186 h 1481137"/>
                <a:gd name="connsiteX27" fmla="*/ 144391 w 844793"/>
                <a:gd name="connsiteY27" fmla="*/ 720843 h 1481137"/>
                <a:gd name="connsiteX28" fmla="*/ 216027 w 844793"/>
                <a:gd name="connsiteY28" fmla="*/ 660032 h 1481137"/>
                <a:gd name="connsiteX29" fmla="*/ 276243 w 844793"/>
                <a:gd name="connsiteY29" fmla="*/ 657788 h 1481137"/>
                <a:gd name="connsiteX30" fmla="*/ 276153 w 844793"/>
                <a:gd name="connsiteY30" fmla="*/ 657225 h 1481137"/>
                <a:gd name="connsiteX31" fmla="*/ 318134 w 844793"/>
                <a:gd name="connsiteY31" fmla="*/ 671175 h 1481137"/>
                <a:gd name="connsiteX32" fmla="*/ 318205 w 844793"/>
                <a:gd name="connsiteY32" fmla="*/ 671672 h 1481137"/>
                <a:gd name="connsiteX33" fmla="*/ 318297 w 844793"/>
                <a:gd name="connsiteY33" fmla="*/ 671703 h 1481137"/>
                <a:gd name="connsiteX34" fmla="*/ 332298 w 844793"/>
                <a:gd name="connsiteY34" fmla="*/ 769556 h 1481137"/>
                <a:gd name="connsiteX35" fmla="*/ 332648 w 844793"/>
                <a:gd name="connsiteY35" fmla="*/ 769561 h 1481137"/>
                <a:gd name="connsiteX36" fmla="*/ 319016 w 844793"/>
                <a:gd name="connsiteY36" fmla="*/ 671575 h 1481137"/>
                <a:gd name="connsiteX37" fmla="*/ 488972 w 844793"/>
                <a:gd name="connsiteY37" fmla="*/ 631394 h 1481137"/>
                <a:gd name="connsiteX38" fmla="*/ 528441 w 844793"/>
                <a:gd name="connsiteY38" fmla="*/ 648914 h 1481137"/>
                <a:gd name="connsiteX39" fmla="*/ 542114 w 844793"/>
                <a:gd name="connsiteY39" fmla="*/ 96785 h 1481137"/>
                <a:gd name="connsiteX40" fmla="*/ 638010 w 844793"/>
                <a:gd name="connsiteY40" fmla="*/ 0 h 1481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44793" h="1481137">
                  <a:moveTo>
                    <a:pt x="638010" y="0"/>
                  </a:moveTo>
                  <a:cubicBezTo>
                    <a:pt x="644567" y="0"/>
                    <a:pt x="651124" y="820"/>
                    <a:pt x="657681" y="2461"/>
                  </a:cubicBezTo>
                  <a:cubicBezTo>
                    <a:pt x="698662" y="10663"/>
                    <a:pt x="731447" y="45932"/>
                    <a:pt x="733906" y="90223"/>
                  </a:cubicBezTo>
                  <a:lnTo>
                    <a:pt x="756036" y="854657"/>
                  </a:lnTo>
                  <a:lnTo>
                    <a:pt x="757323" y="901441"/>
                  </a:lnTo>
                  <a:lnTo>
                    <a:pt x="836993" y="1036679"/>
                  </a:lnTo>
                  <a:cubicBezTo>
                    <a:pt x="847653" y="1054725"/>
                    <a:pt x="847653" y="1077693"/>
                    <a:pt x="835353" y="1095739"/>
                  </a:cubicBezTo>
                  <a:lnTo>
                    <a:pt x="650845" y="1369713"/>
                  </a:lnTo>
                  <a:lnTo>
                    <a:pt x="650845" y="1481137"/>
                  </a:lnTo>
                  <a:lnTo>
                    <a:pt x="237214" y="1481137"/>
                  </a:lnTo>
                  <a:lnTo>
                    <a:pt x="237214" y="1384512"/>
                  </a:lnTo>
                  <a:cubicBezTo>
                    <a:pt x="237214" y="1384512"/>
                    <a:pt x="183938" y="1352524"/>
                    <a:pt x="87222" y="1238515"/>
                  </a:cubicBezTo>
                  <a:cubicBezTo>
                    <a:pt x="68781" y="1216779"/>
                    <a:pt x="54028" y="1190943"/>
                    <a:pt x="42348" y="1162748"/>
                  </a:cubicBezTo>
                  <a:lnTo>
                    <a:pt x="16055" y="1073310"/>
                  </a:lnTo>
                  <a:lnTo>
                    <a:pt x="15915" y="1073204"/>
                  </a:lnTo>
                  <a:cubicBezTo>
                    <a:pt x="1572" y="1003986"/>
                    <a:pt x="-887" y="932106"/>
                    <a:pt x="240" y="877531"/>
                  </a:cubicBezTo>
                  <a:lnTo>
                    <a:pt x="249" y="877341"/>
                  </a:lnTo>
                  <a:lnTo>
                    <a:pt x="240" y="876906"/>
                  </a:lnTo>
                  <a:cubicBezTo>
                    <a:pt x="1367" y="822259"/>
                    <a:pt x="6079" y="784940"/>
                    <a:pt x="6079" y="784940"/>
                  </a:cubicBezTo>
                  <a:lnTo>
                    <a:pt x="6349" y="784853"/>
                  </a:lnTo>
                  <a:lnTo>
                    <a:pt x="9871" y="772895"/>
                  </a:lnTo>
                  <a:cubicBezTo>
                    <a:pt x="17898" y="751041"/>
                    <a:pt x="41748" y="707871"/>
                    <a:pt x="104126" y="712173"/>
                  </a:cubicBezTo>
                  <a:cubicBezTo>
                    <a:pt x="115542" y="712992"/>
                    <a:pt x="129404" y="715450"/>
                    <a:pt x="144081" y="720366"/>
                  </a:cubicBezTo>
                  <a:lnTo>
                    <a:pt x="144153" y="720927"/>
                  </a:lnTo>
                  <a:lnTo>
                    <a:pt x="144375" y="720973"/>
                  </a:lnTo>
                  <a:lnTo>
                    <a:pt x="150280" y="767185"/>
                  </a:lnTo>
                  <a:lnTo>
                    <a:pt x="150388" y="767186"/>
                  </a:lnTo>
                  <a:lnTo>
                    <a:pt x="144391" y="720843"/>
                  </a:lnTo>
                  <a:cubicBezTo>
                    <a:pt x="144391" y="720843"/>
                    <a:pt x="165617" y="675235"/>
                    <a:pt x="216027" y="660032"/>
                  </a:cubicBezTo>
                  <a:lnTo>
                    <a:pt x="276243" y="657788"/>
                  </a:lnTo>
                  <a:lnTo>
                    <a:pt x="276153" y="657225"/>
                  </a:lnTo>
                  <a:cubicBezTo>
                    <a:pt x="289323" y="659687"/>
                    <a:pt x="302494" y="664610"/>
                    <a:pt x="318134" y="671175"/>
                  </a:cubicBezTo>
                  <a:lnTo>
                    <a:pt x="318205" y="671672"/>
                  </a:lnTo>
                  <a:lnTo>
                    <a:pt x="318297" y="671703"/>
                  </a:lnTo>
                  <a:lnTo>
                    <a:pt x="332298" y="769556"/>
                  </a:lnTo>
                  <a:lnTo>
                    <a:pt x="332648" y="769561"/>
                  </a:lnTo>
                  <a:lnTo>
                    <a:pt x="319016" y="671575"/>
                  </a:lnTo>
                  <a:cubicBezTo>
                    <a:pt x="319016" y="671575"/>
                    <a:pt x="381932" y="595312"/>
                    <a:pt x="488972" y="631394"/>
                  </a:cubicBezTo>
                  <a:lnTo>
                    <a:pt x="528441" y="648914"/>
                  </a:lnTo>
                  <a:lnTo>
                    <a:pt x="542114" y="96785"/>
                  </a:lnTo>
                  <a:cubicBezTo>
                    <a:pt x="542114" y="43471"/>
                    <a:pt x="584734" y="0"/>
                    <a:pt x="638010" y="0"/>
                  </a:cubicBezTo>
                  <a:close/>
                </a:path>
              </a:pathLst>
            </a:custGeom>
            <a:solidFill>
              <a:srgbClr val="FAB29A"/>
            </a:solidFill>
            <a:ln w="139700">
              <a:solidFill>
                <a:srgbClr val="F0EEEF"/>
              </a:solidFill>
              <a:round/>
              <a:headEnd/>
              <a:tailEnd/>
            </a:ln>
          </p:spPr>
          <p:txBody>
            <a:bodyPr vert="horz" wrap="square" lIns="68580" tIns="34290" rIns="68580" bIns="34290" numCol="1" anchor="t" anchorCtr="0" compatLnSpc="1">
              <a:prstTxWarp prst="textNoShape">
                <a:avLst/>
              </a:prstTxWarp>
              <a:noAutofit/>
            </a:bodyPr>
            <a:lstStyle/>
            <a:p>
              <a:endParaRPr lang="en-US" sz="1350"/>
            </a:p>
          </p:txBody>
        </p:sp>
        <p:grpSp>
          <p:nvGrpSpPr>
            <p:cNvPr id="55" name="Group 54">
              <a:extLst>
                <a:ext uri="{FF2B5EF4-FFF2-40B4-BE49-F238E27FC236}">
                  <a16:creationId xmlns="" xmlns:a16="http://schemas.microsoft.com/office/drawing/2014/main" id="{B04CA1CF-8385-4FEE-A78F-D4117B5CF9CF}"/>
                </a:ext>
              </a:extLst>
            </p:cNvPr>
            <p:cNvGrpSpPr/>
            <p:nvPr/>
          </p:nvGrpSpPr>
          <p:grpSpPr>
            <a:xfrm>
              <a:off x="2163029" y="4524231"/>
              <a:ext cx="860425" cy="1771650"/>
              <a:chOff x="7518400" y="506413"/>
              <a:chExt cx="860425" cy="1771650"/>
            </a:xfrm>
          </p:grpSpPr>
          <p:sp>
            <p:nvSpPr>
              <p:cNvPr id="56" name="Freeform 18">
                <a:extLst>
                  <a:ext uri="{FF2B5EF4-FFF2-40B4-BE49-F238E27FC236}">
                    <a16:creationId xmlns="" xmlns:a16="http://schemas.microsoft.com/office/drawing/2014/main" id="{A4A1AC8F-5CCB-4F98-BB6F-FA2C81EF4535}"/>
                  </a:ext>
                </a:extLst>
              </p:cNvPr>
              <p:cNvSpPr>
                <a:spLocks/>
              </p:cNvSpPr>
              <p:nvPr/>
            </p:nvSpPr>
            <p:spPr bwMode="auto">
              <a:xfrm>
                <a:off x="7518400" y="506413"/>
                <a:ext cx="779463" cy="1771650"/>
              </a:xfrm>
              <a:custGeom>
                <a:avLst/>
                <a:gdLst>
                  <a:gd name="T0" fmla="*/ 943 w 951"/>
                  <a:gd name="T1" fmla="*/ 1230 h 2160"/>
                  <a:gd name="T2" fmla="*/ 945 w 951"/>
                  <a:gd name="T3" fmla="*/ 1289 h 2160"/>
                  <a:gd name="T4" fmla="*/ 919 w 951"/>
                  <a:gd name="T5" fmla="*/ 1286 h 2160"/>
                  <a:gd name="T6" fmla="*/ 713 w 951"/>
                  <a:gd name="T7" fmla="*/ 1766 h 2160"/>
                  <a:gd name="T8" fmla="*/ 544 w 951"/>
                  <a:gd name="T9" fmla="*/ 2160 h 2160"/>
                  <a:gd name="T10" fmla="*/ 305 w 951"/>
                  <a:gd name="T11" fmla="*/ 2160 h 2160"/>
                  <a:gd name="T12" fmla="*/ 305 w 951"/>
                  <a:gd name="T13" fmla="*/ 1688 h 2160"/>
                  <a:gd name="T14" fmla="*/ 122 w 951"/>
                  <a:gd name="T15" fmla="*/ 1510 h 2160"/>
                  <a:gd name="T16" fmla="*/ 35 w 951"/>
                  <a:gd name="T17" fmla="*/ 1308 h 2160"/>
                  <a:gd name="T18" fmla="*/ 23 w 951"/>
                  <a:gd name="T19" fmla="*/ 957 h 2160"/>
                  <a:gd name="T20" fmla="*/ 95 w 951"/>
                  <a:gd name="T21" fmla="*/ 934 h 2160"/>
                  <a:gd name="T22" fmla="*/ 479 w 951"/>
                  <a:gd name="T23" fmla="*/ 939 h 2160"/>
                  <a:gd name="T24" fmla="*/ 474 w 951"/>
                  <a:gd name="T25" fmla="*/ 888 h 2160"/>
                  <a:gd name="T26" fmla="*/ 587 w 951"/>
                  <a:gd name="T27" fmla="*/ 837 h 2160"/>
                  <a:gd name="T28" fmla="*/ 660 w 951"/>
                  <a:gd name="T29" fmla="*/ 804 h 2160"/>
                  <a:gd name="T30" fmla="*/ 677 w 951"/>
                  <a:gd name="T31" fmla="*/ 118 h 2160"/>
                  <a:gd name="T32" fmla="*/ 677 w 951"/>
                  <a:gd name="T33" fmla="*/ 118 h 2160"/>
                  <a:gd name="T34" fmla="*/ 794 w 951"/>
                  <a:gd name="T35" fmla="*/ 0 h 2160"/>
                  <a:gd name="T36" fmla="*/ 818 w 951"/>
                  <a:gd name="T37" fmla="*/ 3 h 2160"/>
                  <a:gd name="T38" fmla="*/ 911 w 951"/>
                  <a:gd name="T39" fmla="*/ 110 h 2160"/>
                  <a:gd name="T40" fmla="*/ 938 w 951"/>
                  <a:gd name="T41" fmla="*/ 1042 h 2160"/>
                  <a:gd name="T42" fmla="*/ 941 w 951"/>
                  <a:gd name="T43" fmla="*/ 1151 h 2160"/>
                  <a:gd name="T44" fmla="*/ 942 w 951"/>
                  <a:gd name="T45" fmla="*/ 1188 h 2160"/>
                  <a:gd name="T46" fmla="*/ 949 w 951"/>
                  <a:gd name="T47" fmla="*/ 1206 h 2160"/>
                  <a:gd name="T48" fmla="*/ 951 w 951"/>
                  <a:gd name="T49" fmla="*/ 1212 h 2160"/>
                  <a:gd name="T50" fmla="*/ 943 w 951"/>
                  <a:gd name="T51" fmla="*/ 123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51" h="2160">
                    <a:moveTo>
                      <a:pt x="943" y="1230"/>
                    </a:moveTo>
                    <a:lnTo>
                      <a:pt x="945" y="1289"/>
                    </a:lnTo>
                    <a:lnTo>
                      <a:pt x="919" y="1286"/>
                    </a:lnTo>
                    <a:lnTo>
                      <a:pt x="713" y="1766"/>
                    </a:lnTo>
                    <a:lnTo>
                      <a:pt x="544" y="2160"/>
                    </a:lnTo>
                    <a:lnTo>
                      <a:pt x="305" y="2160"/>
                    </a:lnTo>
                    <a:lnTo>
                      <a:pt x="305" y="1688"/>
                    </a:lnTo>
                    <a:cubicBezTo>
                      <a:pt x="305" y="1688"/>
                      <a:pt x="240" y="1649"/>
                      <a:pt x="122" y="1510"/>
                    </a:cubicBezTo>
                    <a:cubicBezTo>
                      <a:pt x="77" y="1457"/>
                      <a:pt x="50" y="1384"/>
                      <a:pt x="35" y="1308"/>
                    </a:cubicBezTo>
                    <a:cubicBezTo>
                      <a:pt x="0" y="1139"/>
                      <a:pt x="23" y="957"/>
                      <a:pt x="23" y="957"/>
                    </a:cubicBezTo>
                    <a:lnTo>
                      <a:pt x="95" y="934"/>
                    </a:lnTo>
                    <a:lnTo>
                      <a:pt x="479" y="939"/>
                    </a:lnTo>
                    <a:lnTo>
                      <a:pt x="474" y="888"/>
                    </a:lnTo>
                    <a:lnTo>
                      <a:pt x="587" y="837"/>
                    </a:lnTo>
                    <a:lnTo>
                      <a:pt x="660" y="804"/>
                    </a:lnTo>
                    <a:lnTo>
                      <a:pt x="677" y="118"/>
                    </a:lnTo>
                    <a:lnTo>
                      <a:pt x="677" y="118"/>
                    </a:lnTo>
                    <a:cubicBezTo>
                      <a:pt x="677" y="53"/>
                      <a:pt x="729" y="0"/>
                      <a:pt x="794" y="0"/>
                    </a:cubicBezTo>
                    <a:cubicBezTo>
                      <a:pt x="802" y="0"/>
                      <a:pt x="810" y="1"/>
                      <a:pt x="818" y="3"/>
                    </a:cubicBezTo>
                    <a:cubicBezTo>
                      <a:pt x="868" y="13"/>
                      <a:pt x="908" y="56"/>
                      <a:pt x="911" y="110"/>
                    </a:cubicBezTo>
                    <a:lnTo>
                      <a:pt x="938" y="1042"/>
                    </a:lnTo>
                    <a:lnTo>
                      <a:pt x="941" y="1151"/>
                    </a:lnTo>
                    <a:lnTo>
                      <a:pt x="942" y="1188"/>
                    </a:lnTo>
                    <a:lnTo>
                      <a:pt x="949" y="1206"/>
                    </a:lnTo>
                    <a:lnTo>
                      <a:pt x="951" y="1212"/>
                    </a:lnTo>
                    <a:lnTo>
                      <a:pt x="943" y="1230"/>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57" name="Freeform 19">
                <a:extLst>
                  <a:ext uri="{FF2B5EF4-FFF2-40B4-BE49-F238E27FC236}">
                    <a16:creationId xmlns="" xmlns:a16="http://schemas.microsoft.com/office/drawing/2014/main" id="{29594420-A51E-486E-B78F-CFE1F88FEF40}"/>
                  </a:ext>
                </a:extLst>
              </p:cNvPr>
              <p:cNvSpPr>
                <a:spLocks/>
              </p:cNvSpPr>
              <p:nvPr/>
            </p:nvSpPr>
            <p:spPr bwMode="auto">
              <a:xfrm>
                <a:off x="7518400" y="1193800"/>
                <a:ext cx="779463" cy="793750"/>
              </a:xfrm>
              <a:custGeom>
                <a:avLst/>
                <a:gdLst>
                  <a:gd name="T0" fmla="*/ 943 w 951"/>
                  <a:gd name="T1" fmla="*/ 393 h 969"/>
                  <a:gd name="T2" fmla="*/ 945 w 951"/>
                  <a:gd name="T3" fmla="*/ 452 h 969"/>
                  <a:gd name="T4" fmla="*/ 919 w 951"/>
                  <a:gd name="T5" fmla="*/ 449 h 969"/>
                  <a:gd name="T6" fmla="*/ 713 w 951"/>
                  <a:gd name="T7" fmla="*/ 929 h 969"/>
                  <a:gd name="T8" fmla="*/ 456 w 951"/>
                  <a:gd name="T9" fmla="*/ 890 h 969"/>
                  <a:gd name="T10" fmla="*/ 462 w 951"/>
                  <a:gd name="T11" fmla="*/ 565 h 969"/>
                  <a:gd name="T12" fmla="*/ 35 w 951"/>
                  <a:gd name="T13" fmla="*/ 471 h 969"/>
                  <a:gd name="T14" fmla="*/ 23 w 951"/>
                  <a:gd name="T15" fmla="*/ 120 h 969"/>
                  <a:gd name="T16" fmla="*/ 95 w 951"/>
                  <a:gd name="T17" fmla="*/ 97 h 969"/>
                  <a:gd name="T18" fmla="*/ 479 w 951"/>
                  <a:gd name="T19" fmla="*/ 102 h 969"/>
                  <a:gd name="T20" fmla="*/ 474 w 951"/>
                  <a:gd name="T21" fmla="*/ 51 h 969"/>
                  <a:gd name="T22" fmla="*/ 587 w 951"/>
                  <a:gd name="T23" fmla="*/ 0 h 969"/>
                  <a:gd name="T24" fmla="*/ 564 w 951"/>
                  <a:gd name="T25" fmla="*/ 256 h 969"/>
                  <a:gd name="T26" fmla="*/ 721 w 951"/>
                  <a:gd name="T27" fmla="*/ 332 h 969"/>
                  <a:gd name="T28" fmla="*/ 941 w 951"/>
                  <a:gd name="T29" fmla="*/ 314 h 969"/>
                  <a:gd name="T30" fmla="*/ 942 w 951"/>
                  <a:gd name="T31" fmla="*/ 351 h 969"/>
                  <a:gd name="T32" fmla="*/ 951 w 951"/>
                  <a:gd name="T33" fmla="*/ 375 h 969"/>
                  <a:gd name="T34" fmla="*/ 943 w 951"/>
                  <a:gd name="T35" fmla="*/ 393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1" h="969">
                    <a:moveTo>
                      <a:pt x="943" y="393"/>
                    </a:moveTo>
                    <a:lnTo>
                      <a:pt x="945" y="452"/>
                    </a:lnTo>
                    <a:lnTo>
                      <a:pt x="919" y="449"/>
                    </a:lnTo>
                    <a:lnTo>
                      <a:pt x="713" y="929"/>
                    </a:lnTo>
                    <a:cubicBezTo>
                      <a:pt x="598" y="964"/>
                      <a:pt x="491" y="969"/>
                      <a:pt x="456" y="890"/>
                    </a:cubicBezTo>
                    <a:cubicBezTo>
                      <a:pt x="368" y="693"/>
                      <a:pt x="462" y="565"/>
                      <a:pt x="462" y="565"/>
                    </a:cubicBezTo>
                    <a:cubicBezTo>
                      <a:pt x="204" y="592"/>
                      <a:pt x="83" y="518"/>
                      <a:pt x="35" y="471"/>
                    </a:cubicBezTo>
                    <a:cubicBezTo>
                      <a:pt x="0" y="302"/>
                      <a:pt x="23" y="120"/>
                      <a:pt x="23" y="120"/>
                    </a:cubicBezTo>
                    <a:lnTo>
                      <a:pt x="95" y="97"/>
                    </a:lnTo>
                    <a:lnTo>
                      <a:pt x="479" y="102"/>
                    </a:lnTo>
                    <a:lnTo>
                      <a:pt x="474" y="51"/>
                    </a:lnTo>
                    <a:lnTo>
                      <a:pt x="587" y="0"/>
                    </a:lnTo>
                    <a:lnTo>
                      <a:pt x="564" y="256"/>
                    </a:lnTo>
                    <a:lnTo>
                      <a:pt x="721" y="332"/>
                    </a:lnTo>
                    <a:lnTo>
                      <a:pt x="941" y="314"/>
                    </a:lnTo>
                    <a:lnTo>
                      <a:pt x="942" y="351"/>
                    </a:lnTo>
                    <a:lnTo>
                      <a:pt x="951" y="375"/>
                    </a:lnTo>
                    <a:lnTo>
                      <a:pt x="943" y="393"/>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58" name="Freeform 20">
                <a:extLst>
                  <a:ext uri="{FF2B5EF4-FFF2-40B4-BE49-F238E27FC236}">
                    <a16:creationId xmlns="" xmlns:a16="http://schemas.microsoft.com/office/drawing/2014/main" id="{3AA0C245-FE0F-4A67-AB96-53D2EC378F29}"/>
                  </a:ext>
                </a:extLst>
              </p:cNvPr>
              <p:cNvSpPr>
                <a:spLocks/>
              </p:cNvSpPr>
              <p:nvPr/>
            </p:nvSpPr>
            <p:spPr bwMode="auto">
              <a:xfrm>
                <a:off x="7850188" y="1101725"/>
                <a:ext cx="222250" cy="495300"/>
              </a:xfrm>
              <a:custGeom>
                <a:avLst/>
                <a:gdLst>
                  <a:gd name="T0" fmla="*/ 272 w 272"/>
                  <a:gd name="T1" fmla="*/ 493 h 604"/>
                  <a:gd name="T2" fmla="*/ 229 w 272"/>
                  <a:gd name="T3" fmla="*/ 565 h 604"/>
                  <a:gd name="T4" fmla="*/ 202 w 272"/>
                  <a:gd name="T5" fmla="*/ 582 h 604"/>
                  <a:gd name="T6" fmla="*/ 153 w 272"/>
                  <a:gd name="T7" fmla="*/ 596 h 604"/>
                  <a:gd name="T8" fmla="*/ 54 w 272"/>
                  <a:gd name="T9" fmla="*/ 520 h 604"/>
                  <a:gd name="T10" fmla="*/ 57 w 272"/>
                  <a:gd name="T11" fmla="*/ 492 h 604"/>
                  <a:gd name="T12" fmla="*/ 37 w 272"/>
                  <a:gd name="T13" fmla="*/ 358 h 604"/>
                  <a:gd name="T14" fmla="*/ 0 w 272"/>
                  <a:gd name="T15" fmla="*/ 93 h 604"/>
                  <a:gd name="T16" fmla="*/ 208 w 272"/>
                  <a:gd name="T17" fmla="*/ 44 h 604"/>
                  <a:gd name="T18" fmla="*/ 260 w 272"/>
                  <a:gd name="T19" fmla="*/ 67 h 604"/>
                  <a:gd name="T20" fmla="*/ 267 w 272"/>
                  <a:gd name="T21" fmla="*/ 326 h 604"/>
                  <a:gd name="T22" fmla="*/ 268 w 272"/>
                  <a:gd name="T23" fmla="*/ 353 h 604"/>
                  <a:gd name="T24" fmla="*/ 272 w 272"/>
                  <a:gd name="T25" fmla="*/ 493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2" h="604">
                    <a:moveTo>
                      <a:pt x="272" y="493"/>
                    </a:moveTo>
                    <a:cubicBezTo>
                      <a:pt x="272" y="493"/>
                      <a:pt x="265" y="534"/>
                      <a:pt x="229" y="565"/>
                    </a:cubicBezTo>
                    <a:cubicBezTo>
                      <a:pt x="221" y="571"/>
                      <a:pt x="213" y="577"/>
                      <a:pt x="202" y="582"/>
                    </a:cubicBezTo>
                    <a:cubicBezTo>
                      <a:pt x="189" y="589"/>
                      <a:pt x="173" y="594"/>
                      <a:pt x="153" y="596"/>
                    </a:cubicBezTo>
                    <a:cubicBezTo>
                      <a:pt x="93" y="604"/>
                      <a:pt x="66" y="559"/>
                      <a:pt x="54" y="520"/>
                    </a:cubicBezTo>
                    <a:cubicBezTo>
                      <a:pt x="57" y="504"/>
                      <a:pt x="57" y="492"/>
                      <a:pt x="57" y="492"/>
                    </a:cubicBezTo>
                    <a:lnTo>
                      <a:pt x="37" y="358"/>
                    </a:lnTo>
                    <a:lnTo>
                      <a:pt x="0" y="93"/>
                    </a:lnTo>
                    <a:cubicBezTo>
                      <a:pt x="0" y="93"/>
                      <a:pt x="77" y="0"/>
                      <a:pt x="208" y="44"/>
                    </a:cubicBezTo>
                    <a:cubicBezTo>
                      <a:pt x="224" y="49"/>
                      <a:pt x="241" y="57"/>
                      <a:pt x="260" y="67"/>
                    </a:cubicBezTo>
                    <a:lnTo>
                      <a:pt x="267" y="326"/>
                    </a:lnTo>
                    <a:lnTo>
                      <a:pt x="268" y="353"/>
                    </a:lnTo>
                    <a:lnTo>
                      <a:pt x="272" y="493"/>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59" name="Freeform 21">
                <a:extLst>
                  <a:ext uri="{FF2B5EF4-FFF2-40B4-BE49-F238E27FC236}">
                    <a16:creationId xmlns="" xmlns:a16="http://schemas.microsoft.com/office/drawing/2014/main" id="{8B355E78-9019-4CB1-8844-B15CC0706753}"/>
                  </a:ext>
                </a:extLst>
              </p:cNvPr>
              <p:cNvSpPr>
                <a:spLocks/>
              </p:cNvSpPr>
              <p:nvPr/>
            </p:nvSpPr>
            <p:spPr bwMode="auto">
              <a:xfrm>
                <a:off x="7537450" y="1212850"/>
                <a:ext cx="179388" cy="381000"/>
              </a:xfrm>
              <a:custGeom>
                <a:avLst/>
                <a:gdLst>
                  <a:gd name="T0" fmla="*/ 183 w 220"/>
                  <a:gd name="T1" fmla="*/ 455 h 465"/>
                  <a:gd name="T2" fmla="*/ 125 w 220"/>
                  <a:gd name="T3" fmla="*/ 465 h 465"/>
                  <a:gd name="T4" fmla="*/ 0 w 220"/>
                  <a:gd name="T5" fmla="*/ 96 h 465"/>
                  <a:gd name="T6" fmla="*/ 120 w 220"/>
                  <a:gd name="T7" fmla="*/ 7 h 465"/>
                  <a:gd name="T8" fmla="*/ 169 w 220"/>
                  <a:gd name="T9" fmla="*/ 17 h 465"/>
                  <a:gd name="T10" fmla="*/ 219 w 220"/>
                  <a:gd name="T11" fmla="*/ 404 h 465"/>
                  <a:gd name="T12" fmla="*/ 183 w 220"/>
                  <a:gd name="T13" fmla="*/ 455 h 465"/>
                </a:gdLst>
                <a:ahLst/>
                <a:cxnLst>
                  <a:cxn ang="0">
                    <a:pos x="T0" y="T1"/>
                  </a:cxn>
                  <a:cxn ang="0">
                    <a:pos x="T2" y="T3"/>
                  </a:cxn>
                  <a:cxn ang="0">
                    <a:pos x="T4" y="T5"/>
                  </a:cxn>
                  <a:cxn ang="0">
                    <a:pos x="T6" y="T7"/>
                  </a:cxn>
                  <a:cxn ang="0">
                    <a:pos x="T8" y="T9"/>
                  </a:cxn>
                  <a:cxn ang="0">
                    <a:pos x="T10" y="T11"/>
                  </a:cxn>
                  <a:cxn ang="0">
                    <a:pos x="T12" y="T13"/>
                  </a:cxn>
                </a:cxnLst>
                <a:rect l="0" t="0" r="r" b="b"/>
                <a:pathLst>
                  <a:path w="220" h="465">
                    <a:moveTo>
                      <a:pt x="183" y="455"/>
                    </a:moveTo>
                    <a:cubicBezTo>
                      <a:pt x="169" y="461"/>
                      <a:pt x="151" y="465"/>
                      <a:pt x="125" y="465"/>
                    </a:cubicBezTo>
                    <a:cubicBezTo>
                      <a:pt x="29" y="465"/>
                      <a:pt x="29" y="406"/>
                      <a:pt x="0" y="96"/>
                    </a:cubicBezTo>
                    <a:cubicBezTo>
                      <a:pt x="0" y="96"/>
                      <a:pt x="18" y="0"/>
                      <a:pt x="120" y="7"/>
                    </a:cubicBezTo>
                    <a:cubicBezTo>
                      <a:pt x="134" y="8"/>
                      <a:pt x="151" y="11"/>
                      <a:pt x="169" y="17"/>
                    </a:cubicBezTo>
                    <a:lnTo>
                      <a:pt x="219" y="404"/>
                    </a:lnTo>
                    <a:cubicBezTo>
                      <a:pt x="219" y="404"/>
                      <a:pt x="220" y="437"/>
                      <a:pt x="183" y="455"/>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60" name="Freeform 22">
                <a:extLst>
                  <a:ext uri="{FF2B5EF4-FFF2-40B4-BE49-F238E27FC236}">
                    <a16:creationId xmlns="" xmlns:a16="http://schemas.microsoft.com/office/drawing/2014/main" id="{CC2F3A31-34F9-4057-A249-DB304DF60BFC}"/>
                  </a:ext>
                </a:extLst>
              </p:cNvPr>
              <p:cNvSpPr>
                <a:spLocks/>
              </p:cNvSpPr>
              <p:nvPr/>
            </p:nvSpPr>
            <p:spPr bwMode="auto">
              <a:xfrm>
                <a:off x="7675563" y="1146175"/>
                <a:ext cx="220663" cy="463550"/>
              </a:xfrm>
              <a:custGeom>
                <a:avLst/>
                <a:gdLst>
                  <a:gd name="T0" fmla="*/ 269 w 269"/>
                  <a:gd name="T1" fmla="*/ 438 h 566"/>
                  <a:gd name="T2" fmla="*/ 241 w 269"/>
                  <a:gd name="T3" fmla="*/ 525 h 566"/>
                  <a:gd name="T4" fmla="*/ 190 w 269"/>
                  <a:gd name="T5" fmla="*/ 554 h 566"/>
                  <a:gd name="T6" fmla="*/ 50 w 269"/>
                  <a:gd name="T7" fmla="*/ 486 h 566"/>
                  <a:gd name="T8" fmla="*/ 0 w 269"/>
                  <a:gd name="T9" fmla="*/ 99 h 566"/>
                  <a:gd name="T10" fmla="*/ 161 w 269"/>
                  <a:gd name="T11" fmla="*/ 22 h 566"/>
                  <a:gd name="T12" fmla="*/ 212 w 269"/>
                  <a:gd name="T13" fmla="*/ 39 h 566"/>
                  <a:gd name="T14" fmla="*/ 269 w 269"/>
                  <a:gd name="T15" fmla="*/ 438 h 5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9" h="566">
                    <a:moveTo>
                      <a:pt x="269" y="438"/>
                    </a:moveTo>
                    <a:cubicBezTo>
                      <a:pt x="269" y="438"/>
                      <a:pt x="269" y="490"/>
                      <a:pt x="241" y="525"/>
                    </a:cubicBezTo>
                    <a:cubicBezTo>
                      <a:pt x="229" y="539"/>
                      <a:pt x="213" y="550"/>
                      <a:pt x="190" y="554"/>
                    </a:cubicBezTo>
                    <a:cubicBezTo>
                      <a:pt x="118" y="566"/>
                      <a:pt x="72" y="546"/>
                      <a:pt x="50" y="486"/>
                    </a:cubicBezTo>
                    <a:lnTo>
                      <a:pt x="0" y="99"/>
                    </a:lnTo>
                    <a:cubicBezTo>
                      <a:pt x="0" y="99"/>
                      <a:pt x="46" y="0"/>
                      <a:pt x="161" y="22"/>
                    </a:cubicBezTo>
                    <a:cubicBezTo>
                      <a:pt x="177" y="25"/>
                      <a:pt x="193" y="31"/>
                      <a:pt x="212" y="39"/>
                    </a:cubicBezTo>
                    <a:lnTo>
                      <a:pt x="269" y="438"/>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61" name="Freeform 23">
                <a:extLst>
                  <a:ext uri="{FF2B5EF4-FFF2-40B4-BE49-F238E27FC236}">
                    <a16:creationId xmlns="" xmlns:a16="http://schemas.microsoft.com/office/drawing/2014/main" id="{CC482A4A-473B-4C02-9628-E25A23DA9DFF}"/>
                  </a:ext>
                </a:extLst>
              </p:cNvPr>
              <p:cNvSpPr>
                <a:spLocks/>
              </p:cNvSpPr>
              <p:nvPr/>
            </p:nvSpPr>
            <p:spPr bwMode="auto">
              <a:xfrm>
                <a:off x="7880350" y="1358900"/>
                <a:ext cx="406400" cy="238125"/>
              </a:xfrm>
              <a:custGeom>
                <a:avLst/>
                <a:gdLst>
                  <a:gd name="T0" fmla="*/ 496 w 496"/>
                  <a:gd name="T1" fmla="*/ 62 h 291"/>
                  <a:gd name="T2" fmla="*/ 453 w 496"/>
                  <a:gd name="T3" fmla="*/ 131 h 291"/>
                  <a:gd name="T4" fmla="*/ 300 w 496"/>
                  <a:gd name="T5" fmla="*/ 277 h 291"/>
                  <a:gd name="T6" fmla="*/ 231 w 496"/>
                  <a:gd name="T7" fmla="*/ 204 h 291"/>
                  <a:gd name="T8" fmla="*/ 196 w 496"/>
                  <a:gd name="T9" fmla="*/ 258 h 291"/>
                  <a:gd name="T10" fmla="*/ 177 w 496"/>
                  <a:gd name="T11" fmla="*/ 272 h 291"/>
                  <a:gd name="T12" fmla="*/ 165 w 496"/>
                  <a:gd name="T13" fmla="*/ 269 h 291"/>
                  <a:gd name="T14" fmla="*/ 116 w 496"/>
                  <a:gd name="T15" fmla="*/ 283 h 291"/>
                  <a:gd name="T16" fmla="*/ 17 w 496"/>
                  <a:gd name="T17" fmla="*/ 207 h 291"/>
                  <a:gd name="T18" fmla="*/ 20 w 496"/>
                  <a:gd name="T19" fmla="*/ 179 h 291"/>
                  <a:gd name="T20" fmla="*/ 0 w 496"/>
                  <a:gd name="T21" fmla="*/ 45 h 291"/>
                  <a:gd name="T22" fmla="*/ 10 w 496"/>
                  <a:gd name="T23" fmla="*/ 20 h 291"/>
                  <a:gd name="T24" fmla="*/ 42 w 496"/>
                  <a:gd name="T25" fmla="*/ 2 h 291"/>
                  <a:gd name="T26" fmla="*/ 203 w 496"/>
                  <a:gd name="T27" fmla="*/ 13 h 291"/>
                  <a:gd name="T28" fmla="*/ 214 w 496"/>
                  <a:gd name="T29" fmla="*/ 13 h 291"/>
                  <a:gd name="T30" fmla="*/ 230 w 496"/>
                  <a:gd name="T31" fmla="*/ 13 h 291"/>
                  <a:gd name="T32" fmla="*/ 431 w 496"/>
                  <a:gd name="T33" fmla="*/ 5 h 291"/>
                  <a:gd name="T34" fmla="*/ 444 w 496"/>
                  <a:gd name="T35" fmla="*/ 6 h 291"/>
                  <a:gd name="T36" fmla="*/ 496 w 496"/>
                  <a:gd name="T37" fmla="*/ 58 h 291"/>
                  <a:gd name="T38" fmla="*/ 496 w 496"/>
                  <a:gd name="T39" fmla="*/ 6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6" h="291">
                    <a:moveTo>
                      <a:pt x="496" y="62"/>
                    </a:moveTo>
                    <a:cubicBezTo>
                      <a:pt x="496" y="62"/>
                      <a:pt x="481" y="92"/>
                      <a:pt x="453" y="131"/>
                    </a:cubicBezTo>
                    <a:cubicBezTo>
                      <a:pt x="419" y="178"/>
                      <a:pt x="366" y="239"/>
                      <a:pt x="300" y="277"/>
                    </a:cubicBezTo>
                    <a:cubicBezTo>
                      <a:pt x="276" y="268"/>
                      <a:pt x="252" y="245"/>
                      <a:pt x="231" y="204"/>
                    </a:cubicBezTo>
                    <a:cubicBezTo>
                      <a:pt x="226" y="217"/>
                      <a:pt x="216" y="239"/>
                      <a:pt x="196" y="258"/>
                    </a:cubicBezTo>
                    <a:cubicBezTo>
                      <a:pt x="191" y="263"/>
                      <a:pt x="184" y="268"/>
                      <a:pt x="177" y="272"/>
                    </a:cubicBezTo>
                    <a:cubicBezTo>
                      <a:pt x="173" y="271"/>
                      <a:pt x="169" y="270"/>
                      <a:pt x="165" y="269"/>
                    </a:cubicBezTo>
                    <a:cubicBezTo>
                      <a:pt x="152" y="276"/>
                      <a:pt x="136" y="281"/>
                      <a:pt x="116" y="283"/>
                    </a:cubicBezTo>
                    <a:cubicBezTo>
                      <a:pt x="56" y="291"/>
                      <a:pt x="29" y="246"/>
                      <a:pt x="17" y="207"/>
                    </a:cubicBezTo>
                    <a:cubicBezTo>
                      <a:pt x="20" y="191"/>
                      <a:pt x="20" y="179"/>
                      <a:pt x="20" y="179"/>
                    </a:cubicBezTo>
                    <a:lnTo>
                      <a:pt x="0" y="45"/>
                    </a:lnTo>
                    <a:cubicBezTo>
                      <a:pt x="3" y="35"/>
                      <a:pt x="7" y="27"/>
                      <a:pt x="10" y="20"/>
                    </a:cubicBezTo>
                    <a:cubicBezTo>
                      <a:pt x="15" y="8"/>
                      <a:pt x="28" y="0"/>
                      <a:pt x="42" y="2"/>
                    </a:cubicBezTo>
                    <a:cubicBezTo>
                      <a:pt x="103" y="8"/>
                      <a:pt x="156" y="11"/>
                      <a:pt x="203" y="13"/>
                    </a:cubicBezTo>
                    <a:cubicBezTo>
                      <a:pt x="207" y="13"/>
                      <a:pt x="211" y="13"/>
                      <a:pt x="214" y="13"/>
                    </a:cubicBezTo>
                    <a:cubicBezTo>
                      <a:pt x="220" y="13"/>
                      <a:pt x="225" y="13"/>
                      <a:pt x="230" y="13"/>
                    </a:cubicBezTo>
                    <a:cubicBezTo>
                      <a:pt x="326" y="14"/>
                      <a:pt x="389" y="6"/>
                      <a:pt x="431" y="5"/>
                    </a:cubicBezTo>
                    <a:cubicBezTo>
                      <a:pt x="436" y="5"/>
                      <a:pt x="440" y="5"/>
                      <a:pt x="444" y="6"/>
                    </a:cubicBezTo>
                    <a:cubicBezTo>
                      <a:pt x="488" y="11"/>
                      <a:pt x="495" y="46"/>
                      <a:pt x="496" y="58"/>
                    </a:cubicBezTo>
                    <a:cubicBezTo>
                      <a:pt x="496" y="61"/>
                      <a:pt x="496" y="62"/>
                      <a:pt x="496" y="62"/>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62" name="Freeform 24">
                <a:extLst>
                  <a:ext uri="{FF2B5EF4-FFF2-40B4-BE49-F238E27FC236}">
                    <a16:creationId xmlns="" xmlns:a16="http://schemas.microsoft.com/office/drawing/2014/main" id="{E4FC746B-4A87-4B22-89FA-43BC87ACE4FA}"/>
                  </a:ext>
                </a:extLst>
              </p:cNvPr>
              <p:cNvSpPr>
                <a:spLocks/>
              </p:cNvSpPr>
              <p:nvPr/>
            </p:nvSpPr>
            <p:spPr bwMode="auto">
              <a:xfrm>
                <a:off x="7807325" y="1163638"/>
                <a:ext cx="88900" cy="412750"/>
              </a:xfrm>
              <a:custGeom>
                <a:avLst/>
                <a:gdLst>
                  <a:gd name="T0" fmla="*/ 108 w 108"/>
                  <a:gd name="T1" fmla="*/ 416 h 503"/>
                  <a:gd name="T2" fmla="*/ 80 w 108"/>
                  <a:gd name="T3" fmla="*/ 503 h 503"/>
                  <a:gd name="T4" fmla="*/ 0 w 108"/>
                  <a:gd name="T5" fmla="*/ 0 h 503"/>
                  <a:gd name="T6" fmla="*/ 51 w 108"/>
                  <a:gd name="T7" fmla="*/ 17 h 503"/>
                  <a:gd name="T8" fmla="*/ 108 w 108"/>
                  <a:gd name="T9" fmla="*/ 416 h 503"/>
                </a:gdLst>
                <a:ahLst/>
                <a:cxnLst>
                  <a:cxn ang="0">
                    <a:pos x="T0" y="T1"/>
                  </a:cxn>
                  <a:cxn ang="0">
                    <a:pos x="T2" y="T3"/>
                  </a:cxn>
                  <a:cxn ang="0">
                    <a:pos x="T4" y="T5"/>
                  </a:cxn>
                  <a:cxn ang="0">
                    <a:pos x="T6" y="T7"/>
                  </a:cxn>
                  <a:cxn ang="0">
                    <a:pos x="T8" y="T9"/>
                  </a:cxn>
                </a:cxnLst>
                <a:rect l="0" t="0" r="r" b="b"/>
                <a:pathLst>
                  <a:path w="108" h="503">
                    <a:moveTo>
                      <a:pt x="108" y="416"/>
                    </a:moveTo>
                    <a:cubicBezTo>
                      <a:pt x="108" y="416"/>
                      <a:pt x="108" y="468"/>
                      <a:pt x="80" y="503"/>
                    </a:cubicBezTo>
                    <a:lnTo>
                      <a:pt x="0" y="0"/>
                    </a:lnTo>
                    <a:cubicBezTo>
                      <a:pt x="16" y="3"/>
                      <a:pt x="32" y="9"/>
                      <a:pt x="51" y="17"/>
                    </a:cubicBezTo>
                    <a:lnTo>
                      <a:pt x="108" y="416"/>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63" name="Freeform 25">
                <a:extLst>
                  <a:ext uri="{FF2B5EF4-FFF2-40B4-BE49-F238E27FC236}">
                    <a16:creationId xmlns="" xmlns:a16="http://schemas.microsoft.com/office/drawing/2014/main" id="{60561301-B2B8-4D5F-85DF-54408C69ACDF}"/>
                  </a:ext>
                </a:extLst>
              </p:cNvPr>
              <p:cNvSpPr>
                <a:spLocks/>
              </p:cNvSpPr>
              <p:nvPr/>
            </p:nvSpPr>
            <p:spPr bwMode="auto">
              <a:xfrm>
                <a:off x="7635875" y="1219200"/>
                <a:ext cx="80963" cy="366713"/>
              </a:xfrm>
              <a:custGeom>
                <a:avLst/>
                <a:gdLst>
                  <a:gd name="T0" fmla="*/ 63 w 100"/>
                  <a:gd name="T1" fmla="*/ 448 h 448"/>
                  <a:gd name="T2" fmla="*/ 0 w 100"/>
                  <a:gd name="T3" fmla="*/ 0 h 448"/>
                  <a:gd name="T4" fmla="*/ 49 w 100"/>
                  <a:gd name="T5" fmla="*/ 10 h 448"/>
                  <a:gd name="T6" fmla="*/ 99 w 100"/>
                  <a:gd name="T7" fmla="*/ 397 h 448"/>
                  <a:gd name="T8" fmla="*/ 63 w 100"/>
                  <a:gd name="T9" fmla="*/ 448 h 448"/>
                </a:gdLst>
                <a:ahLst/>
                <a:cxnLst>
                  <a:cxn ang="0">
                    <a:pos x="T0" y="T1"/>
                  </a:cxn>
                  <a:cxn ang="0">
                    <a:pos x="T2" y="T3"/>
                  </a:cxn>
                  <a:cxn ang="0">
                    <a:pos x="T4" y="T5"/>
                  </a:cxn>
                  <a:cxn ang="0">
                    <a:pos x="T6" y="T7"/>
                  </a:cxn>
                  <a:cxn ang="0">
                    <a:pos x="T8" y="T9"/>
                  </a:cxn>
                </a:cxnLst>
                <a:rect l="0" t="0" r="r" b="b"/>
                <a:pathLst>
                  <a:path w="100" h="448">
                    <a:moveTo>
                      <a:pt x="63" y="448"/>
                    </a:moveTo>
                    <a:lnTo>
                      <a:pt x="0" y="0"/>
                    </a:lnTo>
                    <a:cubicBezTo>
                      <a:pt x="14" y="1"/>
                      <a:pt x="31" y="4"/>
                      <a:pt x="49" y="10"/>
                    </a:cubicBezTo>
                    <a:lnTo>
                      <a:pt x="99" y="397"/>
                    </a:lnTo>
                    <a:cubicBezTo>
                      <a:pt x="99" y="397"/>
                      <a:pt x="100" y="430"/>
                      <a:pt x="63" y="448"/>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64" name="Freeform 26">
                <a:extLst>
                  <a:ext uri="{FF2B5EF4-FFF2-40B4-BE49-F238E27FC236}">
                    <a16:creationId xmlns="" xmlns:a16="http://schemas.microsoft.com/office/drawing/2014/main" id="{82704B85-F4D7-4FD1-8A20-C64D252E7F40}"/>
                  </a:ext>
                </a:extLst>
              </p:cNvPr>
              <p:cNvSpPr>
                <a:spLocks/>
              </p:cNvSpPr>
              <p:nvPr/>
            </p:nvSpPr>
            <p:spPr bwMode="auto">
              <a:xfrm>
                <a:off x="8020050" y="1138238"/>
                <a:ext cx="52388" cy="427038"/>
              </a:xfrm>
              <a:custGeom>
                <a:avLst/>
                <a:gdLst>
                  <a:gd name="T0" fmla="*/ 64 w 64"/>
                  <a:gd name="T1" fmla="*/ 449 h 521"/>
                  <a:gd name="T2" fmla="*/ 21 w 64"/>
                  <a:gd name="T3" fmla="*/ 521 h 521"/>
                  <a:gd name="T4" fmla="*/ 0 w 64"/>
                  <a:gd name="T5" fmla="*/ 0 h 521"/>
                  <a:gd name="T6" fmla="*/ 52 w 64"/>
                  <a:gd name="T7" fmla="*/ 23 h 521"/>
                  <a:gd name="T8" fmla="*/ 64 w 64"/>
                  <a:gd name="T9" fmla="*/ 449 h 521"/>
                </a:gdLst>
                <a:ahLst/>
                <a:cxnLst>
                  <a:cxn ang="0">
                    <a:pos x="T0" y="T1"/>
                  </a:cxn>
                  <a:cxn ang="0">
                    <a:pos x="T2" y="T3"/>
                  </a:cxn>
                  <a:cxn ang="0">
                    <a:pos x="T4" y="T5"/>
                  </a:cxn>
                  <a:cxn ang="0">
                    <a:pos x="T6" y="T7"/>
                  </a:cxn>
                  <a:cxn ang="0">
                    <a:pos x="T8" y="T9"/>
                  </a:cxn>
                </a:cxnLst>
                <a:rect l="0" t="0" r="r" b="b"/>
                <a:pathLst>
                  <a:path w="64" h="521">
                    <a:moveTo>
                      <a:pt x="64" y="449"/>
                    </a:moveTo>
                    <a:cubicBezTo>
                      <a:pt x="64" y="449"/>
                      <a:pt x="57" y="490"/>
                      <a:pt x="21" y="521"/>
                    </a:cubicBezTo>
                    <a:lnTo>
                      <a:pt x="0" y="0"/>
                    </a:lnTo>
                    <a:cubicBezTo>
                      <a:pt x="16" y="5"/>
                      <a:pt x="33" y="13"/>
                      <a:pt x="52" y="23"/>
                    </a:cubicBezTo>
                    <a:lnTo>
                      <a:pt x="64" y="449"/>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65" name="Freeform 27">
                <a:extLst>
                  <a:ext uri="{FF2B5EF4-FFF2-40B4-BE49-F238E27FC236}">
                    <a16:creationId xmlns="" xmlns:a16="http://schemas.microsoft.com/office/drawing/2014/main" id="{8812821E-CCD5-43D5-8355-E98BD8E72442}"/>
                  </a:ext>
                </a:extLst>
              </p:cNvPr>
              <p:cNvSpPr>
                <a:spLocks/>
              </p:cNvSpPr>
              <p:nvPr/>
            </p:nvSpPr>
            <p:spPr bwMode="auto">
              <a:xfrm>
                <a:off x="7883525" y="1370013"/>
                <a:ext cx="495300" cy="908050"/>
              </a:xfrm>
              <a:custGeom>
                <a:avLst/>
                <a:gdLst>
                  <a:gd name="T0" fmla="*/ 589 w 604"/>
                  <a:gd name="T1" fmla="*/ 283 h 1107"/>
                  <a:gd name="T2" fmla="*/ 364 w 604"/>
                  <a:gd name="T3" fmla="*/ 617 h 1107"/>
                  <a:gd name="T4" fmla="*/ 364 w 604"/>
                  <a:gd name="T5" fmla="*/ 1107 h 1107"/>
                  <a:gd name="T6" fmla="*/ 0 w 604"/>
                  <a:gd name="T7" fmla="*/ 1107 h 1107"/>
                  <a:gd name="T8" fmla="*/ 0 w 604"/>
                  <a:gd name="T9" fmla="*/ 501 h 1107"/>
                  <a:gd name="T10" fmla="*/ 218 w 604"/>
                  <a:gd name="T11" fmla="*/ 264 h 1107"/>
                  <a:gd name="T12" fmla="*/ 173 w 604"/>
                  <a:gd name="T13" fmla="*/ 257 h 1107"/>
                  <a:gd name="T14" fmla="*/ 161 w 604"/>
                  <a:gd name="T15" fmla="*/ 254 h 1107"/>
                  <a:gd name="T16" fmla="*/ 24 w 604"/>
                  <a:gd name="T17" fmla="*/ 42 h 1107"/>
                  <a:gd name="T18" fmla="*/ 60 w 604"/>
                  <a:gd name="T19" fmla="*/ 14 h 1107"/>
                  <a:gd name="T20" fmla="*/ 227 w 604"/>
                  <a:gd name="T21" fmla="*/ 25 h 1107"/>
                  <a:gd name="T22" fmla="*/ 417 w 604"/>
                  <a:gd name="T23" fmla="*/ 5 h 1107"/>
                  <a:gd name="T24" fmla="*/ 489 w 604"/>
                  <a:gd name="T25" fmla="*/ 37 h 1107"/>
                  <a:gd name="T26" fmla="*/ 492 w 604"/>
                  <a:gd name="T27" fmla="*/ 43 h 1107"/>
                  <a:gd name="T28" fmla="*/ 591 w 604"/>
                  <a:gd name="T29" fmla="*/ 211 h 1107"/>
                  <a:gd name="T30" fmla="*/ 589 w 604"/>
                  <a:gd name="T31" fmla="*/ 28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4" h="1107">
                    <a:moveTo>
                      <a:pt x="589" y="283"/>
                    </a:moveTo>
                    <a:lnTo>
                      <a:pt x="364" y="617"/>
                    </a:lnTo>
                    <a:lnTo>
                      <a:pt x="364" y="1107"/>
                    </a:lnTo>
                    <a:lnTo>
                      <a:pt x="0" y="1107"/>
                    </a:lnTo>
                    <a:lnTo>
                      <a:pt x="0" y="501"/>
                    </a:lnTo>
                    <a:cubicBezTo>
                      <a:pt x="24" y="311"/>
                      <a:pt x="218" y="264"/>
                      <a:pt x="218" y="264"/>
                    </a:cubicBezTo>
                    <a:cubicBezTo>
                      <a:pt x="202" y="262"/>
                      <a:pt x="187" y="260"/>
                      <a:pt x="173" y="257"/>
                    </a:cubicBezTo>
                    <a:cubicBezTo>
                      <a:pt x="169" y="256"/>
                      <a:pt x="165" y="255"/>
                      <a:pt x="161" y="254"/>
                    </a:cubicBezTo>
                    <a:cubicBezTo>
                      <a:pt x="18" y="217"/>
                      <a:pt x="16" y="99"/>
                      <a:pt x="24" y="42"/>
                    </a:cubicBezTo>
                    <a:cubicBezTo>
                      <a:pt x="26" y="25"/>
                      <a:pt x="42" y="12"/>
                      <a:pt x="60" y="14"/>
                    </a:cubicBezTo>
                    <a:cubicBezTo>
                      <a:pt x="121" y="22"/>
                      <a:pt x="177" y="25"/>
                      <a:pt x="227" y="25"/>
                    </a:cubicBezTo>
                    <a:cubicBezTo>
                      <a:pt x="310" y="24"/>
                      <a:pt x="376" y="14"/>
                      <a:pt x="417" y="5"/>
                    </a:cubicBezTo>
                    <a:cubicBezTo>
                      <a:pt x="445" y="0"/>
                      <a:pt x="474" y="12"/>
                      <a:pt x="489" y="37"/>
                    </a:cubicBezTo>
                    <a:lnTo>
                      <a:pt x="492" y="43"/>
                    </a:lnTo>
                    <a:lnTo>
                      <a:pt x="591" y="211"/>
                    </a:lnTo>
                    <a:cubicBezTo>
                      <a:pt x="604" y="233"/>
                      <a:pt x="604" y="261"/>
                      <a:pt x="589" y="283"/>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grpSp>
      </p:grpSp>
      <p:pic>
        <p:nvPicPr>
          <p:cNvPr id="6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148" y="2402020"/>
            <a:ext cx="3667896" cy="2876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9" name="Group 68">
            <a:extLst>
              <a:ext uri="{FF2B5EF4-FFF2-40B4-BE49-F238E27FC236}">
                <a16:creationId xmlns="" xmlns:a16="http://schemas.microsoft.com/office/drawing/2014/main" id="{15F311B2-EF63-4794-8453-C957B97D2009}"/>
              </a:ext>
            </a:extLst>
          </p:cNvPr>
          <p:cNvGrpSpPr/>
          <p:nvPr/>
        </p:nvGrpSpPr>
        <p:grpSpPr>
          <a:xfrm rot="5400000" flipH="1">
            <a:off x="5051758" y="4402735"/>
            <a:ext cx="630008" cy="992676"/>
            <a:chOff x="2163029" y="4524231"/>
            <a:chExt cx="860425" cy="1771650"/>
          </a:xfrm>
        </p:grpSpPr>
        <p:sp>
          <p:nvSpPr>
            <p:cNvPr id="70" name="Freeform: Shape 121">
              <a:extLst>
                <a:ext uri="{FF2B5EF4-FFF2-40B4-BE49-F238E27FC236}">
                  <a16:creationId xmlns="" xmlns:a16="http://schemas.microsoft.com/office/drawing/2014/main" id="{2477AC3F-7E5F-44CB-94B3-94F48E586BD0}"/>
                </a:ext>
              </a:extLst>
            </p:cNvPr>
            <p:cNvSpPr>
              <a:spLocks/>
            </p:cNvSpPr>
            <p:nvPr/>
          </p:nvSpPr>
          <p:spPr bwMode="auto">
            <a:xfrm>
              <a:off x="2170845" y="4524231"/>
              <a:ext cx="844793" cy="1481137"/>
            </a:xfrm>
            <a:custGeom>
              <a:avLst/>
              <a:gdLst>
                <a:gd name="connsiteX0" fmla="*/ 638010 w 844793"/>
                <a:gd name="connsiteY0" fmla="*/ 0 h 1481137"/>
                <a:gd name="connsiteX1" fmla="*/ 657681 w 844793"/>
                <a:gd name="connsiteY1" fmla="*/ 2461 h 1481137"/>
                <a:gd name="connsiteX2" fmla="*/ 733906 w 844793"/>
                <a:gd name="connsiteY2" fmla="*/ 90223 h 1481137"/>
                <a:gd name="connsiteX3" fmla="*/ 756036 w 844793"/>
                <a:gd name="connsiteY3" fmla="*/ 854657 h 1481137"/>
                <a:gd name="connsiteX4" fmla="*/ 757323 w 844793"/>
                <a:gd name="connsiteY4" fmla="*/ 901441 h 1481137"/>
                <a:gd name="connsiteX5" fmla="*/ 836993 w 844793"/>
                <a:gd name="connsiteY5" fmla="*/ 1036679 h 1481137"/>
                <a:gd name="connsiteX6" fmla="*/ 835353 w 844793"/>
                <a:gd name="connsiteY6" fmla="*/ 1095739 h 1481137"/>
                <a:gd name="connsiteX7" fmla="*/ 650845 w 844793"/>
                <a:gd name="connsiteY7" fmla="*/ 1369713 h 1481137"/>
                <a:gd name="connsiteX8" fmla="*/ 650845 w 844793"/>
                <a:gd name="connsiteY8" fmla="*/ 1481137 h 1481137"/>
                <a:gd name="connsiteX9" fmla="*/ 237214 w 844793"/>
                <a:gd name="connsiteY9" fmla="*/ 1481137 h 1481137"/>
                <a:gd name="connsiteX10" fmla="*/ 237214 w 844793"/>
                <a:gd name="connsiteY10" fmla="*/ 1384512 h 1481137"/>
                <a:gd name="connsiteX11" fmla="*/ 87222 w 844793"/>
                <a:gd name="connsiteY11" fmla="*/ 1238515 h 1481137"/>
                <a:gd name="connsiteX12" fmla="*/ 42348 w 844793"/>
                <a:gd name="connsiteY12" fmla="*/ 1162748 h 1481137"/>
                <a:gd name="connsiteX13" fmla="*/ 16055 w 844793"/>
                <a:gd name="connsiteY13" fmla="*/ 1073310 h 1481137"/>
                <a:gd name="connsiteX14" fmla="*/ 15915 w 844793"/>
                <a:gd name="connsiteY14" fmla="*/ 1073204 h 1481137"/>
                <a:gd name="connsiteX15" fmla="*/ 240 w 844793"/>
                <a:gd name="connsiteY15" fmla="*/ 877531 h 1481137"/>
                <a:gd name="connsiteX16" fmla="*/ 249 w 844793"/>
                <a:gd name="connsiteY16" fmla="*/ 877341 h 1481137"/>
                <a:gd name="connsiteX17" fmla="*/ 240 w 844793"/>
                <a:gd name="connsiteY17" fmla="*/ 876906 h 1481137"/>
                <a:gd name="connsiteX18" fmla="*/ 6079 w 844793"/>
                <a:gd name="connsiteY18" fmla="*/ 784940 h 1481137"/>
                <a:gd name="connsiteX19" fmla="*/ 6349 w 844793"/>
                <a:gd name="connsiteY19" fmla="*/ 784853 h 1481137"/>
                <a:gd name="connsiteX20" fmla="*/ 9871 w 844793"/>
                <a:gd name="connsiteY20" fmla="*/ 772895 h 1481137"/>
                <a:gd name="connsiteX21" fmla="*/ 104126 w 844793"/>
                <a:gd name="connsiteY21" fmla="*/ 712173 h 1481137"/>
                <a:gd name="connsiteX22" fmla="*/ 144081 w 844793"/>
                <a:gd name="connsiteY22" fmla="*/ 720366 h 1481137"/>
                <a:gd name="connsiteX23" fmla="*/ 144153 w 844793"/>
                <a:gd name="connsiteY23" fmla="*/ 720927 h 1481137"/>
                <a:gd name="connsiteX24" fmla="*/ 144375 w 844793"/>
                <a:gd name="connsiteY24" fmla="*/ 720973 h 1481137"/>
                <a:gd name="connsiteX25" fmla="*/ 150280 w 844793"/>
                <a:gd name="connsiteY25" fmla="*/ 767185 h 1481137"/>
                <a:gd name="connsiteX26" fmla="*/ 150388 w 844793"/>
                <a:gd name="connsiteY26" fmla="*/ 767186 h 1481137"/>
                <a:gd name="connsiteX27" fmla="*/ 144391 w 844793"/>
                <a:gd name="connsiteY27" fmla="*/ 720843 h 1481137"/>
                <a:gd name="connsiteX28" fmla="*/ 216027 w 844793"/>
                <a:gd name="connsiteY28" fmla="*/ 660032 h 1481137"/>
                <a:gd name="connsiteX29" fmla="*/ 276243 w 844793"/>
                <a:gd name="connsiteY29" fmla="*/ 657788 h 1481137"/>
                <a:gd name="connsiteX30" fmla="*/ 276153 w 844793"/>
                <a:gd name="connsiteY30" fmla="*/ 657225 h 1481137"/>
                <a:gd name="connsiteX31" fmla="*/ 318134 w 844793"/>
                <a:gd name="connsiteY31" fmla="*/ 671175 h 1481137"/>
                <a:gd name="connsiteX32" fmla="*/ 318205 w 844793"/>
                <a:gd name="connsiteY32" fmla="*/ 671672 h 1481137"/>
                <a:gd name="connsiteX33" fmla="*/ 318297 w 844793"/>
                <a:gd name="connsiteY33" fmla="*/ 671703 h 1481137"/>
                <a:gd name="connsiteX34" fmla="*/ 332298 w 844793"/>
                <a:gd name="connsiteY34" fmla="*/ 769556 h 1481137"/>
                <a:gd name="connsiteX35" fmla="*/ 332648 w 844793"/>
                <a:gd name="connsiteY35" fmla="*/ 769561 h 1481137"/>
                <a:gd name="connsiteX36" fmla="*/ 319016 w 844793"/>
                <a:gd name="connsiteY36" fmla="*/ 671575 h 1481137"/>
                <a:gd name="connsiteX37" fmla="*/ 488972 w 844793"/>
                <a:gd name="connsiteY37" fmla="*/ 631394 h 1481137"/>
                <a:gd name="connsiteX38" fmla="*/ 528441 w 844793"/>
                <a:gd name="connsiteY38" fmla="*/ 648914 h 1481137"/>
                <a:gd name="connsiteX39" fmla="*/ 542114 w 844793"/>
                <a:gd name="connsiteY39" fmla="*/ 96785 h 1481137"/>
                <a:gd name="connsiteX40" fmla="*/ 638010 w 844793"/>
                <a:gd name="connsiteY40" fmla="*/ 0 h 1481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44793" h="1481137">
                  <a:moveTo>
                    <a:pt x="638010" y="0"/>
                  </a:moveTo>
                  <a:cubicBezTo>
                    <a:pt x="644567" y="0"/>
                    <a:pt x="651124" y="820"/>
                    <a:pt x="657681" y="2461"/>
                  </a:cubicBezTo>
                  <a:cubicBezTo>
                    <a:pt x="698662" y="10663"/>
                    <a:pt x="731447" y="45932"/>
                    <a:pt x="733906" y="90223"/>
                  </a:cubicBezTo>
                  <a:lnTo>
                    <a:pt x="756036" y="854657"/>
                  </a:lnTo>
                  <a:lnTo>
                    <a:pt x="757323" y="901441"/>
                  </a:lnTo>
                  <a:lnTo>
                    <a:pt x="836993" y="1036679"/>
                  </a:lnTo>
                  <a:cubicBezTo>
                    <a:pt x="847653" y="1054725"/>
                    <a:pt x="847653" y="1077693"/>
                    <a:pt x="835353" y="1095739"/>
                  </a:cubicBezTo>
                  <a:lnTo>
                    <a:pt x="650845" y="1369713"/>
                  </a:lnTo>
                  <a:lnTo>
                    <a:pt x="650845" y="1481137"/>
                  </a:lnTo>
                  <a:lnTo>
                    <a:pt x="237214" y="1481137"/>
                  </a:lnTo>
                  <a:lnTo>
                    <a:pt x="237214" y="1384512"/>
                  </a:lnTo>
                  <a:cubicBezTo>
                    <a:pt x="237214" y="1384512"/>
                    <a:pt x="183938" y="1352524"/>
                    <a:pt x="87222" y="1238515"/>
                  </a:cubicBezTo>
                  <a:cubicBezTo>
                    <a:pt x="68781" y="1216779"/>
                    <a:pt x="54028" y="1190943"/>
                    <a:pt x="42348" y="1162748"/>
                  </a:cubicBezTo>
                  <a:lnTo>
                    <a:pt x="16055" y="1073310"/>
                  </a:lnTo>
                  <a:lnTo>
                    <a:pt x="15915" y="1073204"/>
                  </a:lnTo>
                  <a:cubicBezTo>
                    <a:pt x="1572" y="1003986"/>
                    <a:pt x="-887" y="932106"/>
                    <a:pt x="240" y="877531"/>
                  </a:cubicBezTo>
                  <a:lnTo>
                    <a:pt x="249" y="877341"/>
                  </a:lnTo>
                  <a:lnTo>
                    <a:pt x="240" y="876906"/>
                  </a:lnTo>
                  <a:cubicBezTo>
                    <a:pt x="1367" y="822259"/>
                    <a:pt x="6079" y="784940"/>
                    <a:pt x="6079" y="784940"/>
                  </a:cubicBezTo>
                  <a:lnTo>
                    <a:pt x="6349" y="784853"/>
                  </a:lnTo>
                  <a:lnTo>
                    <a:pt x="9871" y="772895"/>
                  </a:lnTo>
                  <a:cubicBezTo>
                    <a:pt x="17898" y="751041"/>
                    <a:pt x="41748" y="707871"/>
                    <a:pt x="104126" y="712173"/>
                  </a:cubicBezTo>
                  <a:cubicBezTo>
                    <a:pt x="115542" y="712992"/>
                    <a:pt x="129404" y="715450"/>
                    <a:pt x="144081" y="720366"/>
                  </a:cubicBezTo>
                  <a:lnTo>
                    <a:pt x="144153" y="720927"/>
                  </a:lnTo>
                  <a:lnTo>
                    <a:pt x="144375" y="720973"/>
                  </a:lnTo>
                  <a:lnTo>
                    <a:pt x="150280" y="767185"/>
                  </a:lnTo>
                  <a:lnTo>
                    <a:pt x="150388" y="767186"/>
                  </a:lnTo>
                  <a:lnTo>
                    <a:pt x="144391" y="720843"/>
                  </a:lnTo>
                  <a:cubicBezTo>
                    <a:pt x="144391" y="720843"/>
                    <a:pt x="165617" y="675235"/>
                    <a:pt x="216027" y="660032"/>
                  </a:cubicBezTo>
                  <a:lnTo>
                    <a:pt x="276243" y="657788"/>
                  </a:lnTo>
                  <a:lnTo>
                    <a:pt x="276153" y="657225"/>
                  </a:lnTo>
                  <a:cubicBezTo>
                    <a:pt x="289323" y="659687"/>
                    <a:pt x="302494" y="664610"/>
                    <a:pt x="318134" y="671175"/>
                  </a:cubicBezTo>
                  <a:lnTo>
                    <a:pt x="318205" y="671672"/>
                  </a:lnTo>
                  <a:lnTo>
                    <a:pt x="318297" y="671703"/>
                  </a:lnTo>
                  <a:lnTo>
                    <a:pt x="332298" y="769556"/>
                  </a:lnTo>
                  <a:lnTo>
                    <a:pt x="332648" y="769561"/>
                  </a:lnTo>
                  <a:lnTo>
                    <a:pt x="319016" y="671575"/>
                  </a:lnTo>
                  <a:cubicBezTo>
                    <a:pt x="319016" y="671575"/>
                    <a:pt x="381932" y="595312"/>
                    <a:pt x="488972" y="631394"/>
                  </a:cubicBezTo>
                  <a:lnTo>
                    <a:pt x="528441" y="648914"/>
                  </a:lnTo>
                  <a:lnTo>
                    <a:pt x="542114" y="96785"/>
                  </a:lnTo>
                  <a:cubicBezTo>
                    <a:pt x="542114" y="43471"/>
                    <a:pt x="584734" y="0"/>
                    <a:pt x="638010" y="0"/>
                  </a:cubicBezTo>
                  <a:close/>
                </a:path>
              </a:pathLst>
            </a:custGeom>
            <a:solidFill>
              <a:srgbClr val="FAB29A"/>
            </a:solidFill>
            <a:ln w="139700">
              <a:solidFill>
                <a:srgbClr val="F0EEEF"/>
              </a:solidFill>
              <a:round/>
              <a:headEnd/>
              <a:tailEnd/>
            </a:ln>
          </p:spPr>
          <p:txBody>
            <a:bodyPr vert="horz" wrap="square" lIns="68580" tIns="34290" rIns="68580" bIns="34290" numCol="1" anchor="t" anchorCtr="0" compatLnSpc="1">
              <a:prstTxWarp prst="textNoShape">
                <a:avLst/>
              </a:prstTxWarp>
              <a:noAutofit/>
            </a:bodyPr>
            <a:lstStyle/>
            <a:p>
              <a:endParaRPr lang="en-US" sz="1350"/>
            </a:p>
          </p:txBody>
        </p:sp>
        <p:grpSp>
          <p:nvGrpSpPr>
            <p:cNvPr id="71" name="Group 70">
              <a:extLst>
                <a:ext uri="{FF2B5EF4-FFF2-40B4-BE49-F238E27FC236}">
                  <a16:creationId xmlns="" xmlns:a16="http://schemas.microsoft.com/office/drawing/2014/main" id="{B04CA1CF-8385-4FEE-A78F-D4117B5CF9CF}"/>
                </a:ext>
              </a:extLst>
            </p:cNvPr>
            <p:cNvGrpSpPr/>
            <p:nvPr/>
          </p:nvGrpSpPr>
          <p:grpSpPr>
            <a:xfrm>
              <a:off x="2163029" y="4524231"/>
              <a:ext cx="860425" cy="1771650"/>
              <a:chOff x="7518400" y="506413"/>
              <a:chExt cx="860425" cy="1771650"/>
            </a:xfrm>
          </p:grpSpPr>
          <p:sp>
            <p:nvSpPr>
              <p:cNvPr id="72" name="Freeform 18">
                <a:extLst>
                  <a:ext uri="{FF2B5EF4-FFF2-40B4-BE49-F238E27FC236}">
                    <a16:creationId xmlns="" xmlns:a16="http://schemas.microsoft.com/office/drawing/2014/main" id="{A4A1AC8F-5CCB-4F98-BB6F-FA2C81EF4535}"/>
                  </a:ext>
                </a:extLst>
              </p:cNvPr>
              <p:cNvSpPr>
                <a:spLocks/>
              </p:cNvSpPr>
              <p:nvPr/>
            </p:nvSpPr>
            <p:spPr bwMode="auto">
              <a:xfrm>
                <a:off x="7518400" y="506413"/>
                <a:ext cx="779463" cy="1771650"/>
              </a:xfrm>
              <a:custGeom>
                <a:avLst/>
                <a:gdLst>
                  <a:gd name="T0" fmla="*/ 943 w 951"/>
                  <a:gd name="T1" fmla="*/ 1230 h 2160"/>
                  <a:gd name="T2" fmla="*/ 945 w 951"/>
                  <a:gd name="T3" fmla="*/ 1289 h 2160"/>
                  <a:gd name="T4" fmla="*/ 919 w 951"/>
                  <a:gd name="T5" fmla="*/ 1286 h 2160"/>
                  <a:gd name="T6" fmla="*/ 713 w 951"/>
                  <a:gd name="T7" fmla="*/ 1766 h 2160"/>
                  <a:gd name="T8" fmla="*/ 544 w 951"/>
                  <a:gd name="T9" fmla="*/ 2160 h 2160"/>
                  <a:gd name="T10" fmla="*/ 305 w 951"/>
                  <a:gd name="T11" fmla="*/ 2160 h 2160"/>
                  <a:gd name="T12" fmla="*/ 305 w 951"/>
                  <a:gd name="T13" fmla="*/ 1688 h 2160"/>
                  <a:gd name="T14" fmla="*/ 122 w 951"/>
                  <a:gd name="T15" fmla="*/ 1510 h 2160"/>
                  <a:gd name="T16" fmla="*/ 35 w 951"/>
                  <a:gd name="T17" fmla="*/ 1308 h 2160"/>
                  <a:gd name="T18" fmla="*/ 23 w 951"/>
                  <a:gd name="T19" fmla="*/ 957 h 2160"/>
                  <a:gd name="T20" fmla="*/ 95 w 951"/>
                  <a:gd name="T21" fmla="*/ 934 h 2160"/>
                  <a:gd name="T22" fmla="*/ 479 w 951"/>
                  <a:gd name="T23" fmla="*/ 939 h 2160"/>
                  <a:gd name="T24" fmla="*/ 474 w 951"/>
                  <a:gd name="T25" fmla="*/ 888 h 2160"/>
                  <a:gd name="T26" fmla="*/ 587 w 951"/>
                  <a:gd name="T27" fmla="*/ 837 h 2160"/>
                  <a:gd name="T28" fmla="*/ 660 w 951"/>
                  <a:gd name="T29" fmla="*/ 804 h 2160"/>
                  <a:gd name="T30" fmla="*/ 677 w 951"/>
                  <a:gd name="T31" fmla="*/ 118 h 2160"/>
                  <a:gd name="T32" fmla="*/ 677 w 951"/>
                  <a:gd name="T33" fmla="*/ 118 h 2160"/>
                  <a:gd name="T34" fmla="*/ 794 w 951"/>
                  <a:gd name="T35" fmla="*/ 0 h 2160"/>
                  <a:gd name="T36" fmla="*/ 818 w 951"/>
                  <a:gd name="T37" fmla="*/ 3 h 2160"/>
                  <a:gd name="T38" fmla="*/ 911 w 951"/>
                  <a:gd name="T39" fmla="*/ 110 h 2160"/>
                  <a:gd name="T40" fmla="*/ 938 w 951"/>
                  <a:gd name="T41" fmla="*/ 1042 h 2160"/>
                  <a:gd name="T42" fmla="*/ 941 w 951"/>
                  <a:gd name="T43" fmla="*/ 1151 h 2160"/>
                  <a:gd name="T44" fmla="*/ 942 w 951"/>
                  <a:gd name="T45" fmla="*/ 1188 h 2160"/>
                  <a:gd name="T46" fmla="*/ 949 w 951"/>
                  <a:gd name="T47" fmla="*/ 1206 h 2160"/>
                  <a:gd name="T48" fmla="*/ 951 w 951"/>
                  <a:gd name="T49" fmla="*/ 1212 h 2160"/>
                  <a:gd name="T50" fmla="*/ 943 w 951"/>
                  <a:gd name="T51" fmla="*/ 123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51" h="2160">
                    <a:moveTo>
                      <a:pt x="943" y="1230"/>
                    </a:moveTo>
                    <a:lnTo>
                      <a:pt x="945" y="1289"/>
                    </a:lnTo>
                    <a:lnTo>
                      <a:pt x="919" y="1286"/>
                    </a:lnTo>
                    <a:lnTo>
                      <a:pt x="713" y="1766"/>
                    </a:lnTo>
                    <a:lnTo>
                      <a:pt x="544" y="2160"/>
                    </a:lnTo>
                    <a:lnTo>
                      <a:pt x="305" y="2160"/>
                    </a:lnTo>
                    <a:lnTo>
                      <a:pt x="305" y="1688"/>
                    </a:lnTo>
                    <a:cubicBezTo>
                      <a:pt x="305" y="1688"/>
                      <a:pt x="240" y="1649"/>
                      <a:pt x="122" y="1510"/>
                    </a:cubicBezTo>
                    <a:cubicBezTo>
                      <a:pt x="77" y="1457"/>
                      <a:pt x="50" y="1384"/>
                      <a:pt x="35" y="1308"/>
                    </a:cubicBezTo>
                    <a:cubicBezTo>
                      <a:pt x="0" y="1139"/>
                      <a:pt x="23" y="957"/>
                      <a:pt x="23" y="957"/>
                    </a:cubicBezTo>
                    <a:lnTo>
                      <a:pt x="95" y="934"/>
                    </a:lnTo>
                    <a:lnTo>
                      <a:pt x="479" y="939"/>
                    </a:lnTo>
                    <a:lnTo>
                      <a:pt x="474" y="888"/>
                    </a:lnTo>
                    <a:lnTo>
                      <a:pt x="587" y="837"/>
                    </a:lnTo>
                    <a:lnTo>
                      <a:pt x="660" y="804"/>
                    </a:lnTo>
                    <a:lnTo>
                      <a:pt x="677" y="118"/>
                    </a:lnTo>
                    <a:lnTo>
                      <a:pt x="677" y="118"/>
                    </a:lnTo>
                    <a:cubicBezTo>
                      <a:pt x="677" y="53"/>
                      <a:pt x="729" y="0"/>
                      <a:pt x="794" y="0"/>
                    </a:cubicBezTo>
                    <a:cubicBezTo>
                      <a:pt x="802" y="0"/>
                      <a:pt x="810" y="1"/>
                      <a:pt x="818" y="3"/>
                    </a:cubicBezTo>
                    <a:cubicBezTo>
                      <a:pt x="868" y="13"/>
                      <a:pt x="908" y="56"/>
                      <a:pt x="911" y="110"/>
                    </a:cubicBezTo>
                    <a:lnTo>
                      <a:pt x="938" y="1042"/>
                    </a:lnTo>
                    <a:lnTo>
                      <a:pt x="941" y="1151"/>
                    </a:lnTo>
                    <a:lnTo>
                      <a:pt x="942" y="1188"/>
                    </a:lnTo>
                    <a:lnTo>
                      <a:pt x="949" y="1206"/>
                    </a:lnTo>
                    <a:lnTo>
                      <a:pt x="951" y="1212"/>
                    </a:lnTo>
                    <a:lnTo>
                      <a:pt x="943" y="1230"/>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73" name="Freeform 19">
                <a:extLst>
                  <a:ext uri="{FF2B5EF4-FFF2-40B4-BE49-F238E27FC236}">
                    <a16:creationId xmlns="" xmlns:a16="http://schemas.microsoft.com/office/drawing/2014/main" id="{29594420-A51E-486E-B78F-CFE1F88FEF40}"/>
                  </a:ext>
                </a:extLst>
              </p:cNvPr>
              <p:cNvSpPr>
                <a:spLocks/>
              </p:cNvSpPr>
              <p:nvPr/>
            </p:nvSpPr>
            <p:spPr bwMode="auto">
              <a:xfrm>
                <a:off x="7518400" y="1193800"/>
                <a:ext cx="779463" cy="793750"/>
              </a:xfrm>
              <a:custGeom>
                <a:avLst/>
                <a:gdLst>
                  <a:gd name="T0" fmla="*/ 943 w 951"/>
                  <a:gd name="T1" fmla="*/ 393 h 969"/>
                  <a:gd name="T2" fmla="*/ 945 w 951"/>
                  <a:gd name="T3" fmla="*/ 452 h 969"/>
                  <a:gd name="T4" fmla="*/ 919 w 951"/>
                  <a:gd name="T5" fmla="*/ 449 h 969"/>
                  <a:gd name="T6" fmla="*/ 713 w 951"/>
                  <a:gd name="T7" fmla="*/ 929 h 969"/>
                  <a:gd name="T8" fmla="*/ 456 w 951"/>
                  <a:gd name="T9" fmla="*/ 890 h 969"/>
                  <a:gd name="T10" fmla="*/ 462 w 951"/>
                  <a:gd name="T11" fmla="*/ 565 h 969"/>
                  <a:gd name="T12" fmla="*/ 35 w 951"/>
                  <a:gd name="T13" fmla="*/ 471 h 969"/>
                  <a:gd name="T14" fmla="*/ 23 w 951"/>
                  <a:gd name="T15" fmla="*/ 120 h 969"/>
                  <a:gd name="T16" fmla="*/ 95 w 951"/>
                  <a:gd name="T17" fmla="*/ 97 h 969"/>
                  <a:gd name="T18" fmla="*/ 479 w 951"/>
                  <a:gd name="T19" fmla="*/ 102 h 969"/>
                  <a:gd name="T20" fmla="*/ 474 w 951"/>
                  <a:gd name="T21" fmla="*/ 51 h 969"/>
                  <a:gd name="T22" fmla="*/ 587 w 951"/>
                  <a:gd name="T23" fmla="*/ 0 h 969"/>
                  <a:gd name="T24" fmla="*/ 564 w 951"/>
                  <a:gd name="T25" fmla="*/ 256 h 969"/>
                  <a:gd name="T26" fmla="*/ 721 w 951"/>
                  <a:gd name="T27" fmla="*/ 332 h 969"/>
                  <a:gd name="T28" fmla="*/ 941 w 951"/>
                  <a:gd name="T29" fmla="*/ 314 h 969"/>
                  <a:gd name="T30" fmla="*/ 942 w 951"/>
                  <a:gd name="T31" fmla="*/ 351 h 969"/>
                  <a:gd name="T32" fmla="*/ 951 w 951"/>
                  <a:gd name="T33" fmla="*/ 375 h 969"/>
                  <a:gd name="T34" fmla="*/ 943 w 951"/>
                  <a:gd name="T35" fmla="*/ 393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1" h="969">
                    <a:moveTo>
                      <a:pt x="943" y="393"/>
                    </a:moveTo>
                    <a:lnTo>
                      <a:pt x="945" y="452"/>
                    </a:lnTo>
                    <a:lnTo>
                      <a:pt x="919" y="449"/>
                    </a:lnTo>
                    <a:lnTo>
                      <a:pt x="713" y="929"/>
                    </a:lnTo>
                    <a:cubicBezTo>
                      <a:pt x="598" y="964"/>
                      <a:pt x="491" y="969"/>
                      <a:pt x="456" y="890"/>
                    </a:cubicBezTo>
                    <a:cubicBezTo>
                      <a:pt x="368" y="693"/>
                      <a:pt x="462" y="565"/>
                      <a:pt x="462" y="565"/>
                    </a:cubicBezTo>
                    <a:cubicBezTo>
                      <a:pt x="204" y="592"/>
                      <a:pt x="83" y="518"/>
                      <a:pt x="35" y="471"/>
                    </a:cubicBezTo>
                    <a:cubicBezTo>
                      <a:pt x="0" y="302"/>
                      <a:pt x="23" y="120"/>
                      <a:pt x="23" y="120"/>
                    </a:cubicBezTo>
                    <a:lnTo>
                      <a:pt x="95" y="97"/>
                    </a:lnTo>
                    <a:lnTo>
                      <a:pt x="479" y="102"/>
                    </a:lnTo>
                    <a:lnTo>
                      <a:pt x="474" y="51"/>
                    </a:lnTo>
                    <a:lnTo>
                      <a:pt x="587" y="0"/>
                    </a:lnTo>
                    <a:lnTo>
                      <a:pt x="564" y="256"/>
                    </a:lnTo>
                    <a:lnTo>
                      <a:pt x="721" y="332"/>
                    </a:lnTo>
                    <a:lnTo>
                      <a:pt x="941" y="314"/>
                    </a:lnTo>
                    <a:lnTo>
                      <a:pt x="942" y="351"/>
                    </a:lnTo>
                    <a:lnTo>
                      <a:pt x="951" y="375"/>
                    </a:lnTo>
                    <a:lnTo>
                      <a:pt x="943" y="393"/>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74" name="Freeform 20">
                <a:extLst>
                  <a:ext uri="{FF2B5EF4-FFF2-40B4-BE49-F238E27FC236}">
                    <a16:creationId xmlns="" xmlns:a16="http://schemas.microsoft.com/office/drawing/2014/main" id="{3AA0C245-FE0F-4A67-AB96-53D2EC378F29}"/>
                  </a:ext>
                </a:extLst>
              </p:cNvPr>
              <p:cNvSpPr>
                <a:spLocks/>
              </p:cNvSpPr>
              <p:nvPr/>
            </p:nvSpPr>
            <p:spPr bwMode="auto">
              <a:xfrm>
                <a:off x="7850188" y="1101725"/>
                <a:ext cx="222250" cy="495300"/>
              </a:xfrm>
              <a:custGeom>
                <a:avLst/>
                <a:gdLst>
                  <a:gd name="T0" fmla="*/ 272 w 272"/>
                  <a:gd name="T1" fmla="*/ 493 h 604"/>
                  <a:gd name="T2" fmla="*/ 229 w 272"/>
                  <a:gd name="T3" fmla="*/ 565 h 604"/>
                  <a:gd name="T4" fmla="*/ 202 w 272"/>
                  <a:gd name="T5" fmla="*/ 582 h 604"/>
                  <a:gd name="T6" fmla="*/ 153 w 272"/>
                  <a:gd name="T7" fmla="*/ 596 h 604"/>
                  <a:gd name="T8" fmla="*/ 54 w 272"/>
                  <a:gd name="T9" fmla="*/ 520 h 604"/>
                  <a:gd name="T10" fmla="*/ 57 w 272"/>
                  <a:gd name="T11" fmla="*/ 492 h 604"/>
                  <a:gd name="T12" fmla="*/ 37 w 272"/>
                  <a:gd name="T13" fmla="*/ 358 h 604"/>
                  <a:gd name="T14" fmla="*/ 0 w 272"/>
                  <a:gd name="T15" fmla="*/ 93 h 604"/>
                  <a:gd name="T16" fmla="*/ 208 w 272"/>
                  <a:gd name="T17" fmla="*/ 44 h 604"/>
                  <a:gd name="T18" fmla="*/ 260 w 272"/>
                  <a:gd name="T19" fmla="*/ 67 h 604"/>
                  <a:gd name="T20" fmla="*/ 267 w 272"/>
                  <a:gd name="T21" fmla="*/ 326 h 604"/>
                  <a:gd name="T22" fmla="*/ 268 w 272"/>
                  <a:gd name="T23" fmla="*/ 353 h 604"/>
                  <a:gd name="T24" fmla="*/ 272 w 272"/>
                  <a:gd name="T25" fmla="*/ 493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2" h="604">
                    <a:moveTo>
                      <a:pt x="272" y="493"/>
                    </a:moveTo>
                    <a:cubicBezTo>
                      <a:pt x="272" y="493"/>
                      <a:pt x="265" y="534"/>
                      <a:pt x="229" y="565"/>
                    </a:cubicBezTo>
                    <a:cubicBezTo>
                      <a:pt x="221" y="571"/>
                      <a:pt x="213" y="577"/>
                      <a:pt x="202" y="582"/>
                    </a:cubicBezTo>
                    <a:cubicBezTo>
                      <a:pt x="189" y="589"/>
                      <a:pt x="173" y="594"/>
                      <a:pt x="153" y="596"/>
                    </a:cubicBezTo>
                    <a:cubicBezTo>
                      <a:pt x="93" y="604"/>
                      <a:pt x="66" y="559"/>
                      <a:pt x="54" y="520"/>
                    </a:cubicBezTo>
                    <a:cubicBezTo>
                      <a:pt x="57" y="504"/>
                      <a:pt x="57" y="492"/>
                      <a:pt x="57" y="492"/>
                    </a:cubicBezTo>
                    <a:lnTo>
                      <a:pt x="37" y="358"/>
                    </a:lnTo>
                    <a:lnTo>
                      <a:pt x="0" y="93"/>
                    </a:lnTo>
                    <a:cubicBezTo>
                      <a:pt x="0" y="93"/>
                      <a:pt x="77" y="0"/>
                      <a:pt x="208" y="44"/>
                    </a:cubicBezTo>
                    <a:cubicBezTo>
                      <a:pt x="224" y="49"/>
                      <a:pt x="241" y="57"/>
                      <a:pt x="260" y="67"/>
                    </a:cubicBezTo>
                    <a:lnTo>
                      <a:pt x="267" y="326"/>
                    </a:lnTo>
                    <a:lnTo>
                      <a:pt x="268" y="353"/>
                    </a:lnTo>
                    <a:lnTo>
                      <a:pt x="272" y="493"/>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75" name="Freeform 21">
                <a:extLst>
                  <a:ext uri="{FF2B5EF4-FFF2-40B4-BE49-F238E27FC236}">
                    <a16:creationId xmlns="" xmlns:a16="http://schemas.microsoft.com/office/drawing/2014/main" id="{8B355E78-9019-4CB1-8844-B15CC0706753}"/>
                  </a:ext>
                </a:extLst>
              </p:cNvPr>
              <p:cNvSpPr>
                <a:spLocks/>
              </p:cNvSpPr>
              <p:nvPr/>
            </p:nvSpPr>
            <p:spPr bwMode="auto">
              <a:xfrm>
                <a:off x="7537450" y="1212850"/>
                <a:ext cx="179388" cy="381000"/>
              </a:xfrm>
              <a:custGeom>
                <a:avLst/>
                <a:gdLst>
                  <a:gd name="T0" fmla="*/ 183 w 220"/>
                  <a:gd name="T1" fmla="*/ 455 h 465"/>
                  <a:gd name="T2" fmla="*/ 125 w 220"/>
                  <a:gd name="T3" fmla="*/ 465 h 465"/>
                  <a:gd name="T4" fmla="*/ 0 w 220"/>
                  <a:gd name="T5" fmla="*/ 96 h 465"/>
                  <a:gd name="T6" fmla="*/ 120 w 220"/>
                  <a:gd name="T7" fmla="*/ 7 h 465"/>
                  <a:gd name="T8" fmla="*/ 169 w 220"/>
                  <a:gd name="T9" fmla="*/ 17 h 465"/>
                  <a:gd name="T10" fmla="*/ 219 w 220"/>
                  <a:gd name="T11" fmla="*/ 404 h 465"/>
                  <a:gd name="T12" fmla="*/ 183 w 220"/>
                  <a:gd name="T13" fmla="*/ 455 h 465"/>
                </a:gdLst>
                <a:ahLst/>
                <a:cxnLst>
                  <a:cxn ang="0">
                    <a:pos x="T0" y="T1"/>
                  </a:cxn>
                  <a:cxn ang="0">
                    <a:pos x="T2" y="T3"/>
                  </a:cxn>
                  <a:cxn ang="0">
                    <a:pos x="T4" y="T5"/>
                  </a:cxn>
                  <a:cxn ang="0">
                    <a:pos x="T6" y="T7"/>
                  </a:cxn>
                  <a:cxn ang="0">
                    <a:pos x="T8" y="T9"/>
                  </a:cxn>
                  <a:cxn ang="0">
                    <a:pos x="T10" y="T11"/>
                  </a:cxn>
                  <a:cxn ang="0">
                    <a:pos x="T12" y="T13"/>
                  </a:cxn>
                </a:cxnLst>
                <a:rect l="0" t="0" r="r" b="b"/>
                <a:pathLst>
                  <a:path w="220" h="465">
                    <a:moveTo>
                      <a:pt x="183" y="455"/>
                    </a:moveTo>
                    <a:cubicBezTo>
                      <a:pt x="169" y="461"/>
                      <a:pt x="151" y="465"/>
                      <a:pt x="125" y="465"/>
                    </a:cubicBezTo>
                    <a:cubicBezTo>
                      <a:pt x="29" y="465"/>
                      <a:pt x="29" y="406"/>
                      <a:pt x="0" y="96"/>
                    </a:cubicBezTo>
                    <a:cubicBezTo>
                      <a:pt x="0" y="96"/>
                      <a:pt x="18" y="0"/>
                      <a:pt x="120" y="7"/>
                    </a:cubicBezTo>
                    <a:cubicBezTo>
                      <a:pt x="134" y="8"/>
                      <a:pt x="151" y="11"/>
                      <a:pt x="169" y="17"/>
                    </a:cubicBezTo>
                    <a:lnTo>
                      <a:pt x="219" y="404"/>
                    </a:lnTo>
                    <a:cubicBezTo>
                      <a:pt x="219" y="404"/>
                      <a:pt x="220" y="437"/>
                      <a:pt x="183" y="455"/>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76" name="Freeform 22">
                <a:extLst>
                  <a:ext uri="{FF2B5EF4-FFF2-40B4-BE49-F238E27FC236}">
                    <a16:creationId xmlns="" xmlns:a16="http://schemas.microsoft.com/office/drawing/2014/main" id="{CC2F3A31-34F9-4057-A249-DB304DF60BFC}"/>
                  </a:ext>
                </a:extLst>
              </p:cNvPr>
              <p:cNvSpPr>
                <a:spLocks/>
              </p:cNvSpPr>
              <p:nvPr/>
            </p:nvSpPr>
            <p:spPr bwMode="auto">
              <a:xfrm>
                <a:off x="7675563" y="1146175"/>
                <a:ext cx="220663" cy="463550"/>
              </a:xfrm>
              <a:custGeom>
                <a:avLst/>
                <a:gdLst>
                  <a:gd name="T0" fmla="*/ 269 w 269"/>
                  <a:gd name="T1" fmla="*/ 438 h 566"/>
                  <a:gd name="T2" fmla="*/ 241 w 269"/>
                  <a:gd name="T3" fmla="*/ 525 h 566"/>
                  <a:gd name="T4" fmla="*/ 190 w 269"/>
                  <a:gd name="T5" fmla="*/ 554 h 566"/>
                  <a:gd name="T6" fmla="*/ 50 w 269"/>
                  <a:gd name="T7" fmla="*/ 486 h 566"/>
                  <a:gd name="T8" fmla="*/ 0 w 269"/>
                  <a:gd name="T9" fmla="*/ 99 h 566"/>
                  <a:gd name="T10" fmla="*/ 161 w 269"/>
                  <a:gd name="T11" fmla="*/ 22 h 566"/>
                  <a:gd name="T12" fmla="*/ 212 w 269"/>
                  <a:gd name="T13" fmla="*/ 39 h 566"/>
                  <a:gd name="T14" fmla="*/ 269 w 269"/>
                  <a:gd name="T15" fmla="*/ 438 h 5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9" h="566">
                    <a:moveTo>
                      <a:pt x="269" y="438"/>
                    </a:moveTo>
                    <a:cubicBezTo>
                      <a:pt x="269" y="438"/>
                      <a:pt x="269" y="490"/>
                      <a:pt x="241" y="525"/>
                    </a:cubicBezTo>
                    <a:cubicBezTo>
                      <a:pt x="229" y="539"/>
                      <a:pt x="213" y="550"/>
                      <a:pt x="190" y="554"/>
                    </a:cubicBezTo>
                    <a:cubicBezTo>
                      <a:pt x="118" y="566"/>
                      <a:pt x="72" y="546"/>
                      <a:pt x="50" y="486"/>
                    </a:cubicBezTo>
                    <a:lnTo>
                      <a:pt x="0" y="99"/>
                    </a:lnTo>
                    <a:cubicBezTo>
                      <a:pt x="0" y="99"/>
                      <a:pt x="46" y="0"/>
                      <a:pt x="161" y="22"/>
                    </a:cubicBezTo>
                    <a:cubicBezTo>
                      <a:pt x="177" y="25"/>
                      <a:pt x="193" y="31"/>
                      <a:pt x="212" y="39"/>
                    </a:cubicBezTo>
                    <a:lnTo>
                      <a:pt x="269" y="438"/>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77" name="Freeform 23">
                <a:extLst>
                  <a:ext uri="{FF2B5EF4-FFF2-40B4-BE49-F238E27FC236}">
                    <a16:creationId xmlns="" xmlns:a16="http://schemas.microsoft.com/office/drawing/2014/main" id="{CC482A4A-473B-4C02-9628-E25A23DA9DFF}"/>
                  </a:ext>
                </a:extLst>
              </p:cNvPr>
              <p:cNvSpPr>
                <a:spLocks/>
              </p:cNvSpPr>
              <p:nvPr/>
            </p:nvSpPr>
            <p:spPr bwMode="auto">
              <a:xfrm>
                <a:off x="7880350" y="1358900"/>
                <a:ext cx="406400" cy="238125"/>
              </a:xfrm>
              <a:custGeom>
                <a:avLst/>
                <a:gdLst>
                  <a:gd name="T0" fmla="*/ 496 w 496"/>
                  <a:gd name="T1" fmla="*/ 62 h 291"/>
                  <a:gd name="T2" fmla="*/ 453 w 496"/>
                  <a:gd name="T3" fmla="*/ 131 h 291"/>
                  <a:gd name="T4" fmla="*/ 300 w 496"/>
                  <a:gd name="T5" fmla="*/ 277 h 291"/>
                  <a:gd name="T6" fmla="*/ 231 w 496"/>
                  <a:gd name="T7" fmla="*/ 204 h 291"/>
                  <a:gd name="T8" fmla="*/ 196 w 496"/>
                  <a:gd name="T9" fmla="*/ 258 h 291"/>
                  <a:gd name="T10" fmla="*/ 177 w 496"/>
                  <a:gd name="T11" fmla="*/ 272 h 291"/>
                  <a:gd name="T12" fmla="*/ 165 w 496"/>
                  <a:gd name="T13" fmla="*/ 269 h 291"/>
                  <a:gd name="T14" fmla="*/ 116 w 496"/>
                  <a:gd name="T15" fmla="*/ 283 h 291"/>
                  <a:gd name="T16" fmla="*/ 17 w 496"/>
                  <a:gd name="T17" fmla="*/ 207 h 291"/>
                  <a:gd name="T18" fmla="*/ 20 w 496"/>
                  <a:gd name="T19" fmla="*/ 179 h 291"/>
                  <a:gd name="T20" fmla="*/ 0 w 496"/>
                  <a:gd name="T21" fmla="*/ 45 h 291"/>
                  <a:gd name="T22" fmla="*/ 10 w 496"/>
                  <a:gd name="T23" fmla="*/ 20 h 291"/>
                  <a:gd name="T24" fmla="*/ 42 w 496"/>
                  <a:gd name="T25" fmla="*/ 2 h 291"/>
                  <a:gd name="T26" fmla="*/ 203 w 496"/>
                  <a:gd name="T27" fmla="*/ 13 h 291"/>
                  <a:gd name="T28" fmla="*/ 214 w 496"/>
                  <a:gd name="T29" fmla="*/ 13 h 291"/>
                  <a:gd name="T30" fmla="*/ 230 w 496"/>
                  <a:gd name="T31" fmla="*/ 13 h 291"/>
                  <a:gd name="T32" fmla="*/ 431 w 496"/>
                  <a:gd name="T33" fmla="*/ 5 h 291"/>
                  <a:gd name="T34" fmla="*/ 444 w 496"/>
                  <a:gd name="T35" fmla="*/ 6 h 291"/>
                  <a:gd name="T36" fmla="*/ 496 w 496"/>
                  <a:gd name="T37" fmla="*/ 58 h 291"/>
                  <a:gd name="T38" fmla="*/ 496 w 496"/>
                  <a:gd name="T39" fmla="*/ 6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6" h="291">
                    <a:moveTo>
                      <a:pt x="496" y="62"/>
                    </a:moveTo>
                    <a:cubicBezTo>
                      <a:pt x="496" y="62"/>
                      <a:pt x="481" y="92"/>
                      <a:pt x="453" y="131"/>
                    </a:cubicBezTo>
                    <a:cubicBezTo>
                      <a:pt x="419" y="178"/>
                      <a:pt x="366" y="239"/>
                      <a:pt x="300" y="277"/>
                    </a:cubicBezTo>
                    <a:cubicBezTo>
                      <a:pt x="276" y="268"/>
                      <a:pt x="252" y="245"/>
                      <a:pt x="231" y="204"/>
                    </a:cubicBezTo>
                    <a:cubicBezTo>
                      <a:pt x="226" y="217"/>
                      <a:pt x="216" y="239"/>
                      <a:pt x="196" y="258"/>
                    </a:cubicBezTo>
                    <a:cubicBezTo>
                      <a:pt x="191" y="263"/>
                      <a:pt x="184" y="268"/>
                      <a:pt x="177" y="272"/>
                    </a:cubicBezTo>
                    <a:cubicBezTo>
                      <a:pt x="173" y="271"/>
                      <a:pt x="169" y="270"/>
                      <a:pt x="165" y="269"/>
                    </a:cubicBezTo>
                    <a:cubicBezTo>
                      <a:pt x="152" y="276"/>
                      <a:pt x="136" y="281"/>
                      <a:pt x="116" y="283"/>
                    </a:cubicBezTo>
                    <a:cubicBezTo>
                      <a:pt x="56" y="291"/>
                      <a:pt x="29" y="246"/>
                      <a:pt x="17" y="207"/>
                    </a:cubicBezTo>
                    <a:cubicBezTo>
                      <a:pt x="20" y="191"/>
                      <a:pt x="20" y="179"/>
                      <a:pt x="20" y="179"/>
                    </a:cubicBezTo>
                    <a:lnTo>
                      <a:pt x="0" y="45"/>
                    </a:lnTo>
                    <a:cubicBezTo>
                      <a:pt x="3" y="35"/>
                      <a:pt x="7" y="27"/>
                      <a:pt x="10" y="20"/>
                    </a:cubicBezTo>
                    <a:cubicBezTo>
                      <a:pt x="15" y="8"/>
                      <a:pt x="28" y="0"/>
                      <a:pt x="42" y="2"/>
                    </a:cubicBezTo>
                    <a:cubicBezTo>
                      <a:pt x="103" y="8"/>
                      <a:pt x="156" y="11"/>
                      <a:pt x="203" y="13"/>
                    </a:cubicBezTo>
                    <a:cubicBezTo>
                      <a:pt x="207" y="13"/>
                      <a:pt x="211" y="13"/>
                      <a:pt x="214" y="13"/>
                    </a:cubicBezTo>
                    <a:cubicBezTo>
                      <a:pt x="220" y="13"/>
                      <a:pt x="225" y="13"/>
                      <a:pt x="230" y="13"/>
                    </a:cubicBezTo>
                    <a:cubicBezTo>
                      <a:pt x="326" y="14"/>
                      <a:pt x="389" y="6"/>
                      <a:pt x="431" y="5"/>
                    </a:cubicBezTo>
                    <a:cubicBezTo>
                      <a:pt x="436" y="5"/>
                      <a:pt x="440" y="5"/>
                      <a:pt x="444" y="6"/>
                    </a:cubicBezTo>
                    <a:cubicBezTo>
                      <a:pt x="488" y="11"/>
                      <a:pt x="495" y="46"/>
                      <a:pt x="496" y="58"/>
                    </a:cubicBezTo>
                    <a:cubicBezTo>
                      <a:pt x="496" y="61"/>
                      <a:pt x="496" y="62"/>
                      <a:pt x="496" y="62"/>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78" name="Freeform 24">
                <a:extLst>
                  <a:ext uri="{FF2B5EF4-FFF2-40B4-BE49-F238E27FC236}">
                    <a16:creationId xmlns="" xmlns:a16="http://schemas.microsoft.com/office/drawing/2014/main" id="{E4FC746B-4A87-4B22-89FA-43BC87ACE4FA}"/>
                  </a:ext>
                </a:extLst>
              </p:cNvPr>
              <p:cNvSpPr>
                <a:spLocks/>
              </p:cNvSpPr>
              <p:nvPr/>
            </p:nvSpPr>
            <p:spPr bwMode="auto">
              <a:xfrm>
                <a:off x="7807325" y="1163638"/>
                <a:ext cx="88900" cy="412750"/>
              </a:xfrm>
              <a:custGeom>
                <a:avLst/>
                <a:gdLst>
                  <a:gd name="T0" fmla="*/ 108 w 108"/>
                  <a:gd name="T1" fmla="*/ 416 h 503"/>
                  <a:gd name="T2" fmla="*/ 80 w 108"/>
                  <a:gd name="T3" fmla="*/ 503 h 503"/>
                  <a:gd name="T4" fmla="*/ 0 w 108"/>
                  <a:gd name="T5" fmla="*/ 0 h 503"/>
                  <a:gd name="T6" fmla="*/ 51 w 108"/>
                  <a:gd name="T7" fmla="*/ 17 h 503"/>
                  <a:gd name="T8" fmla="*/ 108 w 108"/>
                  <a:gd name="T9" fmla="*/ 416 h 503"/>
                </a:gdLst>
                <a:ahLst/>
                <a:cxnLst>
                  <a:cxn ang="0">
                    <a:pos x="T0" y="T1"/>
                  </a:cxn>
                  <a:cxn ang="0">
                    <a:pos x="T2" y="T3"/>
                  </a:cxn>
                  <a:cxn ang="0">
                    <a:pos x="T4" y="T5"/>
                  </a:cxn>
                  <a:cxn ang="0">
                    <a:pos x="T6" y="T7"/>
                  </a:cxn>
                  <a:cxn ang="0">
                    <a:pos x="T8" y="T9"/>
                  </a:cxn>
                </a:cxnLst>
                <a:rect l="0" t="0" r="r" b="b"/>
                <a:pathLst>
                  <a:path w="108" h="503">
                    <a:moveTo>
                      <a:pt x="108" y="416"/>
                    </a:moveTo>
                    <a:cubicBezTo>
                      <a:pt x="108" y="416"/>
                      <a:pt x="108" y="468"/>
                      <a:pt x="80" y="503"/>
                    </a:cubicBezTo>
                    <a:lnTo>
                      <a:pt x="0" y="0"/>
                    </a:lnTo>
                    <a:cubicBezTo>
                      <a:pt x="16" y="3"/>
                      <a:pt x="32" y="9"/>
                      <a:pt x="51" y="17"/>
                    </a:cubicBezTo>
                    <a:lnTo>
                      <a:pt x="108" y="416"/>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79" name="Freeform 25">
                <a:extLst>
                  <a:ext uri="{FF2B5EF4-FFF2-40B4-BE49-F238E27FC236}">
                    <a16:creationId xmlns="" xmlns:a16="http://schemas.microsoft.com/office/drawing/2014/main" id="{60561301-B2B8-4D5F-85DF-54408C69ACDF}"/>
                  </a:ext>
                </a:extLst>
              </p:cNvPr>
              <p:cNvSpPr>
                <a:spLocks/>
              </p:cNvSpPr>
              <p:nvPr/>
            </p:nvSpPr>
            <p:spPr bwMode="auto">
              <a:xfrm>
                <a:off x="7635875" y="1219200"/>
                <a:ext cx="80963" cy="366713"/>
              </a:xfrm>
              <a:custGeom>
                <a:avLst/>
                <a:gdLst>
                  <a:gd name="T0" fmla="*/ 63 w 100"/>
                  <a:gd name="T1" fmla="*/ 448 h 448"/>
                  <a:gd name="T2" fmla="*/ 0 w 100"/>
                  <a:gd name="T3" fmla="*/ 0 h 448"/>
                  <a:gd name="T4" fmla="*/ 49 w 100"/>
                  <a:gd name="T5" fmla="*/ 10 h 448"/>
                  <a:gd name="T6" fmla="*/ 99 w 100"/>
                  <a:gd name="T7" fmla="*/ 397 h 448"/>
                  <a:gd name="T8" fmla="*/ 63 w 100"/>
                  <a:gd name="T9" fmla="*/ 448 h 448"/>
                </a:gdLst>
                <a:ahLst/>
                <a:cxnLst>
                  <a:cxn ang="0">
                    <a:pos x="T0" y="T1"/>
                  </a:cxn>
                  <a:cxn ang="0">
                    <a:pos x="T2" y="T3"/>
                  </a:cxn>
                  <a:cxn ang="0">
                    <a:pos x="T4" y="T5"/>
                  </a:cxn>
                  <a:cxn ang="0">
                    <a:pos x="T6" y="T7"/>
                  </a:cxn>
                  <a:cxn ang="0">
                    <a:pos x="T8" y="T9"/>
                  </a:cxn>
                </a:cxnLst>
                <a:rect l="0" t="0" r="r" b="b"/>
                <a:pathLst>
                  <a:path w="100" h="448">
                    <a:moveTo>
                      <a:pt x="63" y="448"/>
                    </a:moveTo>
                    <a:lnTo>
                      <a:pt x="0" y="0"/>
                    </a:lnTo>
                    <a:cubicBezTo>
                      <a:pt x="14" y="1"/>
                      <a:pt x="31" y="4"/>
                      <a:pt x="49" y="10"/>
                    </a:cubicBezTo>
                    <a:lnTo>
                      <a:pt x="99" y="397"/>
                    </a:lnTo>
                    <a:cubicBezTo>
                      <a:pt x="99" y="397"/>
                      <a:pt x="100" y="430"/>
                      <a:pt x="63" y="448"/>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80" name="Freeform 26">
                <a:extLst>
                  <a:ext uri="{FF2B5EF4-FFF2-40B4-BE49-F238E27FC236}">
                    <a16:creationId xmlns="" xmlns:a16="http://schemas.microsoft.com/office/drawing/2014/main" id="{82704B85-F4D7-4FD1-8A20-C64D252E7F40}"/>
                  </a:ext>
                </a:extLst>
              </p:cNvPr>
              <p:cNvSpPr>
                <a:spLocks/>
              </p:cNvSpPr>
              <p:nvPr/>
            </p:nvSpPr>
            <p:spPr bwMode="auto">
              <a:xfrm>
                <a:off x="8020050" y="1138238"/>
                <a:ext cx="52388" cy="427038"/>
              </a:xfrm>
              <a:custGeom>
                <a:avLst/>
                <a:gdLst>
                  <a:gd name="T0" fmla="*/ 64 w 64"/>
                  <a:gd name="T1" fmla="*/ 449 h 521"/>
                  <a:gd name="T2" fmla="*/ 21 w 64"/>
                  <a:gd name="T3" fmla="*/ 521 h 521"/>
                  <a:gd name="T4" fmla="*/ 0 w 64"/>
                  <a:gd name="T5" fmla="*/ 0 h 521"/>
                  <a:gd name="T6" fmla="*/ 52 w 64"/>
                  <a:gd name="T7" fmla="*/ 23 h 521"/>
                  <a:gd name="T8" fmla="*/ 64 w 64"/>
                  <a:gd name="T9" fmla="*/ 449 h 521"/>
                </a:gdLst>
                <a:ahLst/>
                <a:cxnLst>
                  <a:cxn ang="0">
                    <a:pos x="T0" y="T1"/>
                  </a:cxn>
                  <a:cxn ang="0">
                    <a:pos x="T2" y="T3"/>
                  </a:cxn>
                  <a:cxn ang="0">
                    <a:pos x="T4" y="T5"/>
                  </a:cxn>
                  <a:cxn ang="0">
                    <a:pos x="T6" y="T7"/>
                  </a:cxn>
                  <a:cxn ang="0">
                    <a:pos x="T8" y="T9"/>
                  </a:cxn>
                </a:cxnLst>
                <a:rect l="0" t="0" r="r" b="b"/>
                <a:pathLst>
                  <a:path w="64" h="521">
                    <a:moveTo>
                      <a:pt x="64" y="449"/>
                    </a:moveTo>
                    <a:cubicBezTo>
                      <a:pt x="64" y="449"/>
                      <a:pt x="57" y="490"/>
                      <a:pt x="21" y="521"/>
                    </a:cubicBezTo>
                    <a:lnTo>
                      <a:pt x="0" y="0"/>
                    </a:lnTo>
                    <a:cubicBezTo>
                      <a:pt x="16" y="5"/>
                      <a:pt x="33" y="13"/>
                      <a:pt x="52" y="23"/>
                    </a:cubicBezTo>
                    <a:lnTo>
                      <a:pt x="64" y="449"/>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81" name="Freeform 27">
                <a:extLst>
                  <a:ext uri="{FF2B5EF4-FFF2-40B4-BE49-F238E27FC236}">
                    <a16:creationId xmlns="" xmlns:a16="http://schemas.microsoft.com/office/drawing/2014/main" id="{8812821E-CCD5-43D5-8355-E98BD8E72442}"/>
                  </a:ext>
                </a:extLst>
              </p:cNvPr>
              <p:cNvSpPr>
                <a:spLocks/>
              </p:cNvSpPr>
              <p:nvPr/>
            </p:nvSpPr>
            <p:spPr bwMode="auto">
              <a:xfrm>
                <a:off x="7883525" y="1370013"/>
                <a:ext cx="495300" cy="908050"/>
              </a:xfrm>
              <a:custGeom>
                <a:avLst/>
                <a:gdLst>
                  <a:gd name="T0" fmla="*/ 589 w 604"/>
                  <a:gd name="T1" fmla="*/ 283 h 1107"/>
                  <a:gd name="T2" fmla="*/ 364 w 604"/>
                  <a:gd name="T3" fmla="*/ 617 h 1107"/>
                  <a:gd name="T4" fmla="*/ 364 w 604"/>
                  <a:gd name="T5" fmla="*/ 1107 h 1107"/>
                  <a:gd name="T6" fmla="*/ 0 w 604"/>
                  <a:gd name="T7" fmla="*/ 1107 h 1107"/>
                  <a:gd name="T8" fmla="*/ 0 w 604"/>
                  <a:gd name="T9" fmla="*/ 501 h 1107"/>
                  <a:gd name="T10" fmla="*/ 218 w 604"/>
                  <a:gd name="T11" fmla="*/ 264 h 1107"/>
                  <a:gd name="T12" fmla="*/ 173 w 604"/>
                  <a:gd name="T13" fmla="*/ 257 h 1107"/>
                  <a:gd name="T14" fmla="*/ 161 w 604"/>
                  <a:gd name="T15" fmla="*/ 254 h 1107"/>
                  <a:gd name="T16" fmla="*/ 24 w 604"/>
                  <a:gd name="T17" fmla="*/ 42 h 1107"/>
                  <a:gd name="T18" fmla="*/ 60 w 604"/>
                  <a:gd name="T19" fmla="*/ 14 h 1107"/>
                  <a:gd name="T20" fmla="*/ 227 w 604"/>
                  <a:gd name="T21" fmla="*/ 25 h 1107"/>
                  <a:gd name="T22" fmla="*/ 417 w 604"/>
                  <a:gd name="T23" fmla="*/ 5 h 1107"/>
                  <a:gd name="T24" fmla="*/ 489 w 604"/>
                  <a:gd name="T25" fmla="*/ 37 h 1107"/>
                  <a:gd name="T26" fmla="*/ 492 w 604"/>
                  <a:gd name="T27" fmla="*/ 43 h 1107"/>
                  <a:gd name="T28" fmla="*/ 591 w 604"/>
                  <a:gd name="T29" fmla="*/ 211 h 1107"/>
                  <a:gd name="T30" fmla="*/ 589 w 604"/>
                  <a:gd name="T31" fmla="*/ 28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4" h="1107">
                    <a:moveTo>
                      <a:pt x="589" y="283"/>
                    </a:moveTo>
                    <a:lnTo>
                      <a:pt x="364" y="617"/>
                    </a:lnTo>
                    <a:lnTo>
                      <a:pt x="364" y="1107"/>
                    </a:lnTo>
                    <a:lnTo>
                      <a:pt x="0" y="1107"/>
                    </a:lnTo>
                    <a:lnTo>
                      <a:pt x="0" y="501"/>
                    </a:lnTo>
                    <a:cubicBezTo>
                      <a:pt x="24" y="311"/>
                      <a:pt x="218" y="264"/>
                      <a:pt x="218" y="264"/>
                    </a:cubicBezTo>
                    <a:cubicBezTo>
                      <a:pt x="202" y="262"/>
                      <a:pt x="187" y="260"/>
                      <a:pt x="173" y="257"/>
                    </a:cubicBezTo>
                    <a:cubicBezTo>
                      <a:pt x="169" y="256"/>
                      <a:pt x="165" y="255"/>
                      <a:pt x="161" y="254"/>
                    </a:cubicBezTo>
                    <a:cubicBezTo>
                      <a:pt x="18" y="217"/>
                      <a:pt x="16" y="99"/>
                      <a:pt x="24" y="42"/>
                    </a:cubicBezTo>
                    <a:cubicBezTo>
                      <a:pt x="26" y="25"/>
                      <a:pt x="42" y="12"/>
                      <a:pt x="60" y="14"/>
                    </a:cubicBezTo>
                    <a:cubicBezTo>
                      <a:pt x="121" y="22"/>
                      <a:pt x="177" y="25"/>
                      <a:pt x="227" y="25"/>
                    </a:cubicBezTo>
                    <a:cubicBezTo>
                      <a:pt x="310" y="24"/>
                      <a:pt x="376" y="14"/>
                      <a:pt x="417" y="5"/>
                    </a:cubicBezTo>
                    <a:cubicBezTo>
                      <a:pt x="445" y="0"/>
                      <a:pt x="474" y="12"/>
                      <a:pt x="489" y="37"/>
                    </a:cubicBezTo>
                    <a:lnTo>
                      <a:pt x="492" y="43"/>
                    </a:lnTo>
                    <a:lnTo>
                      <a:pt x="591" y="211"/>
                    </a:lnTo>
                    <a:cubicBezTo>
                      <a:pt x="604" y="233"/>
                      <a:pt x="604" y="261"/>
                      <a:pt x="589" y="283"/>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grpSp>
      </p:grpSp>
      <p:pic>
        <p:nvPicPr>
          <p:cNvPr id="82"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0665689">
            <a:off x="1533538" y="2089318"/>
            <a:ext cx="3066364" cy="3614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3" name="Group 82">
            <a:extLst>
              <a:ext uri="{FF2B5EF4-FFF2-40B4-BE49-F238E27FC236}">
                <a16:creationId xmlns="" xmlns:a16="http://schemas.microsoft.com/office/drawing/2014/main" id="{15F311B2-EF63-4794-8453-C957B97D2009}"/>
              </a:ext>
            </a:extLst>
          </p:cNvPr>
          <p:cNvGrpSpPr/>
          <p:nvPr/>
        </p:nvGrpSpPr>
        <p:grpSpPr>
          <a:xfrm rot="5400000" flipH="1">
            <a:off x="5051758" y="5269037"/>
            <a:ext cx="630008" cy="992676"/>
            <a:chOff x="2163029" y="4524231"/>
            <a:chExt cx="860425" cy="1771650"/>
          </a:xfrm>
        </p:grpSpPr>
        <p:sp>
          <p:nvSpPr>
            <p:cNvPr id="84" name="Freeform: Shape 121">
              <a:extLst>
                <a:ext uri="{FF2B5EF4-FFF2-40B4-BE49-F238E27FC236}">
                  <a16:creationId xmlns="" xmlns:a16="http://schemas.microsoft.com/office/drawing/2014/main" id="{2477AC3F-7E5F-44CB-94B3-94F48E586BD0}"/>
                </a:ext>
              </a:extLst>
            </p:cNvPr>
            <p:cNvSpPr>
              <a:spLocks/>
            </p:cNvSpPr>
            <p:nvPr/>
          </p:nvSpPr>
          <p:spPr bwMode="auto">
            <a:xfrm>
              <a:off x="2170845" y="4524231"/>
              <a:ext cx="844793" cy="1481137"/>
            </a:xfrm>
            <a:custGeom>
              <a:avLst/>
              <a:gdLst>
                <a:gd name="connsiteX0" fmla="*/ 638010 w 844793"/>
                <a:gd name="connsiteY0" fmla="*/ 0 h 1481137"/>
                <a:gd name="connsiteX1" fmla="*/ 657681 w 844793"/>
                <a:gd name="connsiteY1" fmla="*/ 2461 h 1481137"/>
                <a:gd name="connsiteX2" fmla="*/ 733906 w 844793"/>
                <a:gd name="connsiteY2" fmla="*/ 90223 h 1481137"/>
                <a:gd name="connsiteX3" fmla="*/ 756036 w 844793"/>
                <a:gd name="connsiteY3" fmla="*/ 854657 h 1481137"/>
                <a:gd name="connsiteX4" fmla="*/ 757323 w 844793"/>
                <a:gd name="connsiteY4" fmla="*/ 901441 h 1481137"/>
                <a:gd name="connsiteX5" fmla="*/ 836993 w 844793"/>
                <a:gd name="connsiteY5" fmla="*/ 1036679 h 1481137"/>
                <a:gd name="connsiteX6" fmla="*/ 835353 w 844793"/>
                <a:gd name="connsiteY6" fmla="*/ 1095739 h 1481137"/>
                <a:gd name="connsiteX7" fmla="*/ 650845 w 844793"/>
                <a:gd name="connsiteY7" fmla="*/ 1369713 h 1481137"/>
                <a:gd name="connsiteX8" fmla="*/ 650845 w 844793"/>
                <a:gd name="connsiteY8" fmla="*/ 1481137 h 1481137"/>
                <a:gd name="connsiteX9" fmla="*/ 237214 w 844793"/>
                <a:gd name="connsiteY9" fmla="*/ 1481137 h 1481137"/>
                <a:gd name="connsiteX10" fmla="*/ 237214 w 844793"/>
                <a:gd name="connsiteY10" fmla="*/ 1384512 h 1481137"/>
                <a:gd name="connsiteX11" fmla="*/ 87222 w 844793"/>
                <a:gd name="connsiteY11" fmla="*/ 1238515 h 1481137"/>
                <a:gd name="connsiteX12" fmla="*/ 42348 w 844793"/>
                <a:gd name="connsiteY12" fmla="*/ 1162748 h 1481137"/>
                <a:gd name="connsiteX13" fmla="*/ 16055 w 844793"/>
                <a:gd name="connsiteY13" fmla="*/ 1073310 h 1481137"/>
                <a:gd name="connsiteX14" fmla="*/ 15915 w 844793"/>
                <a:gd name="connsiteY14" fmla="*/ 1073204 h 1481137"/>
                <a:gd name="connsiteX15" fmla="*/ 240 w 844793"/>
                <a:gd name="connsiteY15" fmla="*/ 877531 h 1481137"/>
                <a:gd name="connsiteX16" fmla="*/ 249 w 844793"/>
                <a:gd name="connsiteY16" fmla="*/ 877341 h 1481137"/>
                <a:gd name="connsiteX17" fmla="*/ 240 w 844793"/>
                <a:gd name="connsiteY17" fmla="*/ 876906 h 1481137"/>
                <a:gd name="connsiteX18" fmla="*/ 6079 w 844793"/>
                <a:gd name="connsiteY18" fmla="*/ 784940 h 1481137"/>
                <a:gd name="connsiteX19" fmla="*/ 6349 w 844793"/>
                <a:gd name="connsiteY19" fmla="*/ 784853 h 1481137"/>
                <a:gd name="connsiteX20" fmla="*/ 9871 w 844793"/>
                <a:gd name="connsiteY20" fmla="*/ 772895 h 1481137"/>
                <a:gd name="connsiteX21" fmla="*/ 104126 w 844793"/>
                <a:gd name="connsiteY21" fmla="*/ 712173 h 1481137"/>
                <a:gd name="connsiteX22" fmla="*/ 144081 w 844793"/>
                <a:gd name="connsiteY22" fmla="*/ 720366 h 1481137"/>
                <a:gd name="connsiteX23" fmla="*/ 144153 w 844793"/>
                <a:gd name="connsiteY23" fmla="*/ 720927 h 1481137"/>
                <a:gd name="connsiteX24" fmla="*/ 144375 w 844793"/>
                <a:gd name="connsiteY24" fmla="*/ 720973 h 1481137"/>
                <a:gd name="connsiteX25" fmla="*/ 150280 w 844793"/>
                <a:gd name="connsiteY25" fmla="*/ 767185 h 1481137"/>
                <a:gd name="connsiteX26" fmla="*/ 150388 w 844793"/>
                <a:gd name="connsiteY26" fmla="*/ 767186 h 1481137"/>
                <a:gd name="connsiteX27" fmla="*/ 144391 w 844793"/>
                <a:gd name="connsiteY27" fmla="*/ 720843 h 1481137"/>
                <a:gd name="connsiteX28" fmla="*/ 216027 w 844793"/>
                <a:gd name="connsiteY28" fmla="*/ 660032 h 1481137"/>
                <a:gd name="connsiteX29" fmla="*/ 276243 w 844793"/>
                <a:gd name="connsiteY29" fmla="*/ 657788 h 1481137"/>
                <a:gd name="connsiteX30" fmla="*/ 276153 w 844793"/>
                <a:gd name="connsiteY30" fmla="*/ 657225 h 1481137"/>
                <a:gd name="connsiteX31" fmla="*/ 318134 w 844793"/>
                <a:gd name="connsiteY31" fmla="*/ 671175 h 1481137"/>
                <a:gd name="connsiteX32" fmla="*/ 318205 w 844793"/>
                <a:gd name="connsiteY32" fmla="*/ 671672 h 1481137"/>
                <a:gd name="connsiteX33" fmla="*/ 318297 w 844793"/>
                <a:gd name="connsiteY33" fmla="*/ 671703 h 1481137"/>
                <a:gd name="connsiteX34" fmla="*/ 332298 w 844793"/>
                <a:gd name="connsiteY34" fmla="*/ 769556 h 1481137"/>
                <a:gd name="connsiteX35" fmla="*/ 332648 w 844793"/>
                <a:gd name="connsiteY35" fmla="*/ 769561 h 1481137"/>
                <a:gd name="connsiteX36" fmla="*/ 319016 w 844793"/>
                <a:gd name="connsiteY36" fmla="*/ 671575 h 1481137"/>
                <a:gd name="connsiteX37" fmla="*/ 488972 w 844793"/>
                <a:gd name="connsiteY37" fmla="*/ 631394 h 1481137"/>
                <a:gd name="connsiteX38" fmla="*/ 528441 w 844793"/>
                <a:gd name="connsiteY38" fmla="*/ 648914 h 1481137"/>
                <a:gd name="connsiteX39" fmla="*/ 542114 w 844793"/>
                <a:gd name="connsiteY39" fmla="*/ 96785 h 1481137"/>
                <a:gd name="connsiteX40" fmla="*/ 638010 w 844793"/>
                <a:gd name="connsiteY40" fmla="*/ 0 h 1481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44793" h="1481137">
                  <a:moveTo>
                    <a:pt x="638010" y="0"/>
                  </a:moveTo>
                  <a:cubicBezTo>
                    <a:pt x="644567" y="0"/>
                    <a:pt x="651124" y="820"/>
                    <a:pt x="657681" y="2461"/>
                  </a:cubicBezTo>
                  <a:cubicBezTo>
                    <a:pt x="698662" y="10663"/>
                    <a:pt x="731447" y="45932"/>
                    <a:pt x="733906" y="90223"/>
                  </a:cubicBezTo>
                  <a:lnTo>
                    <a:pt x="756036" y="854657"/>
                  </a:lnTo>
                  <a:lnTo>
                    <a:pt x="757323" y="901441"/>
                  </a:lnTo>
                  <a:lnTo>
                    <a:pt x="836993" y="1036679"/>
                  </a:lnTo>
                  <a:cubicBezTo>
                    <a:pt x="847653" y="1054725"/>
                    <a:pt x="847653" y="1077693"/>
                    <a:pt x="835353" y="1095739"/>
                  </a:cubicBezTo>
                  <a:lnTo>
                    <a:pt x="650845" y="1369713"/>
                  </a:lnTo>
                  <a:lnTo>
                    <a:pt x="650845" y="1481137"/>
                  </a:lnTo>
                  <a:lnTo>
                    <a:pt x="237214" y="1481137"/>
                  </a:lnTo>
                  <a:lnTo>
                    <a:pt x="237214" y="1384512"/>
                  </a:lnTo>
                  <a:cubicBezTo>
                    <a:pt x="237214" y="1384512"/>
                    <a:pt x="183938" y="1352524"/>
                    <a:pt x="87222" y="1238515"/>
                  </a:cubicBezTo>
                  <a:cubicBezTo>
                    <a:pt x="68781" y="1216779"/>
                    <a:pt x="54028" y="1190943"/>
                    <a:pt x="42348" y="1162748"/>
                  </a:cubicBezTo>
                  <a:lnTo>
                    <a:pt x="16055" y="1073310"/>
                  </a:lnTo>
                  <a:lnTo>
                    <a:pt x="15915" y="1073204"/>
                  </a:lnTo>
                  <a:cubicBezTo>
                    <a:pt x="1572" y="1003986"/>
                    <a:pt x="-887" y="932106"/>
                    <a:pt x="240" y="877531"/>
                  </a:cubicBezTo>
                  <a:lnTo>
                    <a:pt x="249" y="877341"/>
                  </a:lnTo>
                  <a:lnTo>
                    <a:pt x="240" y="876906"/>
                  </a:lnTo>
                  <a:cubicBezTo>
                    <a:pt x="1367" y="822259"/>
                    <a:pt x="6079" y="784940"/>
                    <a:pt x="6079" y="784940"/>
                  </a:cubicBezTo>
                  <a:lnTo>
                    <a:pt x="6349" y="784853"/>
                  </a:lnTo>
                  <a:lnTo>
                    <a:pt x="9871" y="772895"/>
                  </a:lnTo>
                  <a:cubicBezTo>
                    <a:pt x="17898" y="751041"/>
                    <a:pt x="41748" y="707871"/>
                    <a:pt x="104126" y="712173"/>
                  </a:cubicBezTo>
                  <a:cubicBezTo>
                    <a:pt x="115542" y="712992"/>
                    <a:pt x="129404" y="715450"/>
                    <a:pt x="144081" y="720366"/>
                  </a:cubicBezTo>
                  <a:lnTo>
                    <a:pt x="144153" y="720927"/>
                  </a:lnTo>
                  <a:lnTo>
                    <a:pt x="144375" y="720973"/>
                  </a:lnTo>
                  <a:lnTo>
                    <a:pt x="150280" y="767185"/>
                  </a:lnTo>
                  <a:lnTo>
                    <a:pt x="150388" y="767186"/>
                  </a:lnTo>
                  <a:lnTo>
                    <a:pt x="144391" y="720843"/>
                  </a:lnTo>
                  <a:cubicBezTo>
                    <a:pt x="144391" y="720843"/>
                    <a:pt x="165617" y="675235"/>
                    <a:pt x="216027" y="660032"/>
                  </a:cubicBezTo>
                  <a:lnTo>
                    <a:pt x="276243" y="657788"/>
                  </a:lnTo>
                  <a:lnTo>
                    <a:pt x="276153" y="657225"/>
                  </a:lnTo>
                  <a:cubicBezTo>
                    <a:pt x="289323" y="659687"/>
                    <a:pt x="302494" y="664610"/>
                    <a:pt x="318134" y="671175"/>
                  </a:cubicBezTo>
                  <a:lnTo>
                    <a:pt x="318205" y="671672"/>
                  </a:lnTo>
                  <a:lnTo>
                    <a:pt x="318297" y="671703"/>
                  </a:lnTo>
                  <a:lnTo>
                    <a:pt x="332298" y="769556"/>
                  </a:lnTo>
                  <a:lnTo>
                    <a:pt x="332648" y="769561"/>
                  </a:lnTo>
                  <a:lnTo>
                    <a:pt x="319016" y="671575"/>
                  </a:lnTo>
                  <a:cubicBezTo>
                    <a:pt x="319016" y="671575"/>
                    <a:pt x="381932" y="595312"/>
                    <a:pt x="488972" y="631394"/>
                  </a:cubicBezTo>
                  <a:lnTo>
                    <a:pt x="528441" y="648914"/>
                  </a:lnTo>
                  <a:lnTo>
                    <a:pt x="542114" y="96785"/>
                  </a:lnTo>
                  <a:cubicBezTo>
                    <a:pt x="542114" y="43471"/>
                    <a:pt x="584734" y="0"/>
                    <a:pt x="638010" y="0"/>
                  </a:cubicBezTo>
                  <a:close/>
                </a:path>
              </a:pathLst>
            </a:custGeom>
            <a:solidFill>
              <a:srgbClr val="FAB29A"/>
            </a:solidFill>
            <a:ln w="139700">
              <a:solidFill>
                <a:srgbClr val="F0EEEF"/>
              </a:solidFill>
              <a:round/>
              <a:headEnd/>
              <a:tailEnd/>
            </a:ln>
          </p:spPr>
          <p:txBody>
            <a:bodyPr vert="horz" wrap="square" lIns="68580" tIns="34290" rIns="68580" bIns="34290" numCol="1" anchor="t" anchorCtr="0" compatLnSpc="1">
              <a:prstTxWarp prst="textNoShape">
                <a:avLst/>
              </a:prstTxWarp>
              <a:noAutofit/>
            </a:bodyPr>
            <a:lstStyle/>
            <a:p>
              <a:endParaRPr lang="en-US" sz="1350"/>
            </a:p>
          </p:txBody>
        </p:sp>
        <p:grpSp>
          <p:nvGrpSpPr>
            <p:cNvPr id="85" name="Group 84">
              <a:extLst>
                <a:ext uri="{FF2B5EF4-FFF2-40B4-BE49-F238E27FC236}">
                  <a16:creationId xmlns="" xmlns:a16="http://schemas.microsoft.com/office/drawing/2014/main" id="{B04CA1CF-8385-4FEE-A78F-D4117B5CF9CF}"/>
                </a:ext>
              </a:extLst>
            </p:cNvPr>
            <p:cNvGrpSpPr/>
            <p:nvPr/>
          </p:nvGrpSpPr>
          <p:grpSpPr>
            <a:xfrm>
              <a:off x="2163029" y="4524231"/>
              <a:ext cx="860425" cy="1771650"/>
              <a:chOff x="7518400" y="506413"/>
              <a:chExt cx="860425" cy="1771650"/>
            </a:xfrm>
          </p:grpSpPr>
          <p:sp>
            <p:nvSpPr>
              <p:cNvPr id="86" name="Freeform 18">
                <a:extLst>
                  <a:ext uri="{FF2B5EF4-FFF2-40B4-BE49-F238E27FC236}">
                    <a16:creationId xmlns="" xmlns:a16="http://schemas.microsoft.com/office/drawing/2014/main" id="{A4A1AC8F-5CCB-4F98-BB6F-FA2C81EF4535}"/>
                  </a:ext>
                </a:extLst>
              </p:cNvPr>
              <p:cNvSpPr>
                <a:spLocks/>
              </p:cNvSpPr>
              <p:nvPr/>
            </p:nvSpPr>
            <p:spPr bwMode="auto">
              <a:xfrm>
                <a:off x="7518400" y="506413"/>
                <a:ext cx="779463" cy="1771650"/>
              </a:xfrm>
              <a:custGeom>
                <a:avLst/>
                <a:gdLst>
                  <a:gd name="T0" fmla="*/ 943 w 951"/>
                  <a:gd name="T1" fmla="*/ 1230 h 2160"/>
                  <a:gd name="T2" fmla="*/ 945 w 951"/>
                  <a:gd name="T3" fmla="*/ 1289 h 2160"/>
                  <a:gd name="T4" fmla="*/ 919 w 951"/>
                  <a:gd name="T5" fmla="*/ 1286 h 2160"/>
                  <a:gd name="T6" fmla="*/ 713 w 951"/>
                  <a:gd name="T7" fmla="*/ 1766 h 2160"/>
                  <a:gd name="T8" fmla="*/ 544 w 951"/>
                  <a:gd name="T9" fmla="*/ 2160 h 2160"/>
                  <a:gd name="T10" fmla="*/ 305 w 951"/>
                  <a:gd name="T11" fmla="*/ 2160 h 2160"/>
                  <a:gd name="T12" fmla="*/ 305 w 951"/>
                  <a:gd name="T13" fmla="*/ 1688 h 2160"/>
                  <a:gd name="T14" fmla="*/ 122 w 951"/>
                  <a:gd name="T15" fmla="*/ 1510 h 2160"/>
                  <a:gd name="T16" fmla="*/ 35 w 951"/>
                  <a:gd name="T17" fmla="*/ 1308 h 2160"/>
                  <a:gd name="T18" fmla="*/ 23 w 951"/>
                  <a:gd name="T19" fmla="*/ 957 h 2160"/>
                  <a:gd name="T20" fmla="*/ 95 w 951"/>
                  <a:gd name="T21" fmla="*/ 934 h 2160"/>
                  <a:gd name="T22" fmla="*/ 479 w 951"/>
                  <a:gd name="T23" fmla="*/ 939 h 2160"/>
                  <a:gd name="T24" fmla="*/ 474 w 951"/>
                  <a:gd name="T25" fmla="*/ 888 h 2160"/>
                  <a:gd name="T26" fmla="*/ 587 w 951"/>
                  <a:gd name="T27" fmla="*/ 837 h 2160"/>
                  <a:gd name="T28" fmla="*/ 660 w 951"/>
                  <a:gd name="T29" fmla="*/ 804 h 2160"/>
                  <a:gd name="T30" fmla="*/ 677 w 951"/>
                  <a:gd name="T31" fmla="*/ 118 h 2160"/>
                  <a:gd name="T32" fmla="*/ 677 w 951"/>
                  <a:gd name="T33" fmla="*/ 118 h 2160"/>
                  <a:gd name="T34" fmla="*/ 794 w 951"/>
                  <a:gd name="T35" fmla="*/ 0 h 2160"/>
                  <a:gd name="T36" fmla="*/ 818 w 951"/>
                  <a:gd name="T37" fmla="*/ 3 h 2160"/>
                  <a:gd name="T38" fmla="*/ 911 w 951"/>
                  <a:gd name="T39" fmla="*/ 110 h 2160"/>
                  <a:gd name="T40" fmla="*/ 938 w 951"/>
                  <a:gd name="T41" fmla="*/ 1042 h 2160"/>
                  <a:gd name="T42" fmla="*/ 941 w 951"/>
                  <a:gd name="T43" fmla="*/ 1151 h 2160"/>
                  <a:gd name="T44" fmla="*/ 942 w 951"/>
                  <a:gd name="T45" fmla="*/ 1188 h 2160"/>
                  <a:gd name="T46" fmla="*/ 949 w 951"/>
                  <a:gd name="T47" fmla="*/ 1206 h 2160"/>
                  <a:gd name="T48" fmla="*/ 951 w 951"/>
                  <a:gd name="T49" fmla="*/ 1212 h 2160"/>
                  <a:gd name="T50" fmla="*/ 943 w 951"/>
                  <a:gd name="T51" fmla="*/ 123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51" h="2160">
                    <a:moveTo>
                      <a:pt x="943" y="1230"/>
                    </a:moveTo>
                    <a:lnTo>
                      <a:pt x="945" y="1289"/>
                    </a:lnTo>
                    <a:lnTo>
                      <a:pt x="919" y="1286"/>
                    </a:lnTo>
                    <a:lnTo>
                      <a:pt x="713" y="1766"/>
                    </a:lnTo>
                    <a:lnTo>
                      <a:pt x="544" y="2160"/>
                    </a:lnTo>
                    <a:lnTo>
                      <a:pt x="305" y="2160"/>
                    </a:lnTo>
                    <a:lnTo>
                      <a:pt x="305" y="1688"/>
                    </a:lnTo>
                    <a:cubicBezTo>
                      <a:pt x="305" y="1688"/>
                      <a:pt x="240" y="1649"/>
                      <a:pt x="122" y="1510"/>
                    </a:cubicBezTo>
                    <a:cubicBezTo>
                      <a:pt x="77" y="1457"/>
                      <a:pt x="50" y="1384"/>
                      <a:pt x="35" y="1308"/>
                    </a:cubicBezTo>
                    <a:cubicBezTo>
                      <a:pt x="0" y="1139"/>
                      <a:pt x="23" y="957"/>
                      <a:pt x="23" y="957"/>
                    </a:cubicBezTo>
                    <a:lnTo>
                      <a:pt x="95" y="934"/>
                    </a:lnTo>
                    <a:lnTo>
                      <a:pt x="479" y="939"/>
                    </a:lnTo>
                    <a:lnTo>
                      <a:pt x="474" y="888"/>
                    </a:lnTo>
                    <a:lnTo>
                      <a:pt x="587" y="837"/>
                    </a:lnTo>
                    <a:lnTo>
                      <a:pt x="660" y="804"/>
                    </a:lnTo>
                    <a:lnTo>
                      <a:pt x="677" y="118"/>
                    </a:lnTo>
                    <a:lnTo>
                      <a:pt x="677" y="118"/>
                    </a:lnTo>
                    <a:cubicBezTo>
                      <a:pt x="677" y="53"/>
                      <a:pt x="729" y="0"/>
                      <a:pt x="794" y="0"/>
                    </a:cubicBezTo>
                    <a:cubicBezTo>
                      <a:pt x="802" y="0"/>
                      <a:pt x="810" y="1"/>
                      <a:pt x="818" y="3"/>
                    </a:cubicBezTo>
                    <a:cubicBezTo>
                      <a:pt x="868" y="13"/>
                      <a:pt x="908" y="56"/>
                      <a:pt x="911" y="110"/>
                    </a:cubicBezTo>
                    <a:lnTo>
                      <a:pt x="938" y="1042"/>
                    </a:lnTo>
                    <a:lnTo>
                      <a:pt x="941" y="1151"/>
                    </a:lnTo>
                    <a:lnTo>
                      <a:pt x="942" y="1188"/>
                    </a:lnTo>
                    <a:lnTo>
                      <a:pt x="949" y="1206"/>
                    </a:lnTo>
                    <a:lnTo>
                      <a:pt x="951" y="1212"/>
                    </a:lnTo>
                    <a:lnTo>
                      <a:pt x="943" y="1230"/>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87" name="Freeform 19">
                <a:extLst>
                  <a:ext uri="{FF2B5EF4-FFF2-40B4-BE49-F238E27FC236}">
                    <a16:creationId xmlns="" xmlns:a16="http://schemas.microsoft.com/office/drawing/2014/main" id="{29594420-A51E-486E-B78F-CFE1F88FEF40}"/>
                  </a:ext>
                </a:extLst>
              </p:cNvPr>
              <p:cNvSpPr>
                <a:spLocks/>
              </p:cNvSpPr>
              <p:nvPr/>
            </p:nvSpPr>
            <p:spPr bwMode="auto">
              <a:xfrm>
                <a:off x="7518400" y="1193800"/>
                <a:ext cx="779463" cy="793750"/>
              </a:xfrm>
              <a:custGeom>
                <a:avLst/>
                <a:gdLst>
                  <a:gd name="T0" fmla="*/ 943 w 951"/>
                  <a:gd name="T1" fmla="*/ 393 h 969"/>
                  <a:gd name="T2" fmla="*/ 945 w 951"/>
                  <a:gd name="T3" fmla="*/ 452 h 969"/>
                  <a:gd name="T4" fmla="*/ 919 w 951"/>
                  <a:gd name="T5" fmla="*/ 449 h 969"/>
                  <a:gd name="T6" fmla="*/ 713 w 951"/>
                  <a:gd name="T7" fmla="*/ 929 h 969"/>
                  <a:gd name="T8" fmla="*/ 456 w 951"/>
                  <a:gd name="T9" fmla="*/ 890 h 969"/>
                  <a:gd name="T10" fmla="*/ 462 w 951"/>
                  <a:gd name="T11" fmla="*/ 565 h 969"/>
                  <a:gd name="T12" fmla="*/ 35 w 951"/>
                  <a:gd name="T13" fmla="*/ 471 h 969"/>
                  <a:gd name="T14" fmla="*/ 23 w 951"/>
                  <a:gd name="T15" fmla="*/ 120 h 969"/>
                  <a:gd name="T16" fmla="*/ 95 w 951"/>
                  <a:gd name="T17" fmla="*/ 97 h 969"/>
                  <a:gd name="T18" fmla="*/ 479 w 951"/>
                  <a:gd name="T19" fmla="*/ 102 h 969"/>
                  <a:gd name="T20" fmla="*/ 474 w 951"/>
                  <a:gd name="T21" fmla="*/ 51 h 969"/>
                  <a:gd name="T22" fmla="*/ 587 w 951"/>
                  <a:gd name="T23" fmla="*/ 0 h 969"/>
                  <a:gd name="T24" fmla="*/ 564 w 951"/>
                  <a:gd name="T25" fmla="*/ 256 h 969"/>
                  <a:gd name="T26" fmla="*/ 721 w 951"/>
                  <a:gd name="T27" fmla="*/ 332 h 969"/>
                  <a:gd name="T28" fmla="*/ 941 w 951"/>
                  <a:gd name="T29" fmla="*/ 314 h 969"/>
                  <a:gd name="T30" fmla="*/ 942 w 951"/>
                  <a:gd name="T31" fmla="*/ 351 h 969"/>
                  <a:gd name="T32" fmla="*/ 951 w 951"/>
                  <a:gd name="T33" fmla="*/ 375 h 969"/>
                  <a:gd name="T34" fmla="*/ 943 w 951"/>
                  <a:gd name="T35" fmla="*/ 393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51" h="969">
                    <a:moveTo>
                      <a:pt x="943" y="393"/>
                    </a:moveTo>
                    <a:lnTo>
                      <a:pt x="945" y="452"/>
                    </a:lnTo>
                    <a:lnTo>
                      <a:pt x="919" y="449"/>
                    </a:lnTo>
                    <a:lnTo>
                      <a:pt x="713" y="929"/>
                    </a:lnTo>
                    <a:cubicBezTo>
                      <a:pt x="598" y="964"/>
                      <a:pt x="491" y="969"/>
                      <a:pt x="456" y="890"/>
                    </a:cubicBezTo>
                    <a:cubicBezTo>
                      <a:pt x="368" y="693"/>
                      <a:pt x="462" y="565"/>
                      <a:pt x="462" y="565"/>
                    </a:cubicBezTo>
                    <a:cubicBezTo>
                      <a:pt x="204" y="592"/>
                      <a:pt x="83" y="518"/>
                      <a:pt x="35" y="471"/>
                    </a:cubicBezTo>
                    <a:cubicBezTo>
                      <a:pt x="0" y="302"/>
                      <a:pt x="23" y="120"/>
                      <a:pt x="23" y="120"/>
                    </a:cubicBezTo>
                    <a:lnTo>
                      <a:pt x="95" y="97"/>
                    </a:lnTo>
                    <a:lnTo>
                      <a:pt x="479" y="102"/>
                    </a:lnTo>
                    <a:lnTo>
                      <a:pt x="474" y="51"/>
                    </a:lnTo>
                    <a:lnTo>
                      <a:pt x="587" y="0"/>
                    </a:lnTo>
                    <a:lnTo>
                      <a:pt x="564" y="256"/>
                    </a:lnTo>
                    <a:lnTo>
                      <a:pt x="721" y="332"/>
                    </a:lnTo>
                    <a:lnTo>
                      <a:pt x="941" y="314"/>
                    </a:lnTo>
                    <a:lnTo>
                      <a:pt x="942" y="351"/>
                    </a:lnTo>
                    <a:lnTo>
                      <a:pt x="951" y="375"/>
                    </a:lnTo>
                    <a:lnTo>
                      <a:pt x="943" y="393"/>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88" name="Freeform 20">
                <a:extLst>
                  <a:ext uri="{FF2B5EF4-FFF2-40B4-BE49-F238E27FC236}">
                    <a16:creationId xmlns="" xmlns:a16="http://schemas.microsoft.com/office/drawing/2014/main" id="{3AA0C245-FE0F-4A67-AB96-53D2EC378F29}"/>
                  </a:ext>
                </a:extLst>
              </p:cNvPr>
              <p:cNvSpPr>
                <a:spLocks/>
              </p:cNvSpPr>
              <p:nvPr/>
            </p:nvSpPr>
            <p:spPr bwMode="auto">
              <a:xfrm>
                <a:off x="7850188" y="1101725"/>
                <a:ext cx="222250" cy="495300"/>
              </a:xfrm>
              <a:custGeom>
                <a:avLst/>
                <a:gdLst>
                  <a:gd name="T0" fmla="*/ 272 w 272"/>
                  <a:gd name="T1" fmla="*/ 493 h 604"/>
                  <a:gd name="T2" fmla="*/ 229 w 272"/>
                  <a:gd name="T3" fmla="*/ 565 h 604"/>
                  <a:gd name="T4" fmla="*/ 202 w 272"/>
                  <a:gd name="T5" fmla="*/ 582 h 604"/>
                  <a:gd name="T6" fmla="*/ 153 w 272"/>
                  <a:gd name="T7" fmla="*/ 596 h 604"/>
                  <a:gd name="T8" fmla="*/ 54 w 272"/>
                  <a:gd name="T9" fmla="*/ 520 h 604"/>
                  <a:gd name="T10" fmla="*/ 57 w 272"/>
                  <a:gd name="T11" fmla="*/ 492 h 604"/>
                  <a:gd name="T12" fmla="*/ 37 w 272"/>
                  <a:gd name="T13" fmla="*/ 358 h 604"/>
                  <a:gd name="T14" fmla="*/ 0 w 272"/>
                  <a:gd name="T15" fmla="*/ 93 h 604"/>
                  <a:gd name="T16" fmla="*/ 208 w 272"/>
                  <a:gd name="T17" fmla="*/ 44 h 604"/>
                  <a:gd name="T18" fmla="*/ 260 w 272"/>
                  <a:gd name="T19" fmla="*/ 67 h 604"/>
                  <a:gd name="T20" fmla="*/ 267 w 272"/>
                  <a:gd name="T21" fmla="*/ 326 h 604"/>
                  <a:gd name="T22" fmla="*/ 268 w 272"/>
                  <a:gd name="T23" fmla="*/ 353 h 604"/>
                  <a:gd name="T24" fmla="*/ 272 w 272"/>
                  <a:gd name="T25" fmla="*/ 493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2" h="604">
                    <a:moveTo>
                      <a:pt x="272" y="493"/>
                    </a:moveTo>
                    <a:cubicBezTo>
                      <a:pt x="272" y="493"/>
                      <a:pt x="265" y="534"/>
                      <a:pt x="229" y="565"/>
                    </a:cubicBezTo>
                    <a:cubicBezTo>
                      <a:pt x="221" y="571"/>
                      <a:pt x="213" y="577"/>
                      <a:pt x="202" y="582"/>
                    </a:cubicBezTo>
                    <a:cubicBezTo>
                      <a:pt x="189" y="589"/>
                      <a:pt x="173" y="594"/>
                      <a:pt x="153" y="596"/>
                    </a:cubicBezTo>
                    <a:cubicBezTo>
                      <a:pt x="93" y="604"/>
                      <a:pt x="66" y="559"/>
                      <a:pt x="54" y="520"/>
                    </a:cubicBezTo>
                    <a:cubicBezTo>
                      <a:pt x="57" y="504"/>
                      <a:pt x="57" y="492"/>
                      <a:pt x="57" y="492"/>
                    </a:cubicBezTo>
                    <a:lnTo>
                      <a:pt x="37" y="358"/>
                    </a:lnTo>
                    <a:lnTo>
                      <a:pt x="0" y="93"/>
                    </a:lnTo>
                    <a:cubicBezTo>
                      <a:pt x="0" y="93"/>
                      <a:pt x="77" y="0"/>
                      <a:pt x="208" y="44"/>
                    </a:cubicBezTo>
                    <a:cubicBezTo>
                      <a:pt x="224" y="49"/>
                      <a:pt x="241" y="57"/>
                      <a:pt x="260" y="67"/>
                    </a:cubicBezTo>
                    <a:lnTo>
                      <a:pt x="267" y="326"/>
                    </a:lnTo>
                    <a:lnTo>
                      <a:pt x="268" y="353"/>
                    </a:lnTo>
                    <a:lnTo>
                      <a:pt x="272" y="493"/>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89" name="Freeform 21">
                <a:extLst>
                  <a:ext uri="{FF2B5EF4-FFF2-40B4-BE49-F238E27FC236}">
                    <a16:creationId xmlns="" xmlns:a16="http://schemas.microsoft.com/office/drawing/2014/main" id="{8B355E78-9019-4CB1-8844-B15CC0706753}"/>
                  </a:ext>
                </a:extLst>
              </p:cNvPr>
              <p:cNvSpPr>
                <a:spLocks/>
              </p:cNvSpPr>
              <p:nvPr/>
            </p:nvSpPr>
            <p:spPr bwMode="auto">
              <a:xfrm>
                <a:off x="7537450" y="1212850"/>
                <a:ext cx="179388" cy="381000"/>
              </a:xfrm>
              <a:custGeom>
                <a:avLst/>
                <a:gdLst>
                  <a:gd name="T0" fmla="*/ 183 w 220"/>
                  <a:gd name="T1" fmla="*/ 455 h 465"/>
                  <a:gd name="T2" fmla="*/ 125 w 220"/>
                  <a:gd name="T3" fmla="*/ 465 h 465"/>
                  <a:gd name="T4" fmla="*/ 0 w 220"/>
                  <a:gd name="T5" fmla="*/ 96 h 465"/>
                  <a:gd name="T6" fmla="*/ 120 w 220"/>
                  <a:gd name="T7" fmla="*/ 7 h 465"/>
                  <a:gd name="T8" fmla="*/ 169 w 220"/>
                  <a:gd name="T9" fmla="*/ 17 h 465"/>
                  <a:gd name="T10" fmla="*/ 219 w 220"/>
                  <a:gd name="T11" fmla="*/ 404 h 465"/>
                  <a:gd name="T12" fmla="*/ 183 w 220"/>
                  <a:gd name="T13" fmla="*/ 455 h 465"/>
                </a:gdLst>
                <a:ahLst/>
                <a:cxnLst>
                  <a:cxn ang="0">
                    <a:pos x="T0" y="T1"/>
                  </a:cxn>
                  <a:cxn ang="0">
                    <a:pos x="T2" y="T3"/>
                  </a:cxn>
                  <a:cxn ang="0">
                    <a:pos x="T4" y="T5"/>
                  </a:cxn>
                  <a:cxn ang="0">
                    <a:pos x="T6" y="T7"/>
                  </a:cxn>
                  <a:cxn ang="0">
                    <a:pos x="T8" y="T9"/>
                  </a:cxn>
                  <a:cxn ang="0">
                    <a:pos x="T10" y="T11"/>
                  </a:cxn>
                  <a:cxn ang="0">
                    <a:pos x="T12" y="T13"/>
                  </a:cxn>
                </a:cxnLst>
                <a:rect l="0" t="0" r="r" b="b"/>
                <a:pathLst>
                  <a:path w="220" h="465">
                    <a:moveTo>
                      <a:pt x="183" y="455"/>
                    </a:moveTo>
                    <a:cubicBezTo>
                      <a:pt x="169" y="461"/>
                      <a:pt x="151" y="465"/>
                      <a:pt x="125" y="465"/>
                    </a:cubicBezTo>
                    <a:cubicBezTo>
                      <a:pt x="29" y="465"/>
                      <a:pt x="29" y="406"/>
                      <a:pt x="0" y="96"/>
                    </a:cubicBezTo>
                    <a:cubicBezTo>
                      <a:pt x="0" y="96"/>
                      <a:pt x="18" y="0"/>
                      <a:pt x="120" y="7"/>
                    </a:cubicBezTo>
                    <a:cubicBezTo>
                      <a:pt x="134" y="8"/>
                      <a:pt x="151" y="11"/>
                      <a:pt x="169" y="17"/>
                    </a:cubicBezTo>
                    <a:lnTo>
                      <a:pt x="219" y="404"/>
                    </a:lnTo>
                    <a:cubicBezTo>
                      <a:pt x="219" y="404"/>
                      <a:pt x="220" y="437"/>
                      <a:pt x="183" y="455"/>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90" name="Freeform 22">
                <a:extLst>
                  <a:ext uri="{FF2B5EF4-FFF2-40B4-BE49-F238E27FC236}">
                    <a16:creationId xmlns="" xmlns:a16="http://schemas.microsoft.com/office/drawing/2014/main" id="{CC2F3A31-34F9-4057-A249-DB304DF60BFC}"/>
                  </a:ext>
                </a:extLst>
              </p:cNvPr>
              <p:cNvSpPr>
                <a:spLocks/>
              </p:cNvSpPr>
              <p:nvPr/>
            </p:nvSpPr>
            <p:spPr bwMode="auto">
              <a:xfrm>
                <a:off x="7675563" y="1146175"/>
                <a:ext cx="220663" cy="463550"/>
              </a:xfrm>
              <a:custGeom>
                <a:avLst/>
                <a:gdLst>
                  <a:gd name="T0" fmla="*/ 269 w 269"/>
                  <a:gd name="T1" fmla="*/ 438 h 566"/>
                  <a:gd name="T2" fmla="*/ 241 w 269"/>
                  <a:gd name="T3" fmla="*/ 525 h 566"/>
                  <a:gd name="T4" fmla="*/ 190 w 269"/>
                  <a:gd name="T5" fmla="*/ 554 h 566"/>
                  <a:gd name="T6" fmla="*/ 50 w 269"/>
                  <a:gd name="T7" fmla="*/ 486 h 566"/>
                  <a:gd name="T8" fmla="*/ 0 w 269"/>
                  <a:gd name="T9" fmla="*/ 99 h 566"/>
                  <a:gd name="T10" fmla="*/ 161 w 269"/>
                  <a:gd name="T11" fmla="*/ 22 h 566"/>
                  <a:gd name="T12" fmla="*/ 212 w 269"/>
                  <a:gd name="T13" fmla="*/ 39 h 566"/>
                  <a:gd name="T14" fmla="*/ 269 w 269"/>
                  <a:gd name="T15" fmla="*/ 438 h 5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9" h="566">
                    <a:moveTo>
                      <a:pt x="269" y="438"/>
                    </a:moveTo>
                    <a:cubicBezTo>
                      <a:pt x="269" y="438"/>
                      <a:pt x="269" y="490"/>
                      <a:pt x="241" y="525"/>
                    </a:cubicBezTo>
                    <a:cubicBezTo>
                      <a:pt x="229" y="539"/>
                      <a:pt x="213" y="550"/>
                      <a:pt x="190" y="554"/>
                    </a:cubicBezTo>
                    <a:cubicBezTo>
                      <a:pt x="118" y="566"/>
                      <a:pt x="72" y="546"/>
                      <a:pt x="50" y="486"/>
                    </a:cubicBezTo>
                    <a:lnTo>
                      <a:pt x="0" y="99"/>
                    </a:lnTo>
                    <a:cubicBezTo>
                      <a:pt x="0" y="99"/>
                      <a:pt x="46" y="0"/>
                      <a:pt x="161" y="22"/>
                    </a:cubicBezTo>
                    <a:cubicBezTo>
                      <a:pt x="177" y="25"/>
                      <a:pt x="193" y="31"/>
                      <a:pt x="212" y="39"/>
                    </a:cubicBezTo>
                    <a:lnTo>
                      <a:pt x="269" y="438"/>
                    </a:ln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91" name="Freeform 23">
                <a:extLst>
                  <a:ext uri="{FF2B5EF4-FFF2-40B4-BE49-F238E27FC236}">
                    <a16:creationId xmlns="" xmlns:a16="http://schemas.microsoft.com/office/drawing/2014/main" id="{CC482A4A-473B-4C02-9628-E25A23DA9DFF}"/>
                  </a:ext>
                </a:extLst>
              </p:cNvPr>
              <p:cNvSpPr>
                <a:spLocks/>
              </p:cNvSpPr>
              <p:nvPr/>
            </p:nvSpPr>
            <p:spPr bwMode="auto">
              <a:xfrm>
                <a:off x="7880350" y="1358900"/>
                <a:ext cx="406400" cy="238125"/>
              </a:xfrm>
              <a:custGeom>
                <a:avLst/>
                <a:gdLst>
                  <a:gd name="T0" fmla="*/ 496 w 496"/>
                  <a:gd name="T1" fmla="*/ 62 h 291"/>
                  <a:gd name="T2" fmla="*/ 453 w 496"/>
                  <a:gd name="T3" fmla="*/ 131 h 291"/>
                  <a:gd name="T4" fmla="*/ 300 w 496"/>
                  <a:gd name="T5" fmla="*/ 277 h 291"/>
                  <a:gd name="T6" fmla="*/ 231 w 496"/>
                  <a:gd name="T7" fmla="*/ 204 h 291"/>
                  <a:gd name="T8" fmla="*/ 196 w 496"/>
                  <a:gd name="T9" fmla="*/ 258 h 291"/>
                  <a:gd name="T10" fmla="*/ 177 w 496"/>
                  <a:gd name="T11" fmla="*/ 272 h 291"/>
                  <a:gd name="T12" fmla="*/ 165 w 496"/>
                  <a:gd name="T13" fmla="*/ 269 h 291"/>
                  <a:gd name="T14" fmla="*/ 116 w 496"/>
                  <a:gd name="T15" fmla="*/ 283 h 291"/>
                  <a:gd name="T16" fmla="*/ 17 w 496"/>
                  <a:gd name="T17" fmla="*/ 207 h 291"/>
                  <a:gd name="T18" fmla="*/ 20 w 496"/>
                  <a:gd name="T19" fmla="*/ 179 h 291"/>
                  <a:gd name="T20" fmla="*/ 0 w 496"/>
                  <a:gd name="T21" fmla="*/ 45 h 291"/>
                  <a:gd name="T22" fmla="*/ 10 w 496"/>
                  <a:gd name="T23" fmla="*/ 20 h 291"/>
                  <a:gd name="T24" fmla="*/ 42 w 496"/>
                  <a:gd name="T25" fmla="*/ 2 h 291"/>
                  <a:gd name="T26" fmla="*/ 203 w 496"/>
                  <a:gd name="T27" fmla="*/ 13 h 291"/>
                  <a:gd name="T28" fmla="*/ 214 w 496"/>
                  <a:gd name="T29" fmla="*/ 13 h 291"/>
                  <a:gd name="T30" fmla="*/ 230 w 496"/>
                  <a:gd name="T31" fmla="*/ 13 h 291"/>
                  <a:gd name="T32" fmla="*/ 431 w 496"/>
                  <a:gd name="T33" fmla="*/ 5 h 291"/>
                  <a:gd name="T34" fmla="*/ 444 w 496"/>
                  <a:gd name="T35" fmla="*/ 6 h 291"/>
                  <a:gd name="T36" fmla="*/ 496 w 496"/>
                  <a:gd name="T37" fmla="*/ 58 h 291"/>
                  <a:gd name="T38" fmla="*/ 496 w 496"/>
                  <a:gd name="T39" fmla="*/ 62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6" h="291">
                    <a:moveTo>
                      <a:pt x="496" y="62"/>
                    </a:moveTo>
                    <a:cubicBezTo>
                      <a:pt x="496" y="62"/>
                      <a:pt x="481" y="92"/>
                      <a:pt x="453" y="131"/>
                    </a:cubicBezTo>
                    <a:cubicBezTo>
                      <a:pt x="419" y="178"/>
                      <a:pt x="366" y="239"/>
                      <a:pt x="300" y="277"/>
                    </a:cubicBezTo>
                    <a:cubicBezTo>
                      <a:pt x="276" y="268"/>
                      <a:pt x="252" y="245"/>
                      <a:pt x="231" y="204"/>
                    </a:cubicBezTo>
                    <a:cubicBezTo>
                      <a:pt x="226" y="217"/>
                      <a:pt x="216" y="239"/>
                      <a:pt x="196" y="258"/>
                    </a:cubicBezTo>
                    <a:cubicBezTo>
                      <a:pt x="191" y="263"/>
                      <a:pt x="184" y="268"/>
                      <a:pt x="177" y="272"/>
                    </a:cubicBezTo>
                    <a:cubicBezTo>
                      <a:pt x="173" y="271"/>
                      <a:pt x="169" y="270"/>
                      <a:pt x="165" y="269"/>
                    </a:cubicBezTo>
                    <a:cubicBezTo>
                      <a:pt x="152" y="276"/>
                      <a:pt x="136" y="281"/>
                      <a:pt x="116" y="283"/>
                    </a:cubicBezTo>
                    <a:cubicBezTo>
                      <a:pt x="56" y="291"/>
                      <a:pt x="29" y="246"/>
                      <a:pt x="17" y="207"/>
                    </a:cubicBezTo>
                    <a:cubicBezTo>
                      <a:pt x="20" y="191"/>
                      <a:pt x="20" y="179"/>
                      <a:pt x="20" y="179"/>
                    </a:cubicBezTo>
                    <a:lnTo>
                      <a:pt x="0" y="45"/>
                    </a:lnTo>
                    <a:cubicBezTo>
                      <a:pt x="3" y="35"/>
                      <a:pt x="7" y="27"/>
                      <a:pt x="10" y="20"/>
                    </a:cubicBezTo>
                    <a:cubicBezTo>
                      <a:pt x="15" y="8"/>
                      <a:pt x="28" y="0"/>
                      <a:pt x="42" y="2"/>
                    </a:cubicBezTo>
                    <a:cubicBezTo>
                      <a:pt x="103" y="8"/>
                      <a:pt x="156" y="11"/>
                      <a:pt x="203" y="13"/>
                    </a:cubicBezTo>
                    <a:cubicBezTo>
                      <a:pt x="207" y="13"/>
                      <a:pt x="211" y="13"/>
                      <a:pt x="214" y="13"/>
                    </a:cubicBezTo>
                    <a:cubicBezTo>
                      <a:pt x="220" y="13"/>
                      <a:pt x="225" y="13"/>
                      <a:pt x="230" y="13"/>
                    </a:cubicBezTo>
                    <a:cubicBezTo>
                      <a:pt x="326" y="14"/>
                      <a:pt x="389" y="6"/>
                      <a:pt x="431" y="5"/>
                    </a:cubicBezTo>
                    <a:cubicBezTo>
                      <a:pt x="436" y="5"/>
                      <a:pt x="440" y="5"/>
                      <a:pt x="444" y="6"/>
                    </a:cubicBezTo>
                    <a:cubicBezTo>
                      <a:pt x="488" y="11"/>
                      <a:pt x="495" y="46"/>
                      <a:pt x="496" y="58"/>
                    </a:cubicBezTo>
                    <a:cubicBezTo>
                      <a:pt x="496" y="61"/>
                      <a:pt x="496" y="62"/>
                      <a:pt x="496" y="62"/>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92" name="Freeform 24">
                <a:extLst>
                  <a:ext uri="{FF2B5EF4-FFF2-40B4-BE49-F238E27FC236}">
                    <a16:creationId xmlns="" xmlns:a16="http://schemas.microsoft.com/office/drawing/2014/main" id="{E4FC746B-4A87-4B22-89FA-43BC87ACE4FA}"/>
                  </a:ext>
                </a:extLst>
              </p:cNvPr>
              <p:cNvSpPr>
                <a:spLocks/>
              </p:cNvSpPr>
              <p:nvPr/>
            </p:nvSpPr>
            <p:spPr bwMode="auto">
              <a:xfrm>
                <a:off x="7807325" y="1163638"/>
                <a:ext cx="88900" cy="412750"/>
              </a:xfrm>
              <a:custGeom>
                <a:avLst/>
                <a:gdLst>
                  <a:gd name="T0" fmla="*/ 108 w 108"/>
                  <a:gd name="T1" fmla="*/ 416 h 503"/>
                  <a:gd name="T2" fmla="*/ 80 w 108"/>
                  <a:gd name="T3" fmla="*/ 503 h 503"/>
                  <a:gd name="T4" fmla="*/ 0 w 108"/>
                  <a:gd name="T5" fmla="*/ 0 h 503"/>
                  <a:gd name="T6" fmla="*/ 51 w 108"/>
                  <a:gd name="T7" fmla="*/ 17 h 503"/>
                  <a:gd name="T8" fmla="*/ 108 w 108"/>
                  <a:gd name="T9" fmla="*/ 416 h 503"/>
                </a:gdLst>
                <a:ahLst/>
                <a:cxnLst>
                  <a:cxn ang="0">
                    <a:pos x="T0" y="T1"/>
                  </a:cxn>
                  <a:cxn ang="0">
                    <a:pos x="T2" y="T3"/>
                  </a:cxn>
                  <a:cxn ang="0">
                    <a:pos x="T4" y="T5"/>
                  </a:cxn>
                  <a:cxn ang="0">
                    <a:pos x="T6" y="T7"/>
                  </a:cxn>
                  <a:cxn ang="0">
                    <a:pos x="T8" y="T9"/>
                  </a:cxn>
                </a:cxnLst>
                <a:rect l="0" t="0" r="r" b="b"/>
                <a:pathLst>
                  <a:path w="108" h="503">
                    <a:moveTo>
                      <a:pt x="108" y="416"/>
                    </a:moveTo>
                    <a:cubicBezTo>
                      <a:pt x="108" y="416"/>
                      <a:pt x="108" y="468"/>
                      <a:pt x="80" y="503"/>
                    </a:cubicBezTo>
                    <a:lnTo>
                      <a:pt x="0" y="0"/>
                    </a:lnTo>
                    <a:cubicBezTo>
                      <a:pt x="16" y="3"/>
                      <a:pt x="32" y="9"/>
                      <a:pt x="51" y="17"/>
                    </a:cubicBezTo>
                    <a:lnTo>
                      <a:pt x="108" y="416"/>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93" name="Freeform 25">
                <a:extLst>
                  <a:ext uri="{FF2B5EF4-FFF2-40B4-BE49-F238E27FC236}">
                    <a16:creationId xmlns="" xmlns:a16="http://schemas.microsoft.com/office/drawing/2014/main" id="{60561301-B2B8-4D5F-85DF-54408C69ACDF}"/>
                  </a:ext>
                </a:extLst>
              </p:cNvPr>
              <p:cNvSpPr>
                <a:spLocks/>
              </p:cNvSpPr>
              <p:nvPr/>
            </p:nvSpPr>
            <p:spPr bwMode="auto">
              <a:xfrm>
                <a:off x="7635875" y="1219200"/>
                <a:ext cx="80963" cy="366713"/>
              </a:xfrm>
              <a:custGeom>
                <a:avLst/>
                <a:gdLst>
                  <a:gd name="T0" fmla="*/ 63 w 100"/>
                  <a:gd name="T1" fmla="*/ 448 h 448"/>
                  <a:gd name="T2" fmla="*/ 0 w 100"/>
                  <a:gd name="T3" fmla="*/ 0 h 448"/>
                  <a:gd name="T4" fmla="*/ 49 w 100"/>
                  <a:gd name="T5" fmla="*/ 10 h 448"/>
                  <a:gd name="T6" fmla="*/ 99 w 100"/>
                  <a:gd name="T7" fmla="*/ 397 h 448"/>
                  <a:gd name="T8" fmla="*/ 63 w 100"/>
                  <a:gd name="T9" fmla="*/ 448 h 448"/>
                </a:gdLst>
                <a:ahLst/>
                <a:cxnLst>
                  <a:cxn ang="0">
                    <a:pos x="T0" y="T1"/>
                  </a:cxn>
                  <a:cxn ang="0">
                    <a:pos x="T2" y="T3"/>
                  </a:cxn>
                  <a:cxn ang="0">
                    <a:pos x="T4" y="T5"/>
                  </a:cxn>
                  <a:cxn ang="0">
                    <a:pos x="T6" y="T7"/>
                  </a:cxn>
                  <a:cxn ang="0">
                    <a:pos x="T8" y="T9"/>
                  </a:cxn>
                </a:cxnLst>
                <a:rect l="0" t="0" r="r" b="b"/>
                <a:pathLst>
                  <a:path w="100" h="448">
                    <a:moveTo>
                      <a:pt x="63" y="448"/>
                    </a:moveTo>
                    <a:lnTo>
                      <a:pt x="0" y="0"/>
                    </a:lnTo>
                    <a:cubicBezTo>
                      <a:pt x="14" y="1"/>
                      <a:pt x="31" y="4"/>
                      <a:pt x="49" y="10"/>
                    </a:cubicBezTo>
                    <a:lnTo>
                      <a:pt x="99" y="397"/>
                    </a:lnTo>
                    <a:cubicBezTo>
                      <a:pt x="99" y="397"/>
                      <a:pt x="100" y="430"/>
                      <a:pt x="63" y="448"/>
                    </a:cubicBez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94" name="Freeform 26">
                <a:extLst>
                  <a:ext uri="{FF2B5EF4-FFF2-40B4-BE49-F238E27FC236}">
                    <a16:creationId xmlns="" xmlns:a16="http://schemas.microsoft.com/office/drawing/2014/main" id="{82704B85-F4D7-4FD1-8A20-C64D252E7F40}"/>
                  </a:ext>
                </a:extLst>
              </p:cNvPr>
              <p:cNvSpPr>
                <a:spLocks/>
              </p:cNvSpPr>
              <p:nvPr/>
            </p:nvSpPr>
            <p:spPr bwMode="auto">
              <a:xfrm>
                <a:off x="8020050" y="1138238"/>
                <a:ext cx="52388" cy="427038"/>
              </a:xfrm>
              <a:custGeom>
                <a:avLst/>
                <a:gdLst>
                  <a:gd name="T0" fmla="*/ 64 w 64"/>
                  <a:gd name="T1" fmla="*/ 449 h 521"/>
                  <a:gd name="T2" fmla="*/ 21 w 64"/>
                  <a:gd name="T3" fmla="*/ 521 h 521"/>
                  <a:gd name="T4" fmla="*/ 0 w 64"/>
                  <a:gd name="T5" fmla="*/ 0 h 521"/>
                  <a:gd name="T6" fmla="*/ 52 w 64"/>
                  <a:gd name="T7" fmla="*/ 23 h 521"/>
                  <a:gd name="T8" fmla="*/ 64 w 64"/>
                  <a:gd name="T9" fmla="*/ 449 h 521"/>
                </a:gdLst>
                <a:ahLst/>
                <a:cxnLst>
                  <a:cxn ang="0">
                    <a:pos x="T0" y="T1"/>
                  </a:cxn>
                  <a:cxn ang="0">
                    <a:pos x="T2" y="T3"/>
                  </a:cxn>
                  <a:cxn ang="0">
                    <a:pos x="T4" y="T5"/>
                  </a:cxn>
                  <a:cxn ang="0">
                    <a:pos x="T6" y="T7"/>
                  </a:cxn>
                  <a:cxn ang="0">
                    <a:pos x="T8" y="T9"/>
                  </a:cxn>
                </a:cxnLst>
                <a:rect l="0" t="0" r="r" b="b"/>
                <a:pathLst>
                  <a:path w="64" h="521">
                    <a:moveTo>
                      <a:pt x="64" y="449"/>
                    </a:moveTo>
                    <a:cubicBezTo>
                      <a:pt x="64" y="449"/>
                      <a:pt x="57" y="490"/>
                      <a:pt x="21" y="521"/>
                    </a:cubicBezTo>
                    <a:lnTo>
                      <a:pt x="0" y="0"/>
                    </a:lnTo>
                    <a:cubicBezTo>
                      <a:pt x="16" y="5"/>
                      <a:pt x="33" y="13"/>
                      <a:pt x="52" y="23"/>
                    </a:cubicBezTo>
                    <a:lnTo>
                      <a:pt x="64" y="449"/>
                    </a:lnTo>
                    <a:close/>
                  </a:path>
                </a:pathLst>
              </a:custGeom>
              <a:solidFill>
                <a:srgbClr val="D58C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sp>
            <p:nvSpPr>
              <p:cNvPr id="95" name="Freeform 27">
                <a:extLst>
                  <a:ext uri="{FF2B5EF4-FFF2-40B4-BE49-F238E27FC236}">
                    <a16:creationId xmlns="" xmlns:a16="http://schemas.microsoft.com/office/drawing/2014/main" id="{8812821E-CCD5-43D5-8355-E98BD8E72442}"/>
                  </a:ext>
                </a:extLst>
              </p:cNvPr>
              <p:cNvSpPr>
                <a:spLocks/>
              </p:cNvSpPr>
              <p:nvPr/>
            </p:nvSpPr>
            <p:spPr bwMode="auto">
              <a:xfrm>
                <a:off x="7883525" y="1370013"/>
                <a:ext cx="495300" cy="908050"/>
              </a:xfrm>
              <a:custGeom>
                <a:avLst/>
                <a:gdLst>
                  <a:gd name="T0" fmla="*/ 589 w 604"/>
                  <a:gd name="T1" fmla="*/ 283 h 1107"/>
                  <a:gd name="T2" fmla="*/ 364 w 604"/>
                  <a:gd name="T3" fmla="*/ 617 h 1107"/>
                  <a:gd name="T4" fmla="*/ 364 w 604"/>
                  <a:gd name="T5" fmla="*/ 1107 h 1107"/>
                  <a:gd name="T6" fmla="*/ 0 w 604"/>
                  <a:gd name="T7" fmla="*/ 1107 h 1107"/>
                  <a:gd name="T8" fmla="*/ 0 w 604"/>
                  <a:gd name="T9" fmla="*/ 501 h 1107"/>
                  <a:gd name="T10" fmla="*/ 218 w 604"/>
                  <a:gd name="T11" fmla="*/ 264 h 1107"/>
                  <a:gd name="T12" fmla="*/ 173 w 604"/>
                  <a:gd name="T13" fmla="*/ 257 h 1107"/>
                  <a:gd name="T14" fmla="*/ 161 w 604"/>
                  <a:gd name="T15" fmla="*/ 254 h 1107"/>
                  <a:gd name="T16" fmla="*/ 24 w 604"/>
                  <a:gd name="T17" fmla="*/ 42 h 1107"/>
                  <a:gd name="T18" fmla="*/ 60 w 604"/>
                  <a:gd name="T19" fmla="*/ 14 h 1107"/>
                  <a:gd name="T20" fmla="*/ 227 w 604"/>
                  <a:gd name="T21" fmla="*/ 25 h 1107"/>
                  <a:gd name="T22" fmla="*/ 417 w 604"/>
                  <a:gd name="T23" fmla="*/ 5 h 1107"/>
                  <a:gd name="T24" fmla="*/ 489 w 604"/>
                  <a:gd name="T25" fmla="*/ 37 h 1107"/>
                  <a:gd name="T26" fmla="*/ 492 w 604"/>
                  <a:gd name="T27" fmla="*/ 43 h 1107"/>
                  <a:gd name="T28" fmla="*/ 591 w 604"/>
                  <a:gd name="T29" fmla="*/ 211 h 1107"/>
                  <a:gd name="T30" fmla="*/ 589 w 604"/>
                  <a:gd name="T31" fmla="*/ 283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4" h="1107">
                    <a:moveTo>
                      <a:pt x="589" y="283"/>
                    </a:moveTo>
                    <a:lnTo>
                      <a:pt x="364" y="617"/>
                    </a:lnTo>
                    <a:lnTo>
                      <a:pt x="364" y="1107"/>
                    </a:lnTo>
                    <a:lnTo>
                      <a:pt x="0" y="1107"/>
                    </a:lnTo>
                    <a:lnTo>
                      <a:pt x="0" y="501"/>
                    </a:lnTo>
                    <a:cubicBezTo>
                      <a:pt x="24" y="311"/>
                      <a:pt x="218" y="264"/>
                      <a:pt x="218" y="264"/>
                    </a:cubicBezTo>
                    <a:cubicBezTo>
                      <a:pt x="202" y="262"/>
                      <a:pt x="187" y="260"/>
                      <a:pt x="173" y="257"/>
                    </a:cubicBezTo>
                    <a:cubicBezTo>
                      <a:pt x="169" y="256"/>
                      <a:pt x="165" y="255"/>
                      <a:pt x="161" y="254"/>
                    </a:cubicBezTo>
                    <a:cubicBezTo>
                      <a:pt x="18" y="217"/>
                      <a:pt x="16" y="99"/>
                      <a:pt x="24" y="42"/>
                    </a:cubicBezTo>
                    <a:cubicBezTo>
                      <a:pt x="26" y="25"/>
                      <a:pt x="42" y="12"/>
                      <a:pt x="60" y="14"/>
                    </a:cubicBezTo>
                    <a:cubicBezTo>
                      <a:pt x="121" y="22"/>
                      <a:pt x="177" y="25"/>
                      <a:pt x="227" y="25"/>
                    </a:cubicBezTo>
                    <a:cubicBezTo>
                      <a:pt x="310" y="24"/>
                      <a:pt x="376" y="14"/>
                      <a:pt x="417" y="5"/>
                    </a:cubicBezTo>
                    <a:cubicBezTo>
                      <a:pt x="445" y="0"/>
                      <a:pt x="474" y="12"/>
                      <a:pt x="489" y="37"/>
                    </a:cubicBezTo>
                    <a:lnTo>
                      <a:pt x="492" y="43"/>
                    </a:lnTo>
                    <a:lnTo>
                      <a:pt x="591" y="211"/>
                    </a:lnTo>
                    <a:cubicBezTo>
                      <a:pt x="604" y="233"/>
                      <a:pt x="604" y="261"/>
                      <a:pt x="589" y="283"/>
                    </a:cubicBezTo>
                    <a:close/>
                  </a:path>
                </a:pathLst>
              </a:custGeom>
              <a:solidFill>
                <a:srgbClr val="EBAE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US" sz="1350"/>
              </a:p>
            </p:txBody>
          </p:sp>
        </p:grpSp>
      </p:grpSp>
      <p:sp>
        <p:nvSpPr>
          <p:cNvPr id="10" name="Rounded Rectangle 9"/>
          <p:cNvSpPr/>
          <p:nvPr/>
        </p:nvSpPr>
        <p:spPr>
          <a:xfrm>
            <a:off x="6138121" y="1049909"/>
            <a:ext cx="2791343" cy="677663"/>
          </a:xfrm>
          <a:prstGeom prst="roundRect">
            <a:avLst/>
          </a:prstGeom>
          <a:gradFill>
            <a:gsLst>
              <a:gs pos="0">
                <a:schemeClr val="accent1">
                  <a:lumMod val="20000"/>
                  <a:lumOff val="80000"/>
                </a:schemeClr>
              </a:gs>
              <a:gs pos="19000">
                <a:schemeClr val="accent1">
                  <a:lumMod val="20000"/>
                  <a:lumOff val="80000"/>
                </a:schemeClr>
              </a:gs>
              <a:gs pos="9000">
                <a:schemeClr val="accent1">
                  <a:lumMod val="20000"/>
                  <a:lumOff val="80000"/>
                </a:schemeClr>
              </a:gs>
              <a:gs pos="28000">
                <a:schemeClr val="accent1">
                  <a:lumMod val="20000"/>
                  <a:lumOff val="80000"/>
                </a:schemeClr>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solidFill>
                  <a:schemeClr val="dk1"/>
                </a:solidFill>
                <a:effectLst>
                  <a:outerShdw blurRad="38100" dist="38100" dir="2700000" algn="tl">
                    <a:srgbClr val="000000">
                      <a:alpha val="43137"/>
                    </a:srgbClr>
                  </a:outerShdw>
                </a:effectLst>
              </a:rPr>
              <a:t>Gmail Auto Reply</a:t>
            </a:r>
            <a:endParaRPr lang="en-GB" b="1" dirty="0">
              <a:solidFill>
                <a:schemeClr val="dk1"/>
              </a:solidFill>
              <a:effectLst>
                <a:outerShdw blurRad="38100" dist="38100" dir="2700000" algn="tl">
                  <a:srgbClr val="000000">
                    <a:alpha val="43137"/>
                  </a:srgbClr>
                </a:outerShdw>
              </a:effectLst>
            </a:endParaRPr>
          </a:p>
        </p:txBody>
      </p:sp>
      <p:sp>
        <p:nvSpPr>
          <p:cNvPr id="107" name="Rounded Rectangle 106"/>
          <p:cNvSpPr/>
          <p:nvPr/>
        </p:nvSpPr>
        <p:spPr>
          <a:xfrm>
            <a:off x="6132080" y="2129548"/>
            <a:ext cx="2791343" cy="677663"/>
          </a:xfrm>
          <a:prstGeom prst="roundRect">
            <a:avLst/>
          </a:prstGeom>
          <a:gradFill>
            <a:gsLst>
              <a:gs pos="0">
                <a:schemeClr val="accent1">
                  <a:lumMod val="20000"/>
                  <a:lumOff val="80000"/>
                </a:schemeClr>
              </a:gs>
              <a:gs pos="19000">
                <a:schemeClr val="accent1">
                  <a:lumMod val="20000"/>
                  <a:lumOff val="80000"/>
                </a:schemeClr>
              </a:gs>
              <a:gs pos="9000">
                <a:schemeClr val="accent1">
                  <a:lumMod val="20000"/>
                  <a:lumOff val="80000"/>
                </a:schemeClr>
              </a:gs>
              <a:gs pos="28000">
                <a:schemeClr val="accent1">
                  <a:lumMod val="20000"/>
                  <a:lumOff val="80000"/>
                </a:schemeClr>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solidFill>
                  <a:schemeClr val="dk1"/>
                </a:solidFill>
                <a:effectLst>
                  <a:outerShdw blurRad="38100" dist="38100" dir="2700000" algn="tl">
                    <a:srgbClr val="000000">
                      <a:alpha val="43137"/>
                    </a:srgbClr>
                  </a:outerShdw>
                </a:effectLst>
              </a:rPr>
              <a:t>Keyboard Next Word Prediction</a:t>
            </a:r>
            <a:endParaRPr lang="en-GB" b="1" dirty="0">
              <a:solidFill>
                <a:schemeClr val="dk1"/>
              </a:solidFill>
              <a:effectLst>
                <a:outerShdw blurRad="38100" dist="38100" dir="2700000" algn="tl">
                  <a:srgbClr val="000000">
                    <a:alpha val="43137"/>
                  </a:srgbClr>
                </a:outerShdw>
              </a:effectLst>
            </a:endParaRPr>
          </a:p>
        </p:txBody>
      </p:sp>
      <p:sp>
        <p:nvSpPr>
          <p:cNvPr id="108" name="Rounded Rectangle 107"/>
          <p:cNvSpPr/>
          <p:nvPr/>
        </p:nvSpPr>
        <p:spPr>
          <a:xfrm>
            <a:off x="6132080" y="3256679"/>
            <a:ext cx="2791343" cy="677663"/>
          </a:xfrm>
          <a:prstGeom prst="roundRect">
            <a:avLst/>
          </a:prstGeom>
          <a:gradFill>
            <a:gsLst>
              <a:gs pos="0">
                <a:schemeClr val="accent1">
                  <a:lumMod val="20000"/>
                  <a:lumOff val="80000"/>
                </a:schemeClr>
              </a:gs>
              <a:gs pos="19000">
                <a:schemeClr val="accent1">
                  <a:lumMod val="20000"/>
                  <a:lumOff val="80000"/>
                </a:schemeClr>
              </a:gs>
              <a:gs pos="9000">
                <a:schemeClr val="accent1">
                  <a:lumMod val="20000"/>
                  <a:lumOff val="80000"/>
                </a:schemeClr>
              </a:gs>
              <a:gs pos="28000">
                <a:schemeClr val="accent1">
                  <a:lumMod val="20000"/>
                  <a:lumOff val="80000"/>
                </a:schemeClr>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solidFill>
                  <a:schemeClr val="dk1"/>
                </a:solidFill>
                <a:effectLst>
                  <a:outerShdw blurRad="38100" dist="38100" dir="2700000" algn="tl">
                    <a:srgbClr val="000000">
                      <a:alpha val="43137"/>
                    </a:srgbClr>
                  </a:outerShdw>
                </a:effectLst>
              </a:rPr>
              <a:t>Google Translator</a:t>
            </a:r>
            <a:endParaRPr lang="en-GB" b="1" dirty="0">
              <a:solidFill>
                <a:schemeClr val="dk1"/>
              </a:solidFill>
              <a:effectLst>
                <a:outerShdw blurRad="38100" dist="38100" dir="2700000" algn="tl">
                  <a:srgbClr val="000000">
                    <a:alpha val="43137"/>
                  </a:srgbClr>
                </a:outerShdw>
              </a:effectLst>
            </a:endParaRPr>
          </a:p>
        </p:txBody>
      </p:sp>
      <p:sp>
        <p:nvSpPr>
          <p:cNvPr id="109" name="Rounded Rectangle 108"/>
          <p:cNvSpPr/>
          <p:nvPr/>
        </p:nvSpPr>
        <p:spPr>
          <a:xfrm>
            <a:off x="6132080" y="4411749"/>
            <a:ext cx="2791343" cy="677663"/>
          </a:xfrm>
          <a:prstGeom prst="roundRect">
            <a:avLst/>
          </a:prstGeom>
          <a:gradFill>
            <a:gsLst>
              <a:gs pos="0">
                <a:schemeClr val="accent1">
                  <a:lumMod val="20000"/>
                  <a:lumOff val="80000"/>
                </a:schemeClr>
              </a:gs>
              <a:gs pos="19000">
                <a:schemeClr val="accent1">
                  <a:lumMod val="20000"/>
                  <a:lumOff val="80000"/>
                </a:schemeClr>
              </a:gs>
              <a:gs pos="9000">
                <a:schemeClr val="accent1">
                  <a:lumMod val="20000"/>
                  <a:lumOff val="80000"/>
                </a:schemeClr>
              </a:gs>
              <a:gs pos="28000">
                <a:schemeClr val="accent1">
                  <a:lumMod val="20000"/>
                  <a:lumOff val="80000"/>
                </a:schemeClr>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solidFill>
                  <a:schemeClr val="dk1"/>
                </a:solidFill>
                <a:effectLst>
                  <a:outerShdw blurRad="38100" dist="38100" dir="2700000" algn="tl">
                    <a:srgbClr val="000000">
                      <a:alpha val="43137"/>
                    </a:srgbClr>
                  </a:outerShdw>
                </a:effectLst>
              </a:rPr>
              <a:t>IMDB Movie Review</a:t>
            </a:r>
            <a:endParaRPr lang="en-GB" b="1" dirty="0">
              <a:solidFill>
                <a:schemeClr val="dk1"/>
              </a:solidFill>
              <a:effectLst>
                <a:outerShdw blurRad="38100" dist="38100" dir="2700000" algn="tl">
                  <a:srgbClr val="000000">
                    <a:alpha val="43137"/>
                  </a:srgbClr>
                </a:outerShdw>
              </a:effectLst>
            </a:endParaRPr>
          </a:p>
        </p:txBody>
      </p:sp>
      <p:sp>
        <p:nvSpPr>
          <p:cNvPr id="110" name="Rounded Rectangle 109"/>
          <p:cNvSpPr/>
          <p:nvPr/>
        </p:nvSpPr>
        <p:spPr>
          <a:xfrm>
            <a:off x="6132080" y="5494626"/>
            <a:ext cx="2791343" cy="677663"/>
          </a:xfrm>
          <a:prstGeom prst="roundRect">
            <a:avLst/>
          </a:prstGeom>
          <a:gradFill>
            <a:gsLst>
              <a:gs pos="0">
                <a:schemeClr val="accent1">
                  <a:lumMod val="20000"/>
                  <a:lumOff val="80000"/>
                </a:schemeClr>
              </a:gs>
              <a:gs pos="19000">
                <a:schemeClr val="accent1">
                  <a:lumMod val="20000"/>
                  <a:lumOff val="80000"/>
                </a:schemeClr>
              </a:gs>
              <a:gs pos="9000">
                <a:schemeClr val="accent1">
                  <a:lumMod val="20000"/>
                  <a:lumOff val="80000"/>
                </a:schemeClr>
              </a:gs>
              <a:gs pos="28000">
                <a:schemeClr val="accent1">
                  <a:lumMod val="20000"/>
                  <a:lumOff val="80000"/>
                </a:schemeClr>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solidFill>
                  <a:schemeClr val="dk1"/>
                </a:solidFill>
                <a:effectLst>
                  <a:outerShdw blurRad="38100" dist="38100" dir="2700000" algn="tl">
                    <a:srgbClr val="000000">
                      <a:alpha val="43137"/>
                    </a:srgbClr>
                  </a:outerShdw>
                </a:effectLst>
              </a:rPr>
              <a:t>NY Article Recommendation</a:t>
            </a:r>
            <a:endParaRPr lang="en-GB" b="1" dirty="0">
              <a:solidFill>
                <a:schemeClr val="dk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7450628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fltVal val="0"/>
                                          </p:val>
                                        </p:tav>
                                        <p:tav tm="100000">
                                          <p:val>
                                            <p:strVal val="#ppt_h"/>
                                          </p:val>
                                        </p:tav>
                                      </p:tavLst>
                                    </p:anim>
                                    <p:animEffect transition="in" filter="fade">
                                      <p:cBhvr>
                                        <p:cTn id="15" dur="500"/>
                                        <p:tgtEl>
                                          <p:spTgt spid="16"/>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1500"/>
                            </p:stCondLst>
                            <p:childTnLst>
                              <p:par>
                                <p:cTn id="23" presetID="32" presetClass="emph" presetSubtype="0" fill="hold" nodeType="afterEffect">
                                  <p:stCondLst>
                                    <p:cond delay="0"/>
                                  </p:stCondLst>
                                  <p:childTnLst>
                                    <p:animRot by="120000">
                                      <p:cBhvr>
                                        <p:cTn id="24" dur="100" fill="hold">
                                          <p:stCondLst>
                                            <p:cond delay="0"/>
                                          </p:stCondLst>
                                        </p:cTn>
                                        <p:tgtEl>
                                          <p:spTgt spid="16"/>
                                        </p:tgtEl>
                                        <p:attrNameLst>
                                          <p:attrName>r</p:attrName>
                                        </p:attrNameLst>
                                      </p:cBhvr>
                                    </p:animRot>
                                    <p:animRot by="-240000">
                                      <p:cBhvr>
                                        <p:cTn id="25" dur="200" fill="hold">
                                          <p:stCondLst>
                                            <p:cond delay="200"/>
                                          </p:stCondLst>
                                        </p:cTn>
                                        <p:tgtEl>
                                          <p:spTgt spid="16"/>
                                        </p:tgtEl>
                                        <p:attrNameLst>
                                          <p:attrName>r</p:attrName>
                                        </p:attrNameLst>
                                      </p:cBhvr>
                                    </p:animRot>
                                    <p:animRot by="240000">
                                      <p:cBhvr>
                                        <p:cTn id="26" dur="200" fill="hold">
                                          <p:stCondLst>
                                            <p:cond delay="400"/>
                                          </p:stCondLst>
                                        </p:cTn>
                                        <p:tgtEl>
                                          <p:spTgt spid="16"/>
                                        </p:tgtEl>
                                        <p:attrNameLst>
                                          <p:attrName>r</p:attrName>
                                        </p:attrNameLst>
                                      </p:cBhvr>
                                    </p:animRot>
                                    <p:animRot by="-240000">
                                      <p:cBhvr>
                                        <p:cTn id="27" dur="200" fill="hold">
                                          <p:stCondLst>
                                            <p:cond delay="600"/>
                                          </p:stCondLst>
                                        </p:cTn>
                                        <p:tgtEl>
                                          <p:spTgt spid="16"/>
                                        </p:tgtEl>
                                        <p:attrNameLst>
                                          <p:attrName>r</p:attrName>
                                        </p:attrNameLst>
                                      </p:cBhvr>
                                    </p:animRot>
                                    <p:animRot by="120000">
                                      <p:cBhvr>
                                        <p:cTn id="28" dur="200" fill="hold">
                                          <p:stCondLst>
                                            <p:cond delay="800"/>
                                          </p:stCondLst>
                                        </p:cTn>
                                        <p:tgtEl>
                                          <p:spTgt spid="16"/>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anim calcmode="lin" valueType="num">
                                      <p:cBhvr>
                                        <p:cTn id="33" dur="500" fill="hold"/>
                                        <p:tgtEl>
                                          <p:spTgt spid="34"/>
                                        </p:tgtEl>
                                        <p:attrNameLst>
                                          <p:attrName>ppt_w</p:attrName>
                                        </p:attrNameLst>
                                      </p:cBhvr>
                                      <p:tavLst>
                                        <p:tav tm="0">
                                          <p:val>
                                            <p:fltVal val="0"/>
                                          </p:val>
                                        </p:tav>
                                        <p:tav tm="100000">
                                          <p:val>
                                            <p:strVal val="#ppt_w"/>
                                          </p:val>
                                        </p:tav>
                                      </p:tavLst>
                                    </p:anim>
                                    <p:anim calcmode="lin" valueType="num">
                                      <p:cBhvr>
                                        <p:cTn id="34" dur="500" fill="hold"/>
                                        <p:tgtEl>
                                          <p:spTgt spid="34"/>
                                        </p:tgtEl>
                                        <p:attrNameLst>
                                          <p:attrName>ppt_h</p:attrName>
                                        </p:attrNameLst>
                                      </p:cBhvr>
                                      <p:tavLst>
                                        <p:tav tm="0">
                                          <p:val>
                                            <p:fltVal val="0"/>
                                          </p:val>
                                        </p:tav>
                                        <p:tav tm="100000">
                                          <p:val>
                                            <p:strVal val="#ppt_h"/>
                                          </p:val>
                                        </p:tav>
                                      </p:tavLst>
                                    </p:anim>
                                    <p:animEffect transition="in" filter="fade">
                                      <p:cBhvr>
                                        <p:cTn id="35" dur="500"/>
                                        <p:tgtEl>
                                          <p:spTgt spid="34"/>
                                        </p:tgtEl>
                                      </p:cBhvr>
                                    </p:animEffect>
                                  </p:childTnLst>
                                </p:cTn>
                              </p:par>
                            </p:childTnLst>
                          </p:cTn>
                        </p:par>
                        <p:par>
                          <p:cTn id="36" fill="hold">
                            <p:stCondLst>
                              <p:cond delay="500"/>
                            </p:stCondLst>
                            <p:childTnLst>
                              <p:par>
                                <p:cTn id="37" presetID="53" presetClass="entr" presetSubtype="16" fill="hold" nodeType="after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p:cTn id="39" dur="500" fill="hold"/>
                                        <p:tgtEl>
                                          <p:spTgt spid="39"/>
                                        </p:tgtEl>
                                        <p:attrNameLst>
                                          <p:attrName>ppt_w</p:attrName>
                                        </p:attrNameLst>
                                      </p:cBhvr>
                                      <p:tavLst>
                                        <p:tav tm="0">
                                          <p:val>
                                            <p:fltVal val="0"/>
                                          </p:val>
                                        </p:tav>
                                        <p:tav tm="100000">
                                          <p:val>
                                            <p:strVal val="#ppt_w"/>
                                          </p:val>
                                        </p:tav>
                                      </p:tavLst>
                                    </p:anim>
                                    <p:anim calcmode="lin" valueType="num">
                                      <p:cBhvr>
                                        <p:cTn id="40" dur="500" fill="hold"/>
                                        <p:tgtEl>
                                          <p:spTgt spid="39"/>
                                        </p:tgtEl>
                                        <p:attrNameLst>
                                          <p:attrName>ppt_h</p:attrName>
                                        </p:attrNameLst>
                                      </p:cBhvr>
                                      <p:tavLst>
                                        <p:tav tm="0">
                                          <p:val>
                                            <p:fltVal val="0"/>
                                          </p:val>
                                        </p:tav>
                                        <p:tav tm="100000">
                                          <p:val>
                                            <p:strVal val="#ppt_h"/>
                                          </p:val>
                                        </p:tav>
                                      </p:tavLst>
                                    </p:anim>
                                    <p:animEffect transition="in" filter="fade">
                                      <p:cBhvr>
                                        <p:cTn id="41" dur="500"/>
                                        <p:tgtEl>
                                          <p:spTgt spid="39"/>
                                        </p:tgtEl>
                                      </p:cBhvr>
                                    </p:animEffect>
                                  </p:childTnLst>
                                </p:cTn>
                              </p:par>
                            </p:childTnLst>
                          </p:cTn>
                        </p:par>
                        <p:par>
                          <p:cTn id="42" fill="hold">
                            <p:stCondLst>
                              <p:cond delay="1000"/>
                            </p:stCondLst>
                            <p:childTnLst>
                              <p:par>
                                <p:cTn id="43" presetID="53" presetClass="entr" presetSubtype="16" fill="hold" grpId="0" nodeType="afterEffect">
                                  <p:stCondLst>
                                    <p:cond delay="0"/>
                                  </p:stCondLst>
                                  <p:childTnLst>
                                    <p:set>
                                      <p:cBhvr>
                                        <p:cTn id="44" dur="1" fill="hold">
                                          <p:stCondLst>
                                            <p:cond delay="0"/>
                                          </p:stCondLst>
                                        </p:cTn>
                                        <p:tgtEl>
                                          <p:spTgt spid="107"/>
                                        </p:tgtEl>
                                        <p:attrNameLst>
                                          <p:attrName>style.visibility</p:attrName>
                                        </p:attrNameLst>
                                      </p:cBhvr>
                                      <p:to>
                                        <p:strVal val="visible"/>
                                      </p:to>
                                    </p:set>
                                    <p:anim calcmode="lin" valueType="num">
                                      <p:cBhvr>
                                        <p:cTn id="45" dur="500" fill="hold"/>
                                        <p:tgtEl>
                                          <p:spTgt spid="107"/>
                                        </p:tgtEl>
                                        <p:attrNameLst>
                                          <p:attrName>ppt_w</p:attrName>
                                        </p:attrNameLst>
                                      </p:cBhvr>
                                      <p:tavLst>
                                        <p:tav tm="0">
                                          <p:val>
                                            <p:fltVal val="0"/>
                                          </p:val>
                                        </p:tav>
                                        <p:tav tm="100000">
                                          <p:val>
                                            <p:strVal val="#ppt_w"/>
                                          </p:val>
                                        </p:tav>
                                      </p:tavLst>
                                    </p:anim>
                                    <p:anim calcmode="lin" valueType="num">
                                      <p:cBhvr>
                                        <p:cTn id="46" dur="500" fill="hold"/>
                                        <p:tgtEl>
                                          <p:spTgt spid="107"/>
                                        </p:tgtEl>
                                        <p:attrNameLst>
                                          <p:attrName>ppt_h</p:attrName>
                                        </p:attrNameLst>
                                      </p:cBhvr>
                                      <p:tavLst>
                                        <p:tav tm="0">
                                          <p:val>
                                            <p:fltVal val="0"/>
                                          </p:val>
                                        </p:tav>
                                        <p:tav tm="100000">
                                          <p:val>
                                            <p:strVal val="#ppt_h"/>
                                          </p:val>
                                        </p:tav>
                                      </p:tavLst>
                                    </p:anim>
                                    <p:animEffect transition="in" filter="fade">
                                      <p:cBhvr>
                                        <p:cTn id="47" dur="500"/>
                                        <p:tgtEl>
                                          <p:spTgt spid="107"/>
                                        </p:tgtEl>
                                      </p:cBhvr>
                                    </p:animEffect>
                                  </p:childTnLst>
                                </p:cTn>
                              </p:par>
                            </p:childTnLst>
                          </p:cTn>
                        </p:par>
                        <p:par>
                          <p:cTn id="48" fill="hold">
                            <p:stCondLst>
                              <p:cond delay="1500"/>
                            </p:stCondLst>
                            <p:childTnLst>
                              <p:par>
                                <p:cTn id="49" presetID="32" presetClass="emph" presetSubtype="0" fill="hold" nodeType="afterEffect">
                                  <p:stCondLst>
                                    <p:cond delay="0"/>
                                  </p:stCondLst>
                                  <p:childTnLst>
                                    <p:animRot by="120000">
                                      <p:cBhvr>
                                        <p:cTn id="50" dur="100" fill="hold">
                                          <p:stCondLst>
                                            <p:cond delay="0"/>
                                          </p:stCondLst>
                                        </p:cTn>
                                        <p:tgtEl>
                                          <p:spTgt spid="39"/>
                                        </p:tgtEl>
                                        <p:attrNameLst>
                                          <p:attrName>r</p:attrName>
                                        </p:attrNameLst>
                                      </p:cBhvr>
                                    </p:animRot>
                                    <p:animRot by="-240000">
                                      <p:cBhvr>
                                        <p:cTn id="51" dur="200" fill="hold">
                                          <p:stCondLst>
                                            <p:cond delay="200"/>
                                          </p:stCondLst>
                                        </p:cTn>
                                        <p:tgtEl>
                                          <p:spTgt spid="39"/>
                                        </p:tgtEl>
                                        <p:attrNameLst>
                                          <p:attrName>r</p:attrName>
                                        </p:attrNameLst>
                                      </p:cBhvr>
                                    </p:animRot>
                                    <p:animRot by="240000">
                                      <p:cBhvr>
                                        <p:cTn id="52" dur="200" fill="hold">
                                          <p:stCondLst>
                                            <p:cond delay="400"/>
                                          </p:stCondLst>
                                        </p:cTn>
                                        <p:tgtEl>
                                          <p:spTgt spid="39"/>
                                        </p:tgtEl>
                                        <p:attrNameLst>
                                          <p:attrName>r</p:attrName>
                                        </p:attrNameLst>
                                      </p:cBhvr>
                                    </p:animRot>
                                    <p:animRot by="-240000">
                                      <p:cBhvr>
                                        <p:cTn id="53" dur="200" fill="hold">
                                          <p:stCondLst>
                                            <p:cond delay="600"/>
                                          </p:stCondLst>
                                        </p:cTn>
                                        <p:tgtEl>
                                          <p:spTgt spid="39"/>
                                        </p:tgtEl>
                                        <p:attrNameLst>
                                          <p:attrName>r</p:attrName>
                                        </p:attrNameLst>
                                      </p:cBhvr>
                                    </p:animRot>
                                    <p:animRot by="120000">
                                      <p:cBhvr>
                                        <p:cTn id="54" dur="200" fill="hold">
                                          <p:stCondLst>
                                            <p:cond delay="800"/>
                                          </p:stCondLst>
                                        </p:cTn>
                                        <p:tgtEl>
                                          <p:spTgt spid="39"/>
                                        </p:tgtEl>
                                        <p:attrNameLst>
                                          <p:attrName>r</p:attrName>
                                        </p:attrNameLst>
                                      </p:cBhvr>
                                    </p:animRo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anim calcmode="lin" valueType="num">
                                      <p:cBhvr>
                                        <p:cTn id="59" dur="500" fill="hold"/>
                                        <p:tgtEl>
                                          <p:spTgt spid="52"/>
                                        </p:tgtEl>
                                        <p:attrNameLst>
                                          <p:attrName>ppt_w</p:attrName>
                                        </p:attrNameLst>
                                      </p:cBhvr>
                                      <p:tavLst>
                                        <p:tav tm="0">
                                          <p:val>
                                            <p:fltVal val="0"/>
                                          </p:val>
                                        </p:tav>
                                        <p:tav tm="100000">
                                          <p:val>
                                            <p:strVal val="#ppt_w"/>
                                          </p:val>
                                        </p:tav>
                                      </p:tavLst>
                                    </p:anim>
                                    <p:anim calcmode="lin" valueType="num">
                                      <p:cBhvr>
                                        <p:cTn id="60" dur="500" fill="hold"/>
                                        <p:tgtEl>
                                          <p:spTgt spid="52"/>
                                        </p:tgtEl>
                                        <p:attrNameLst>
                                          <p:attrName>ppt_h</p:attrName>
                                        </p:attrNameLst>
                                      </p:cBhvr>
                                      <p:tavLst>
                                        <p:tav tm="0">
                                          <p:val>
                                            <p:fltVal val="0"/>
                                          </p:val>
                                        </p:tav>
                                        <p:tav tm="100000">
                                          <p:val>
                                            <p:strVal val="#ppt_h"/>
                                          </p:val>
                                        </p:tav>
                                      </p:tavLst>
                                    </p:anim>
                                    <p:animEffect transition="in" filter="fade">
                                      <p:cBhvr>
                                        <p:cTn id="61" dur="500"/>
                                        <p:tgtEl>
                                          <p:spTgt spid="52"/>
                                        </p:tgtEl>
                                      </p:cBhvr>
                                    </p:animEffect>
                                  </p:childTnLst>
                                </p:cTn>
                              </p:par>
                            </p:childTnLst>
                          </p:cTn>
                        </p:par>
                        <p:par>
                          <p:cTn id="62" fill="hold">
                            <p:stCondLst>
                              <p:cond delay="500"/>
                            </p:stCondLst>
                            <p:childTnLst>
                              <p:par>
                                <p:cTn id="63" presetID="53" presetClass="entr" presetSubtype="16" fill="hold" nodeType="after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p:cTn id="65" dur="500" fill="hold"/>
                                        <p:tgtEl>
                                          <p:spTgt spid="53"/>
                                        </p:tgtEl>
                                        <p:attrNameLst>
                                          <p:attrName>ppt_w</p:attrName>
                                        </p:attrNameLst>
                                      </p:cBhvr>
                                      <p:tavLst>
                                        <p:tav tm="0">
                                          <p:val>
                                            <p:fltVal val="0"/>
                                          </p:val>
                                        </p:tav>
                                        <p:tav tm="100000">
                                          <p:val>
                                            <p:strVal val="#ppt_w"/>
                                          </p:val>
                                        </p:tav>
                                      </p:tavLst>
                                    </p:anim>
                                    <p:anim calcmode="lin" valueType="num">
                                      <p:cBhvr>
                                        <p:cTn id="66" dur="500" fill="hold"/>
                                        <p:tgtEl>
                                          <p:spTgt spid="53"/>
                                        </p:tgtEl>
                                        <p:attrNameLst>
                                          <p:attrName>ppt_h</p:attrName>
                                        </p:attrNameLst>
                                      </p:cBhvr>
                                      <p:tavLst>
                                        <p:tav tm="0">
                                          <p:val>
                                            <p:fltVal val="0"/>
                                          </p:val>
                                        </p:tav>
                                        <p:tav tm="100000">
                                          <p:val>
                                            <p:strVal val="#ppt_h"/>
                                          </p:val>
                                        </p:tav>
                                      </p:tavLst>
                                    </p:anim>
                                    <p:animEffect transition="in" filter="fade">
                                      <p:cBhvr>
                                        <p:cTn id="67" dur="500"/>
                                        <p:tgtEl>
                                          <p:spTgt spid="53"/>
                                        </p:tgtEl>
                                      </p:cBhvr>
                                    </p:animEffect>
                                  </p:childTnLst>
                                </p:cTn>
                              </p:par>
                            </p:childTnLst>
                          </p:cTn>
                        </p:par>
                        <p:par>
                          <p:cTn id="68" fill="hold">
                            <p:stCondLst>
                              <p:cond delay="1000"/>
                            </p:stCondLst>
                            <p:childTnLst>
                              <p:par>
                                <p:cTn id="69" presetID="53" presetClass="entr" presetSubtype="16" fill="hold" grpId="0" nodeType="afterEffect">
                                  <p:stCondLst>
                                    <p:cond delay="0"/>
                                  </p:stCondLst>
                                  <p:childTnLst>
                                    <p:set>
                                      <p:cBhvr>
                                        <p:cTn id="70" dur="1" fill="hold">
                                          <p:stCondLst>
                                            <p:cond delay="0"/>
                                          </p:stCondLst>
                                        </p:cTn>
                                        <p:tgtEl>
                                          <p:spTgt spid="108"/>
                                        </p:tgtEl>
                                        <p:attrNameLst>
                                          <p:attrName>style.visibility</p:attrName>
                                        </p:attrNameLst>
                                      </p:cBhvr>
                                      <p:to>
                                        <p:strVal val="visible"/>
                                      </p:to>
                                    </p:set>
                                    <p:anim calcmode="lin" valueType="num">
                                      <p:cBhvr>
                                        <p:cTn id="71" dur="500" fill="hold"/>
                                        <p:tgtEl>
                                          <p:spTgt spid="108"/>
                                        </p:tgtEl>
                                        <p:attrNameLst>
                                          <p:attrName>ppt_w</p:attrName>
                                        </p:attrNameLst>
                                      </p:cBhvr>
                                      <p:tavLst>
                                        <p:tav tm="0">
                                          <p:val>
                                            <p:fltVal val="0"/>
                                          </p:val>
                                        </p:tav>
                                        <p:tav tm="100000">
                                          <p:val>
                                            <p:strVal val="#ppt_w"/>
                                          </p:val>
                                        </p:tav>
                                      </p:tavLst>
                                    </p:anim>
                                    <p:anim calcmode="lin" valueType="num">
                                      <p:cBhvr>
                                        <p:cTn id="72" dur="500" fill="hold"/>
                                        <p:tgtEl>
                                          <p:spTgt spid="108"/>
                                        </p:tgtEl>
                                        <p:attrNameLst>
                                          <p:attrName>ppt_h</p:attrName>
                                        </p:attrNameLst>
                                      </p:cBhvr>
                                      <p:tavLst>
                                        <p:tav tm="0">
                                          <p:val>
                                            <p:fltVal val="0"/>
                                          </p:val>
                                        </p:tav>
                                        <p:tav tm="100000">
                                          <p:val>
                                            <p:strVal val="#ppt_h"/>
                                          </p:val>
                                        </p:tav>
                                      </p:tavLst>
                                    </p:anim>
                                    <p:animEffect transition="in" filter="fade">
                                      <p:cBhvr>
                                        <p:cTn id="73" dur="500"/>
                                        <p:tgtEl>
                                          <p:spTgt spid="108"/>
                                        </p:tgtEl>
                                      </p:cBhvr>
                                    </p:animEffect>
                                  </p:childTnLst>
                                </p:cTn>
                              </p:par>
                            </p:childTnLst>
                          </p:cTn>
                        </p:par>
                        <p:par>
                          <p:cTn id="74" fill="hold">
                            <p:stCondLst>
                              <p:cond delay="1500"/>
                            </p:stCondLst>
                            <p:childTnLst>
                              <p:par>
                                <p:cTn id="75" presetID="32" presetClass="emph" presetSubtype="0" fill="hold" nodeType="afterEffect">
                                  <p:stCondLst>
                                    <p:cond delay="0"/>
                                  </p:stCondLst>
                                  <p:childTnLst>
                                    <p:animRot by="120000">
                                      <p:cBhvr>
                                        <p:cTn id="76" dur="100" fill="hold">
                                          <p:stCondLst>
                                            <p:cond delay="0"/>
                                          </p:stCondLst>
                                        </p:cTn>
                                        <p:tgtEl>
                                          <p:spTgt spid="53"/>
                                        </p:tgtEl>
                                        <p:attrNameLst>
                                          <p:attrName>r</p:attrName>
                                        </p:attrNameLst>
                                      </p:cBhvr>
                                    </p:animRot>
                                    <p:animRot by="-240000">
                                      <p:cBhvr>
                                        <p:cTn id="77" dur="200" fill="hold">
                                          <p:stCondLst>
                                            <p:cond delay="200"/>
                                          </p:stCondLst>
                                        </p:cTn>
                                        <p:tgtEl>
                                          <p:spTgt spid="53"/>
                                        </p:tgtEl>
                                        <p:attrNameLst>
                                          <p:attrName>r</p:attrName>
                                        </p:attrNameLst>
                                      </p:cBhvr>
                                    </p:animRot>
                                    <p:animRot by="240000">
                                      <p:cBhvr>
                                        <p:cTn id="78" dur="200" fill="hold">
                                          <p:stCondLst>
                                            <p:cond delay="400"/>
                                          </p:stCondLst>
                                        </p:cTn>
                                        <p:tgtEl>
                                          <p:spTgt spid="53"/>
                                        </p:tgtEl>
                                        <p:attrNameLst>
                                          <p:attrName>r</p:attrName>
                                        </p:attrNameLst>
                                      </p:cBhvr>
                                    </p:animRot>
                                    <p:animRot by="-240000">
                                      <p:cBhvr>
                                        <p:cTn id="79" dur="200" fill="hold">
                                          <p:stCondLst>
                                            <p:cond delay="600"/>
                                          </p:stCondLst>
                                        </p:cTn>
                                        <p:tgtEl>
                                          <p:spTgt spid="53"/>
                                        </p:tgtEl>
                                        <p:attrNameLst>
                                          <p:attrName>r</p:attrName>
                                        </p:attrNameLst>
                                      </p:cBhvr>
                                    </p:animRot>
                                    <p:animRot by="120000">
                                      <p:cBhvr>
                                        <p:cTn id="80" dur="200" fill="hold">
                                          <p:stCondLst>
                                            <p:cond delay="800"/>
                                          </p:stCondLst>
                                        </p:cTn>
                                        <p:tgtEl>
                                          <p:spTgt spid="53"/>
                                        </p:tgtEl>
                                        <p:attrNameLst>
                                          <p:attrName>r</p:attrName>
                                        </p:attrNameLst>
                                      </p:cBhvr>
                                    </p:animRo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nodeType="clickEffect">
                                  <p:stCondLst>
                                    <p:cond delay="0"/>
                                  </p:stCondLst>
                                  <p:childTnLst>
                                    <p:set>
                                      <p:cBhvr>
                                        <p:cTn id="84" dur="1" fill="hold">
                                          <p:stCondLst>
                                            <p:cond delay="0"/>
                                          </p:stCondLst>
                                        </p:cTn>
                                        <p:tgtEl>
                                          <p:spTgt spid="67"/>
                                        </p:tgtEl>
                                        <p:attrNameLst>
                                          <p:attrName>style.visibility</p:attrName>
                                        </p:attrNameLst>
                                      </p:cBhvr>
                                      <p:to>
                                        <p:strVal val="visible"/>
                                      </p:to>
                                    </p:set>
                                    <p:anim calcmode="lin" valueType="num">
                                      <p:cBhvr>
                                        <p:cTn id="85" dur="500" fill="hold"/>
                                        <p:tgtEl>
                                          <p:spTgt spid="67"/>
                                        </p:tgtEl>
                                        <p:attrNameLst>
                                          <p:attrName>ppt_w</p:attrName>
                                        </p:attrNameLst>
                                      </p:cBhvr>
                                      <p:tavLst>
                                        <p:tav tm="0">
                                          <p:val>
                                            <p:fltVal val="0"/>
                                          </p:val>
                                        </p:tav>
                                        <p:tav tm="100000">
                                          <p:val>
                                            <p:strVal val="#ppt_w"/>
                                          </p:val>
                                        </p:tav>
                                      </p:tavLst>
                                    </p:anim>
                                    <p:anim calcmode="lin" valueType="num">
                                      <p:cBhvr>
                                        <p:cTn id="86" dur="500" fill="hold"/>
                                        <p:tgtEl>
                                          <p:spTgt spid="67"/>
                                        </p:tgtEl>
                                        <p:attrNameLst>
                                          <p:attrName>ppt_h</p:attrName>
                                        </p:attrNameLst>
                                      </p:cBhvr>
                                      <p:tavLst>
                                        <p:tav tm="0">
                                          <p:val>
                                            <p:fltVal val="0"/>
                                          </p:val>
                                        </p:tav>
                                        <p:tav tm="100000">
                                          <p:val>
                                            <p:strVal val="#ppt_h"/>
                                          </p:val>
                                        </p:tav>
                                      </p:tavLst>
                                    </p:anim>
                                    <p:animEffect transition="in" filter="fade">
                                      <p:cBhvr>
                                        <p:cTn id="87" dur="500"/>
                                        <p:tgtEl>
                                          <p:spTgt spid="67"/>
                                        </p:tgtEl>
                                      </p:cBhvr>
                                    </p:animEffect>
                                  </p:childTnLst>
                                </p:cTn>
                              </p:par>
                            </p:childTnLst>
                          </p:cTn>
                        </p:par>
                        <p:par>
                          <p:cTn id="88" fill="hold">
                            <p:stCondLst>
                              <p:cond delay="500"/>
                            </p:stCondLst>
                            <p:childTnLst>
                              <p:par>
                                <p:cTn id="89" presetID="53" presetClass="entr" presetSubtype="16" fill="hold" nodeType="afterEffect">
                                  <p:stCondLst>
                                    <p:cond delay="0"/>
                                  </p:stCondLst>
                                  <p:childTnLst>
                                    <p:set>
                                      <p:cBhvr>
                                        <p:cTn id="90" dur="1" fill="hold">
                                          <p:stCondLst>
                                            <p:cond delay="0"/>
                                          </p:stCondLst>
                                        </p:cTn>
                                        <p:tgtEl>
                                          <p:spTgt spid="69"/>
                                        </p:tgtEl>
                                        <p:attrNameLst>
                                          <p:attrName>style.visibility</p:attrName>
                                        </p:attrNameLst>
                                      </p:cBhvr>
                                      <p:to>
                                        <p:strVal val="visible"/>
                                      </p:to>
                                    </p:set>
                                    <p:anim calcmode="lin" valueType="num">
                                      <p:cBhvr>
                                        <p:cTn id="91" dur="500" fill="hold"/>
                                        <p:tgtEl>
                                          <p:spTgt spid="69"/>
                                        </p:tgtEl>
                                        <p:attrNameLst>
                                          <p:attrName>ppt_w</p:attrName>
                                        </p:attrNameLst>
                                      </p:cBhvr>
                                      <p:tavLst>
                                        <p:tav tm="0">
                                          <p:val>
                                            <p:fltVal val="0"/>
                                          </p:val>
                                        </p:tav>
                                        <p:tav tm="100000">
                                          <p:val>
                                            <p:strVal val="#ppt_w"/>
                                          </p:val>
                                        </p:tav>
                                      </p:tavLst>
                                    </p:anim>
                                    <p:anim calcmode="lin" valueType="num">
                                      <p:cBhvr>
                                        <p:cTn id="92" dur="500" fill="hold"/>
                                        <p:tgtEl>
                                          <p:spTgt spid="69"/>
                                        </p:tgtEl>
                                        <p:attrNameLst>
                                          <p:attrName>ppt_h</p:attrName>
                                        </p:attrNameLst>
                                      </p:cBhvr>
                                      <p:tavLst>
                                        <p:tav tm="0">
                                          <p:val>
                                            <p:fltVal val="0"/>
                                          </p:val>
                                        </p:tav>
                                        <p:tav tm="100000">
                                          <p:val>
                                            <p:strVal val="#ppt_h"/>
                                          </p:val>
                                        </p:tav>
                                      </p:tavLst>
                                    </p:anim>
                                    <p:animEffect transition="in" filter="fade">
                                      <p:cBhvr>
                                        <p:cTn id="93" dur="500"/>
                                        <p:tgtEl>
                                          <p:spTgt spid="69"/>
                                        </p:tgtEl>
                                      </p:cBhvr>
                                    </p:animEffect>
                                  </p:childTnLst>
                                </p:cTn>
                              </p:par>
                            </p:childTnLst>
                          </p:cTn>
                        </p:par>
                        <p:par>
                          <p:cTn id="94" fill="hold">
                            <p:stCondLst>
                              <p:cond delay="1000"/>
                            </p:stCondLst>
                            <p:childTnLst>
                              <p:par>
                                <p:cTn id="95" presetID="53" presetClass="entr" presetSubtype="16" fill="hold" grpId="0" nodeType="afterEffect">
                                  <p:stCondLst>
                                    <p:cond delay="0"/>
                                  </p:stCondLst>
                                  <p:childTnLst>
                                    <p:set>
                                      <p:cBhvr>
                                        <p:cTn id="96" dur="1" fill="hold">
                                          <p:stCondLst>
                                            <p:cond delay="0"/>
                                          </p:stCondLst>
                                        </p:cTn>
                                        <p:tgtEl>
                                          <p:spTgt spid="109"/>
                                        </p:tgtEl>
                                        <p:attrNameLst>
                                          <p:attrName>style.visibility</p:attrName>
                                        </p:attrNameLst>
                                      </p:cBhvr>
                                      <p:to>
                                        <p:strVal val="visible"/>
                                      </p:to>
                                    </p:set>
                                    <p:anim calcmode="lin" valueType="num">
                                      <p:cBhvr>
                                        <p:cTn id="97" dur="500" fill="hold"/>
                                        <p:tgtEl>
                                          <p:spTgt spid="109"/>
                                        </p:tgtEl>
                                        <p:attrNameLst>
                                          <p:attrName>ppt_w</p:attrName>
                                        </p:attrNameLst>
                                      </p:cBhvr>
                                      <p:tavLst>
                                        <p:tav tm="0">
                                          <p:val>
                                            <p:fltVal val="0"/>
                                          </p:val>
                                        </p:tav>
                                        <p:tav tm="100000">
                                          <p:val>
                                            <p:strVal val="#ppt_w"/>
                                          </p:val>
                                        </p:tav>
                                      </p:tavLst>
                                    </p:anim>
                                    <p:anim calcmode="lin" valueType="num">
                                      <p:cBhvr>
                                        <p:cTn id="98" dur="500" fill="hold"/>
                                        <p:tgtEl>
                                          <p:spTgt spid="109"/>
                                        </p:tgtEl>
                                        <p:attrNameLst>
                                          <p:attrName>ppt_h</p:attrName>
                                        </p:attrNameLst>
                                      </p:cBhvr>
                                      <p:tavLst>
                                        <p:tav tm="0">
                                          <p:val>
                                            <p:fltVal val="0"/>
                                          </p:val>
                                        </p:tav>
                                        <p:tav tm="100000">
                                          <p:val>
                                            <p:strVal val="#ppt_h"/>
                                          </p:val>
                                        </p:tav>
                                      </p:tavLst>
                                    </p:anim>
                                    <p:animEffect transition="in" filter="fade">
                                      <p:cBhvr>
                                        <p:cTn id="99" dur="500"/>
                                        <p:tgtEl>
                                          <p:spTgt spid="109"/>
                                        </p:tgtEl>
                                      </p:cBhvr>
                                    </p:animEffect>
                                  </p:childTnLst>
                                </p:cTn>
                              </p:par>
                            </p:childTnLst>
                          </p:cTn>
                        </p:par>
                        <p:par>
                          <p:cTn id="100" fill="hold">
                            <p:stCondLst>
                              <p:cond delay="1500"/>
                            </p:stCondLst>
                            <p:childTnLst>
                              <p:par>
                                <p:cTn id="101" presetID="32" presetClass="emph" presetSubtype="0" fill="hold" nodeType="afterEffect">
                                  <p:stCondLst>
                                    <p:cond delay="0"/>
                                  </p:stCondLst>
                                  <p:childTnLst>
                                    <p:animRot by="120000">
                                      <p:cBhvr>
                                        <p:cTn id="102" dur="100" fill="hold">
                                          <p:stCondLst>
                                            <p:cond delay="0"/>
                                          </p:stCondLst>
                                        </p:cTn>
                                        <p:tgtEl>
                                          <p:spTgt spid="69"/>
                                        </p:tgtEl>
                                        <p:attrNameLst>
                                          <p:attrName>r</p:attrName>
                                        </p:attrNameLst>
                                      </p:cBhvr>
                                    </p:animRot>
                                    <p:animRot by="-240000">
                                      <p:cBhvr>
                                        <p:cTn id="103" dur="200" fill="hold">
                                          <p:stCondLst>
                                            <p:cond delay="200"/>
                                          </p:stCondLst>
                                        </p:cTn>
                                        <p:tgtEl>
                                          <p:spTgt spid="69"/>
                                        </p:tgtEl>
                                        <p:attrNameLst>
                                          <p:attrName>r</p:attrName>
                                        </p:attrNameLst>
                                      </p:cBhvr>
                                    </p:animRot>
                                    <p:animRot by="240000">
                                      <p:cBhvr>
                                        <p:cTn id="104" dur="200" fill="hold">
                                          <p:stCondLst>
                                            <p:cond delay="400"/>
                                          </p:stCondLst>
                                        </p:cTn>
                                        <p:tgtEl>
                                          <p:spTgt spid="69"/>
                                        </p:tgtEl>
                                        <p:attrNameLst>
                                          <p:attrName>r</p:attrName>
                                        </p:attrNameLst>
                                      </p:cBhvr>
                                    </p:animRot>
                                    <p:animRot by="-240000">
                                      <p:cBhvr>
                                        <p:cTn id="105" dur="200" fill="hold">
                                          <p:stCondLst>
                                            <p:cond delay="600"/>
                                          </p:stCondLst>
                                        </p:cTn>
                                        <p:tgtEl>
                                          <p:spTgt spid="69"/>
                                        </p:tgtEl>
                                        <p:attrNameLst>
                                          <p:attrName>r</p:attrName>
                                        </p:attrNameLst>
                                      </p:cBhvr>
                                    </p:animRot>
                                    <p:animRot by="120000">
                                      <p:cBhvr>
                                        <p:cTn id="106" dur="200" fill="hold">
                                          <p:stCondLst>
                                            <p:cond delay="800"/>
                                          </p:stCondLst>
                                        </p:cTn>
                                        <p:tgtEl>
                                          <p:spTgt spid="69"/>
                                        </p:tgtEl>
                                        <p:attrNameLst>
                                          <p:attrName>r</p:attrName>
                                        </p:attrNameLst>
                                      </p:cBhvr>
                                    </p:animRot>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nodeType="clickEffect">
                                  <p:stCondLst>
                                    <p:cond delay="0"/>
                                  </p:stCondLst>
                                  <p:childTnLst>
                                    <p:set>
                                      <p:cBhvr>
                                        <p:cTn id="110" dur="1" fill="hold">
                                          <p:stCondLst>
                                            <p:cond delay="0"/>
                                          </p:stCondLst>
                                        </p:cTn>
                                        <p:tgtEl>
                                          <p:spTgt spid="82"/>
                                        </p:tgtEl>
                                        <p:attrNameLst>
                                          <p:attrName>style.visibility</p:attrName>
                                        </p:attrNameLst>
                                      </p:cBhvr>
                                      <p:to>
                                        <p:strVal val="visible"/>
                                      </p:to>
                                    </p:set>
                                    <p:anim calcmode="lin" valueType="num">
                                      <p:cBhvr>
                                        <p:cTn id="111" dur="500" fill="hold"/>
                                        <p:tgtEl>
                                          <p:spTgt spid="82"/>
                                        </p:tgtEl>
                                        <p:attrNameLst>
                                          <p:attrName>ppt_w</p:attrName>
                                        </p:attrNameLst>
                                      </p:cBhvr>
                                      <p:tavLst>
                                        <p:tav tm="0">
                                          <p:val>
                                            <p:fltVal val="0"/>
                                          </p:val>
                                        </p:tav>
                                        <p:tav tm="100000">
                                          <p:val>
                                            <p:strVal val="#ppt_w"/>
                                          </p:val>
                                        </p:tav>
                                      </p:tavLst>
                                    </p:anim>
                                    <p:anim calcmode="lin" valueType="num">
                                      <p:cBhvr>
                                        <p:cTn id="112" dur="500" fill="hold"/>
                                        <p:tgtEl>
                                          <p:spTgt spid="82"/>
                                        </p:tgtEl>
                                        <p:attrNameLst>
                                          <p:attrName>ppt_h</p:attrName>
                                        </p:attrNameLst>
                                      </p:cBhvr>
                                      <p:tavLst>
                                        <p:tav tm="0">
                                          <p:val>
                                            <p:fltVal val="0"/>
                                          </p:val>
                                        </p:tav>
                                        <p:tav tm="100000">
                                          <p:val>
                                            <p:strVal val="#ppt_h"/>
                                          </p:val>
                                        </p:tav>
                                      </p:tavLst>
                                    </p:anim>
                                    <p:animEffect transition="in" filter="fade">
                                      <p:cBhvr>
                                        <p:cTn id="113" dur="500"/>
                                        <p:tgtEl>
                                          <p:spTgt spid="82"/>
                                        </p:tgtEl>
                                      </p:cBhvr>
                                    </p:animEffect>
                                  </p:childTnLst>
                                </p:cTn>
                              </p:par>
                            </p:childTnLst>
                          </p:cTn>
                        </p:par>
                        <p:par>
                          <p:cTn id="114" fill="hold">
                            <p:stCondLst>
                              <p:cond delay="500"/>
                            </p:stCondLst>
                            <p:childTnLst>
                              <p:par>
                                <p:cTn id="115" presetID="53" presetClass="entr" presetSubtype="16" fill="hold" nodeType="afterEffect">
                                  <p:stCondLst>
                                    <p:cond delay="0"/>
                                  </p:stCondLst>
                                  <p:childTnLst>
                                    <p:set>
                                      <p:cBhvr>
                                        <p:cTn id="116" dur="1" fill="hold">
                                          <p:stCondLst>
                                            <p:cond delay="0"/>
                                          </p:stCondLst>
                                        </p:cTn>
                                        <p:tgtEl>
                                          <p:spTgt spid="83"/>
                                        </p:tgtEl>
                                        <p:attrNameLst>
                                          <p:attrName>style.visibility</p:attrName>
                                        </p:attrNameLst>
                                      </p:cBhvr>
                                      <p:to>
                                        <p:strVal val="visible"/>
                                      </p:to>
                                    </p:set>
                                    <p:anim calcmode="lin" valueType="num">
                                      <p:cBhvr>
                                        <p:cTn id="117" dur="500" fill="hold"/>
                                        <p:tgtEl>
                                          <p:spTgt spid="83"/>
                                        </p:tgtEl>
                                        <p:attrNameLst>
                                          <p:attrName>ppt_w</p:attrName>
                                        </p:attrNameLst>
                                      </p:cBhvr>
                                      <p:tavLst>
                                        <p:tav tm="0">
                                          <p:val>
                                            <p:fltVal val="0"/>
                                          </p:val>
                                        </p:tav>
                                        <p:tav tm="100000">
                                          <p:val>
                                            <p:strVal val="#ppt_w"/>
                                          </p:val>
                                        </p:tav>
                                      </p:tavLst>
                                    </p:anim>
                                    <p:anim calcmode="lin" valueType="num">
                                      <p:cBhvr>
                                        <p:cTn id="118" dur="500" fill="hold"/>
                                        <p:tgtEl>
                                          <p:spTgt spid="83"/>
                                        </p:tgtEl>
                                        <p:attrNameLst>
                                          <p:attrName>ppt_h</p:attrName>
                                        </p:attrNameLst>
                                      </p:cBhvr>
                                      <p:tavLst>
                                        <p:tav tm="0">
                                          <p:val>
                                            <p:fltVal val="0"/>
                                          </p:val>
                                        </p:tav>
                                        <p:tav tm="100000">
                                          <p:val>
                                            <p:strVal val="#ppt_h"/>
                                          </p:val>
                                        </p:tav>
                                      </p:tavLst>
                                    </p:anim>
                                    <p:animEffect transition="in" filter="fade">
                                      <p:cBhvr>
                                        <p:cTn id="119" dur="500"/>
                                        <p:tgtEl>
                                          <p:spTgt spid="83"/>
                                        </p:tgtEl>
                                      </p:cBhvr>
                                    </p:animEffect>
                                  </p:childTnLst>
                                </p:cTn>
                              </p:par>
                            </p:childTnLst>
                          </p:cTn>
                        </p:par>
                        <p:par>
                          <p:cTn id="120" fill="hold">
                            <p:stCondLst>
                              <p:cond delay="1000"/>
                            </p:stCondLst>
                            <p:childTnLst>
                              <p:par>
                                <p:cTn id="121" presetID="53" presetClass="entr" presetSubtype="16" fill="hold" grpId="0" nodeType="afterEffect">
                                  <p:stCondLst>
                                    <p:cond delay="0"/>
                                  </p:stCondLst>
                                  <p:childTnLst>
                                    <p:set>
                                      <p:cBhvr>
                                        <p:cTn id="122" dur="1" fill="hold">
                                          <p:stCondLst>
                                            <p:cond delay="0"/>
                                          </p:stCondLst>
                                        </p:cTn>
                                        <p:tgtEl>
                                          <p:spTgt spid="110"/>
                                        </p:tgtEl>
                                        <p:attrNameLst>
                                          <p:attrName>style.visibility</p:attrName>
                                        </p:attrNameLst>
                                      </p:cBhvr>
                                      <p:to>
                                        <p:strVal val="visible"/>
                                      </p:to>
                                    </p:set>
                                    <p:anim calcmode="lin" valueType="num">
                                      <p:cBhvr>
                                        <p:cTn id="123" dur="500" fill="hold"/>
                                        <p:tgtEl>
                                          <p:spTgt spid="110"/>
                                        </p:tgtEl>
                                        <p:attrNameLst>
                                          <p:attrName>ppt_w</p:attrName>
                                        </p:attrNameLst>
                                      </p:cBhvr>
                                      <p:tavLst>
                                        <p:tav tm="0">
                                          <p:val>
                                            <p:fltVal val="0"/>
                                          </p:val>
                                        </p:tav>
                                        <p:tav tm="100000">
                                          <p:val>
                                            <p:strVal val="#ppt_w"/>
                                          </p:val>
                                        </p:tav>
                                      </p:tavLst>
                                    </p:anim>
                                    <p:anim calcmode="lin" valueType="num">
                                      <p:cBhvr>
                                        <p:cTn id="124" dur="500" fill="hold"/>
                                        <p:tgtEl>
                                          <p:spTgt spid="110"/>
                                        </p:tgtEl>
                                        <p:attrNameLst>
                                          <p:attrName>ppt_h</p:attrName>
                                        </p:attrNameLst>
                                      </p:cBhvr>
                                      <p:tavLst>
                                        <p:tav tm="0">
                                          <p:val>
                                            <p:fltVal val="0"/>
                                          </p:val>
                                        </p:tav>
                                        <p:tav tm="100000">
                                          <p:val>
                                            <p:strVal val="#ppt_h"/>
                                          </p:val>
                                        </p:tav>
                                      </p:tavLst>
                                    </p:anim>
                                    <p:animEffect transition="in" filter="fade">
                                      <p:cBhvr>
                                        <p:cTn id="125" dur="500"/>
                                        <p:tgtEl>
                                          <p:spTgt spid="110"/>
                                        </p:tgtEl>
                                      </p:cBhvr>
                                    </p:animEffect>
                                  </p:childTnLst>
                                </p:cTn>
                              </p:par>
                            </p:childTnLst>
                          </p:cTn>
                        </p:par>
                        <p:par>
                          <p:cTn id="126" fill="hold">
                            <p:stCondLst>
                              <p:cond delay="1500"/>
                            </p:stCondLst>
                            <p:childTnLst>
                              <p:par>
                                <p:cTn id="127" presetID="32" presetClass="emph" presetSubtype="0" fill="hold" nodeType="afterEffect">
                                  <p:stCondLst>
                                    <p:cond delay="0"/>
                                  </p:stCondLst>
                                  <p:childTnLst>
                                    <p:animRot by="120000">
                                      <p:cBhvr>
                                        <p:cTn id="128" dur="100" fill="hold">
                                          <p:stCondLst>
                                            <p:cond delay="0"/>
                                          </p:stCondLst>
                                        </p:cTn>
                                        <p:tgtEl>
                                          <p:spTgt spid="83"/>
                                        </p:tgtEl>
                                        <p:attrNameLst>
                                          <p:attrName>r</p:attrName>
                                        </p:attrNameLst>
                                      </p:cBhvr>
                                    </p:animRot>
                                    <p:animRot by="-240000">
                                      <p:cBhvr>
                                        <p:cTn id="129" dur="200" fill="hold">
                                          <p:stCondLst>
                                            <p:cond delay="200"/>
                                          </p:stCondLst>
                                        </p:cTn>
                                        <p:tgtEl>
                                          <p:spTgt spid="83"/>
                                        </p:tgtEl>
                                        <p:attrNameLst>
                                          <p:attrName>r</p:attrName>
                                        </p:attrNameLst>
                                      </p:cBhvr>
                                    </p:animRot>
                                    <p:animRot by="240000">
                                      <p:cBhvr>
                                        <p:cTn id="130" dur="200" fill="hold">
                                          <p:stCondLst>
                                            <p:cond delay="400"/>
                                          </p:stCondLst>
                                        </p:cTn>
                                        <p:tgtEl>
                                          <p:spTgt spid="83"/>
                                        </p:tgtEl>
                                        <p:attrNameLst>
                                          <p:attrName>r</p:attrName>
                                        </p:attrNameLst>
                                      </p:cBhvr>
                                    </p:animRot>
                                    <p:animRot by="-240000">
                                      <p:cBhvr>
                                        <p:cTn id="131" dur="200" fill="hold">
                                          <p:stCondLst>
                                            <p:cond delay="600"/>
                                          </p:stCondLst>
                                        </p:cTn>
                                        <p:tgtEl>
                                          <p:spTgt spid="83"/>
                                        </p:tgtEl>
                                        <p:attrNameLst>
                                          <p:attrName>r</p:attrName>
                                        </p:attrNameLst>
                                      </p:cBhvr>
                                    </p:animRot>
                                    <p:animRot by="120000">
                                      <p:cBhvr>
                                        <p:cTn id="132" dur="200" fill="hold">
                                          <p:stCondLst>
                                            <p:cond delay="800"/>
                                          </p:stCondLst>
                                        </p:cTn>
                                        <p:tgtEl>
                                          <p:spTgt spid="8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7" grpId="0" animBg="1"/>
      <p:bldP spid="108" grpId="0" animBg="1"/>
      <p:bldP spid="109" grpId="0" animBg="1"/>
      <p:bldP spid="1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More Applications</a:t>
            </a:r>
            <a:endParaRPr lang="en-GB" dirty="0"/>
          </a:p>
        </p:txBody>
      </p:sp>
      <p:sp>
        <p:nvSpPr>
          <p:cNvPr id="3" name="Content Placeholder 2"/>
          <p:cNvSpPr>
            <a:spLocks noGrp="1"/>
          </p:cNvSpPr>
          <p:nvPr>
            <p:ph idx="1"/>
          </p:nvPr>
        </p:nvSpPr>
        <p:spPr/>
        <p:txBody>
          <a:bodyPr/>
          <a:lstStyle/>
          <a:p>
            <a:r>
              <a:rPr lang="en-US" dirty="0" smtClean="0"/>
              <a:t>Spam email detection</a:t>
            </a:r>
          </a:p>
          <a:p>
            <a:r>
              <a:rPr lang="en-US" dirty="0" smtClean="0"/>
              <a:t>Trend analysis</a:t>
            </a:r>
          </a:p>
          <a:p>
            <a:r>
              <a:rPr lang="en-US" dirty="0" smtClean="0"/>
              <a:t>Call center chat text transcript analysis:</a:t>
            </a:r>
          </a:p>
          <a:p>
            <a:pPr lvl="1"/>
            <a:r>
              <a:rPr lang="en-US" dirty="0" smtClean="0"/>
              <a:t>Customer Sentiment &amp; satisfaction</a:t>
            </a:r>
          </a:p>
          <a:p>
            <a:pPr lvl="1"/>
            <a:r>
              <a:rPr lang="en-US" dirty="0" smtClean="0"/>
              <a:t>Performance of the caller</a:t>
            </a:r>
          </a:p>
          <a:p>
            <a:pPr lvl="1"/>
            <a:r>
              <a:rPr lang="en-US" dirty="0" smtClean="0"/>
              <a:t>Overall rooted business problem(s) identification</a:t>
            </a:r>
          </a:p>
          <a:p>
            <a:r>
              <a:rPr lang="en-US" dirty="0" smtClean="0"/>
              <a:t>Movie review</a:t>
            </a:r>
          </a:p>
          <a:p>
            <a:pPr lvl="1"/>
            <a:endParaRPr lang="en-US" dirty="0" smtClean="0"/>
          </a:p>
          <a:p>
            <a:endParaRPr lang="en-GB" dirty="0"/>
          </a:p>
        </p:txBody>
      </p:sp>
    </p:spTree>
    <p:extLst>
      <p:ext uri="{BB962C8B-B14F-4D97-AF65-F5344CB8AC3E}">
        <p14:creationId xmlns:p14="http://schemas.microsoft.com/office/powerpoint/2010/main" val="679861252"/>
      </p:ext>
    </p:extLst>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8850" name="Rectangle 2"/>
          <p:cNvSpPr>
            <a:spLocks noGrp="1" noChangeArrowheads="1"/>
          </p:cNvSpPr>
          <p:nvPr>
            <p:ph type="title"/>
          </p:nvPr>
        </p:nvSpPr>
        <p:spPr/>
        <p:txBody>
          <a:bodyPr vert="horz" lIns="91440" tIns="45720" rIns="91440" bIns="45720" rtlCol="0" anchor="ctr">
            <a:normAutofit/>
          </a:bodyPr>
          <a:lstStyle/>
          <a:p>
            <a:r>
              <a:rPr lang="de-DE" altLang="en-US"/>
              <a:t>Preprocessing (1)</a:t>
            </a:r>
          </a:p>
        </p:txBody>
      </p:sp>
      <p:sp>
        <p:nvSpPr>
          <p:cNvPr id="1998851" name="Rectangle 3"/>
          <p:cNvSpPr>
            <a:spLocks noGrp="1" noChangeArrowheads="1"/>
          </p:cNvSpPr>
          <p:nvPr>
            <p:ph idx="1"/>
          </p:nvPr>
        </p:nvSpPr>
        <p:spPr/>
        <p:txBody>
          <a:bodyPr>
            <a:normAutofit lnSpcReduction="10000"/>
          </a:bodyPr>
          <a:lstStyle/>
          <a:p>
            <a:r>
              <a:rPr lang="de-DE" altLang="en-US" dirty="0"/>
              <a:t>Data cleaning</a:t>
            </a:r>
          </a:p>
          <a:p>
            <a:pPr lvl="1"/>
            <a:r>
              <a:rPr lang="de-DE" altLang="en-US" dirty="0"/>
              <a:t>Goal: get clean ASCII text</a:t>
            </a:r>
          </a:p>
          <a:p>
            <a:pPr lvl="1"/>
            <a:r>
              <a:rPr lang="de-DE" altLang="en-US" dirty="0"/>
              <a:t>Remove HTML markup*, pictures, advertisements, ...</a:t>
            </a:r>
          </a:p>
          <a:p>
            <a:pPr lvl="1"/>
            <a:r>
              <a:rPr lang="de-DE" altLang="en-US" dirty="0"/>
              <a:t>Automate this: wrapper induction</a:t>
            </a:r>
          </a:p>
          <a:p>
            <a:pPr lvl="1"/>
            <a:endParaRPr lang="de-DE" altLang="en-US" dirty="0"/>
          </a:p>
          <a:p>
            <a:pPr lvl="1"/>
            <a:endParaRPr lang="de-DE" altLang="en-US" dirty="0"/>
          </a:p>
          <a:p>
            <a:pPr lvl="1"/>
            <a:endParaRPr lang="de-DE" altLang="en-US" dirty="0"/>
          </a:p>
          <a:p>
            <a:pPr lvl="1">
              <a:buFont typeface="Monotype Sorts" pitchFamily="2" charset="2"/>
              <a:buNone/>
            </a:pPr>
            <a:r>
              <a:rPr lang="de-DE" altLang="en-US" dirty="0"/>
              <a:t>* </a:t>
            </a:r>
            <a:r>
              <a:rPr lang="de-DE" altLang="en-US" sz="1800" dirty="0"/>
              <a:t>Note: HTML markup may carry information too (e.g., &lt;b&gt; or &lt;h1&gt; marks something important), which can be extracted! (Depends on the application)</a:t>
            </a:r>
          </a:p>
        </p:txBody>
      </p:sp>
    </p:spTree>
    <p:extLst>
      <p:ext uri="{BB962C8B-B14F-4D97-AF65-F5344CB8AC3E}">
        <p14:creationId xmlns:p14="http://schemas.microsoft.com/office/powerpoint/2010/main" val="515751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9874" name="Rectangle 2"/>
          <p:cNvSpPr>
            <a:spLocks noGrp="1" noChangeArrowheads="1"/>
          </p:cNvSpPr>
          <p:nvPr>
            <p:ph type="title"/>
          </p:nvPr>
        </p:nvSpPr>
        <p:spPr/>
        <p:txBody>
          <a:bodyPr vert="horz" lIns="91440" tIns="45720" rIns="91440" bIns="45720" rtlCol="0" anchor="ctr">
            <a:normAutofit/>
          </a:bodyPr>
          <a:lstStyle/>
          <a:p>
            <a:r>
              <a:rPr lang="de-DE" altLang="en-US" dirty="0"/>
              <a:t>Preprocessing (2)</a:t>
            </a:r>
          </a:p>
        </p:txBody>
      </p:sp>
      <p:sp>
        <p:nvSpPr>
          <p:cNvPr id="1999875" name="Rectangle 3"/>
          <p:cNvSpPr>
            <a:spLocks noGrp="1" noChangeArrowheads="1"/>
          </p:cNvSpPr>
          <p:nvPr>
            <p:ph idx="1"/>
          </p:nvPr>
        </p:nvSpPr>
        <p:spPr>
          <a:xfrm>
            <a:off x="458788" y="1916832"/>
            <a:ext cx="8191500" cy="4464918"/>
          </a:xfrm>
        </p:spPr>
        <p:txBody>
          <a:bodyPr>
            <a:normAutofit/>
          </a:bodyPr>
          <a:lstStyle/>
          <a:p>
            <a:pPr>
              <a:lnSpc>
                <a:spcPct val="80000"/>
              </a:lnSpc>
            </a:pPr>
            <a:r>
              <a:rPr lang="de-DE" altLang="en-US" sz="2000" dirty="0" smtClean="0"/>
              <a:t>Lemmatize </a:t>
            </a:r>
            <a:r>
              <a:rPr lang="de-DE" altLang="en-US" sz="2000" dirty="0"/>
              <a:t>/ stem </a:t>
            </a:r>
          </a:p>
          <a:p>
            <a:pPr lvl="1">
              <a:lnSpc>
                <a:spcPct val="80000"/>
              </a:lnSpc>
            </a:pPr>
            <a:r>
              <a:rPr lang="de-DE" altLang="en-US" sz="1800" dirty="0"/>
              <a:t>ex. </a:t>
            </a:r>
            <a:r>
              <a:rPr lang="de-DE" altLang="en-US" sz="1800" i="1" dirty="0"/>
              <a:t>buyers, buyer </a:t>
            </a:r>
            <a:r>
              <a:rPr lang="de-DE" altLang="en-US" sz="1800" i="1" dirty="0">
                <a:sym typeface="Wingdings" pitchFamily="2" charset="2"/>
              </a:rPr>
              <a:t> buyer / buyer, buying, ...  buy</a:t>
            </a:r>
            <a:endParaRPr lang="de-DE" altLang="en-US" sz="1800" dirty="0">
              <a:sym typeface="Wingdings" pitchFamily="2" charset="2"/>
            </a:endParaRPr>
          </a:p>
          <a:p>
            <a:pPr>
              <a:lnSpc>
                <a:spcPct val="80000"/>
              </a:lnSpc>
            </a:pPr>
            <a:r>
              <a:rPr lang="de-DE" altLang="en-US" sz="2000" dirty="0">
                <a:sym typeface="Wingdings" pitchFamily="2" charset="2"/>
              </a:rPr>
              <a:t>Remove stopwords</a:t>
            </a:r>
          </a:p>
          <a:p>
            <a:pPr>
              <a:lnSpc>
                <a:spcPct val="80000"/>
              </a:lnSpc>
            </a:pPr>
            <a:r>
              <a:rPr lang="de-DE" altLang="en-US" sz="2000" dirty="0"/>
              <a:t>Find Named Entities (people, places, companies, ...); filtering</a:t>
            </a:r>
          </a:p>
          <a:p>
            <a:pPr>
              <a:lnSpc>
                <a:spcPct val="80000"/>
              </a:lnSpc>
            </a:pPr>
            <a:r>
              <a:rPr lang="de-DE" altLang="en-US" sz="2000" dirty="0" smtClean="0"/>
              <a:t>Resolve </a:t>
            </a:r>
            <a:r>
              <a:rPr lang="de-DE" altLang="en-US" sz="2000" dirty="0"/>
              <a:t>homonymy: </a:t>
            </a:r>
            <a:r>
              <a:rPr lang="de-DE" altLang="en-US" sz="2000" dirty="0" smtClean="0"/>
              <a:t>“</a:t>
            </a:r>
            <a:r>
              <a:rPr lang="de-DE" altLang="en-US" sz="2000" dirty="0"/>
              <a:t>synonym unification“</a:t>
            </a:r>
          </a:p>
          <a:p>
            <a:pPr>
              <a:lnSpc>
                <a:spcPct val="80000"/>
              </a:lnSpc>
            </a:pPr>
            <a:r>
              <a:rPr lang="de-DE" altLang="en-US" sz="2000" dirty="0"/>
              <a:t>Part-of-speech tagging; filtering of nouns, verbs, adjectives, </a:t>
            </a:r>
            <a:r>
              <a:rPr lang="de-DE" altLang="en-US" sz="2000" dirty="0" smtClean="0"/>
              <a:t>...</a:t>
            </a:r>
            <a:endParaRPr lang="de-DE" altLang="en-US" sz="2000" dirty="0"/>
          </a:p>
          <a:p>
            <a:pPr>
              <a:lnSpc>
                <a:spcPct val="80000"/>
              </a:lnSpc>
            </a:pPr>
            <a:r>
              <a:rPr lang="de-DE" altLang="en-US" sz="2000" dirty="0" smtClean="0"/>
              <a:t>Stop word removal: Article, prepositon etc.</a:t>
            </a:r>
          </a:p>
          <a:p>
            <a:pPr>
              <a:lnSpc>
                <a:spcPct val="80000"/>
              </a:lnSpc>
            </a:pPr>
            <a:r>
              <a:rPr lang="de-DE" altLang="en-US" sz="2000" dirty="0" smtClean="0"/>
              <a:t>Most </a:t>
            </a:r>
            <a:r>
              <a:rPr lang="de-DE" altLang="en-US" sz="2000" dirty="0"/>
              <a:t>steps are optional and application-dependent</a:t>
            </a:r>
            <a:r>
              <a:rPr lang="de-DE" altLang="en-US" sz="2000" dirty="0" smtClean="0"/>
              <a:t>!</a:t>
            </a:r>
          </a:p>
          <a:p>
            <a:pPr>
              <a:lnSpc>
                <a:spcPct val="80000"/>
              </a:lnSpc>
            </a:pPr>
            <a:endParaRPr lang="de-DE" altLang="en-US" sz="2000" dirty="0"/>
          </a:p>
          <a:p>
            <a:pPr>
              <a:lnSpc>
                <a:spcPct val="80000"/>
              </a:lnSpc>
            </a:pPr>
            <a:r>
              <a:rPr lang="de-DE" altLang="en-US" sz="2000" dirty="0"/>
              <a:t>Many steps are language-dependent; coverage of non-English varies</a:t>
            </a:r>
          </a:p>
          <a:p>
            <a:pPr>
              <a:lnSpc>
                <a:spcPct val="80000"/>
              </a:lnSpc>
            </a:pPr>
            <a:r>
              <a:rPr lang="de-DE" altLang="en-US" sz="2000" dirty="0"/>
              <a:t>Free and/or open-source tools or Web APIs exist for most steps</a:t>
            </a:r>
          </a:p>
        </p:txBody>
      </p:sp>
    </p:spTree>
    <p:extLst>
      <p:ext uri="{BB962C8B-B14F-4D97-AF65-F5344CB8AC3E}">
        <p14:creationId xmlns:p14="http://schemas.microsoft.com/office/powerpoint/2010/main" val="2314633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9875">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987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9875">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99875">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99875">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99875">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9987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9987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99875">
                                            <p:txEl>
                                              <p:pRg st="7" end="7"/>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9987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998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9875" grpId="0" build="p" bldLvl="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370" name="Text Box 2"/>
          <p:cNvSpPr txBox="1">
            <a:spLocks noChangeArrowheads="1"/>
          </p:cNvSpPr>
          <p:nvPr/>
        </p:nvSpPr>
        <p:spPr bwMode="auto">
          <a:xfrm>
            <a:off x="0" y="1355725"/>
            <a:ext cx="914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en-US" sz="2000" b="1">
                <a:solidFill>
                  <a:srgbClr val="000000"/>
                </a:solidFill>
                <a:latin typeface="Arial" charset="0"/>
              </a:rPr>
              <a:t>Data Mining / Knowledge Discovery</a:t>
            </a:r>
          </a:p>
        </p:txBody>
      </p:sp>
      <p:sp>
        <p:nvSpPr>
          <p:cNvPr id="1594371" name="Text Box 3"/>
          <p:cNvSpPr txBox="1">
            <a:spLocks noChangeArrowheads="1"/>
          </p:cNvSpPr>
          <p:nvPr/>
        </p:nvSpPr>
        <p:spPr bwMode="auto">
          <a:xfrm>
            <a:off x="0" y="3886200"/>
            <a:ext cx="914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US" b="1">
                <a:solidFill>
                  <a:srgbClr val="000000"/>
                </a:solidFill>
                <a:latin typeface="Arial" charset="0"/>
              </a:rPr>
              <a:t>   Structured Data              Multimedia                    </a:t>
            </a:r>
            <a:r>
              <a:rPr lang="en-US" altLang="en-US" b="1">
                <a:solidFill>
                  <a:srgbClr val="CC0000"/>
                </a:solidFill>
                <a:latin typeface="Arial" charset="0"/>
              </a:rPr>
              <a:t>Free Text</a:t>
            </a:r>
            <a:r>
              <a:rPr lang="en-US" altLang="en-US" b="1">
                <a:solidFill>
                  <a:srgbClr val="000000"/>
                </a:solidFill>
                <a:latin typeface="Arial" charset="0"/>
              </a:rPr>
              <a:t>                   Hypertext</a:t>
            </a:r>
          </a:p>
        </p:txBody>
      </p:sp>
      <p:pic>
        <p:nvPicPr>
          <p:cNvPr id="1594372" name="Picture 4" descr="sook04yd[1]"/>
          <p:cNvPicPr>
            <a:picLocks noGrp="1" noChangeAspect="1" noChangeArrowheads="1"/>
          </p:cNvPicPr>
          <p:nvPr>
            <p:ph sz="quarter" idx="1"/>
          </p:nvPr>
        </p:nvPicPr>
        <p:blipFill>
          <a:blip r:embed="rId3" cstate="print">
            <a:extLst>
              <a:ext uri="{28A0092B-C50C-407E-A947-70E740481C1C}">
                <a14:useLocalDpi xmlns:a14="http://schemas.microsoft.com/office/drawing/2010/main" val="0"/>
              </a:ext>
            </a:extLst>
          </a:blip>
          <a:srcRect/>
          <a:stretch>
            <a:fillRect/>
          </a:stretch>
        </p:blipFill>
        <p:spPr>
          <a:xfrm>
            <a:off x="3384550" y="1752600"/>
            <a:ext cx="2482850" cy="10318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1594373" name="Group 5"/>
          <p:cNvGrpSpPr>
            <a:grpSpLocks/>
          </p:cNvGrpSpPr>
          <p:nvPr/>
        </p:nvGrpSpPr>
        <p:grpSpPr bwMode="auto">
          <a:xfrm>
            <a:off x="44450" y="4267200"/>
            <a:ext cx="9067800" cy="1905000"/>
            <a:chOff x="48" y="2928"/>
            <a:chExt cx="5712" cy="1200"/>
          </a:xfrm>
        </p:grpSpPr>
        <p:grpSp>
          <p:nvGrpSpPr>
            <p:cNvPr id="1594374" name="Group 6"/>
            <p:cNvGrpSpPr>
              <a:grpSpLocks/>
            </p:cNvGrpSpPr>
            <p:nvPr/>
          </p:nvGrpSpPr>
          <p:grpSpPr bwMode="auto">
            <a:xfrm>
              <a:off x="48" y="2928"/>
              <a:ext cx="1368" cy="1200"/>
              <a:chOff x="48" y="2544"/>
              <a:chExt cx="1368" cy="1200"/>
            </a:xfrm>
          </p:grpSpPr>
          <p:sp>
            <p:nvSpPr>
              <p:cNvPr id="1594375" name="Text Box 7"/>
              <p:cNvSpPr txBox="1">
                <a:spLocks noChangeArrowheads="1"/>
              </p:cNvSpPr>
              <p:nvPr/>
            </p:nvSpPr>
            <p:spPr bwMode="auto">
              <a:xfrm>
                <a:off x="48" y="2592"/>
                <a:ext cx="1368" cy="1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sz="2400">
                    <a:solidFill>
                      <a:schemeClr val="tx1"/>
                    </a:solidFill>
                    <a:latin typeface="Times New Roman" pitchFamily="18" charset="0"/>
                  </a:defRPr>
                </a:lvl1pPr>
                <a:lvl2pPr marL="800100" indent="-342900" eaLnBrk="0" hangingPunct="0">
                  <a:defRPr sz="2400">
                    <a:solidFill>
                      <a:schemeClr val="tx1"/>
                    </a:solidFill>
                    <a:latin typeface="Times New Roman" pitchFamily="18" charset="0"/>
                  </a:defRPr>
                </a:lvl2pPr>
                <a:lvl3pPr marL="1257300" indent="-342900" eaLnBrk="0" hangingPunct="0">
                  <a:defRPr sz="2400">
                    <a:solidFill>
                      <a:schemeClr val="tx1"/>
                    </a:solidFill>
                    <a:latin typeface="Times New Roman" pitchFamily="18" charset="0"/>
                  </a:defRPr>
                </a:lvl3pPr>
                <a:lvl4pPr marL="1714500" indent="-342900" eaLnBrk="0" hangingPunct="0">
                  <a:defRPr sz="2400">
                    <a:solidFill>
                      <a:schemeClr val="tx1"/>
                    </a:solidFill>
                    <a:latin typeface="Times New Roman" pitchFamily="18" charset="0"/>
                  </a:defRPr>
                </a:lvl4pPr>
                <a:lvl5pPr marL="2171700" indent="-342900" eaLnBrk="0" hangingPunct="0">
                  <a:defRPr sz="2400">
                    <a:solidFill>
                      <a:schemeClr val="tx1"/>
                    </a:solidFill>
                    <a:latin typeface="Times New Roman" pitchFamily="18" charset="0"/>
                  </a:defRPr>
                </a:lvl5pPr>
                <a:lvl6pPr marL="2628900" indent="-342900" eaLnBrk="0" fontAlgn="base" hangingPunct="0">
                  <a:spcBef>
                    <a:spcPct val="0"/>
                  </a:spcBef>
                  <a:spcAft>
                    <a:spcPct val="0"/>
                  </a:spcAft>
                  <a:defRPr sz="2400">
                    <a:solidFill>
                      <a:schemeClr val="tx1"/>
                    </a:solidFill>
                    <a:latin typeface="Times New Roman" pitchFamily="18" charset="0"/>
                  </a:defRPr>
                </a:lvl6pPr>
                <a:lvl7pPr marL="3086100" indent="-342900" eaLnBrk="0" fontAlgn="base" hangingPunct="0">
                  <a:spcBef>
                    <a:spcPct val="0"/>
                  </a:spcBef>
                  <a:spcAft>
                    <a:spcPct val="0"/>
                  </a:spcAft>
                  <a:defRPr sz="2400">
                    <a:solidFill>
                      <a:schemeClr val="tx1"/>
                    </a:solidFill>
                    <a:latin typeface="Times New Roman" pitchFamily="18" charset="0"/>
                  </a:defRPr>
                </a:lvl7pPr>
                <a:lvl8pPr marL="3543300" indent="-342900" eaLnBrk="0" fontAlgn="base" hangingPunct="0">
                  <a:spcBef>
                    <a:spcPct val="0"/>
                  </a:spcBef>
                  <a:spcAft>
                    <a:spcPct val="0"/>
                  </a:spcAft>
                  <a:defRPr sz="2400">
                    <a:solidFill>
                      <a:schemeClr val="tx1"/>
                    </a:solidFill>
                    <a:latin typeface="Times New Roman" pitchFamily="18" charset="0"/>
                  </a:defRPr>
                </a:lvl8pPr>
                <a:lvl9pPr marL="4000500" indent="-342900" eaLnBrk="0" fontAlgn="base" hangingPunct="0">
                  <a:spcBef>
                    <a:spcPct val="0"/>
                  </a:spcBef>
                  <a:spcAft>
                    <a:spcPct val="0"/>
                  </a:spcAft>
                  <a:defRPr sz="2400">
                    <a:solidFill>
                      <a:schemeClr val="tx1"/>
                    </a:solidFill>
                    <a:latin typeface="Times New Roman" pitchFamily="18" charset="0"/>
                  </a:defRPr>
                </a:lvl9pPr>
              </a:lstStyle>
              <a:p>
                <a:pPr eaLnBrk="1" fontAlgn="base" hangingPunct="1">
                  <a:spcBef>
                    <a:spcPct val="0"/>
                  </a:spcBef>
                  <a:spcAft>
                    <a:spcPct val="0"/>
                  </a:spcAft>
                </a:pPr>
                <a:r>
                  <a:rPr lang="en-US" altLang="en-US" sz="1600" dirty="0" err="1">
                    <a:solidFill>
                      <a:srgbClr val="FF0000"/>
                    </a:solidFill>
                    <a:latin typeface="Arial" charset="0"/>
                  </a:rPr>
                  <a:t>HomeLoan</a:t>
                </a:r>
                <a:r>
                  <a:rPr lang="en-US" altLang="en-US" sz="1600" dirty="0">
                    <a:solidFill>
                      <a:srgbClr val="FF0000"/>
                    </a:solidFill>
                    <a:latin typeface="Arial" charset="0"/>
                  </a:rPr>
                  <a:t> (</a:t>
                </a:r>
              </a:p>
              <a:p>
                <a:pPr eaLnBrk="1" fontAlgn="base" hangingPunct="1">
                  <a:spcBef>
                    <a:spcPct val="0"/>
                  </a:spcBef>
                  <a:spcAft>
                    <a:spcPct val="0"/>
                  </a:spcAft>
                </a:pPr>
                <a:r>
                  <a:rPr lang="en-US" altLang="en-US" sz="1600" dirty="0">
                    <a:solidFill>
                      <a:srgbClr val="FF0000"/>
                    </a:solidFill>
                    <a:latin typeface="Arial" charset="0"/>
                  </a:rPr>
                  <a:t> </a:t>
                </a:r>
                <a:r>
                  <a:rPr lang="en-US" altLang="en-US" sz="1600" dirty="0" err="1">
                    <a:solidFill>
                      <a:srgbClr val="FF0000"/>
                    </a:solidFill>
                    <a:latin typeface="Arial" charset="0"/>
                  </a:rPr>
                  <a:t>Loanee</a:t>
                </a:r>
                <a:r>
                  <a:rPr lang="en-US" altLang="en-US" sz="1600" dirty="0">
                    <a:solidFill>
                      <a:srgbClr val="FF0000"/>
                    </a:solidFill>
                    <a:latin typeface="Arial" charset="0"/>
                  </a:rPr>
                  <a:t>:</a:t>
                </a:r>
                <a:r>
                  <a:rPr lang="en-US" altLang="en-US" sz="1600" i="1" dirty="0">
                    <a:solidFill>
                      <a:srgbClr val="000000"/>
                    </a:solidFill>
                    <a:latin typeface="Arial" charset="0"/>
                  </a:rPr>
                  <a:t>  Frank Rizzo</a:t>
                </a:r>
                <a:endParaRPr lang="en-US" altLang="en-US" sz="800" i="1" dirty="0">
                  <a:solidFill>
                    <a:srgbClr val="000000"/>
                  </a:solidFill>
                  <a:latin typeface="Arial" charset="0"/>
                </a:endParaRPr>
              </a:p>
              <a:p>
                <a:pPr eaLnBrk="1" fontAlgn="base" hangingPunct="1">
                  <a:spcBef>
                    <a:spcPct val="0"/>
                  </a:spcBef>
                  <a:spcAft>
                    <a:spcPct val="0"/>
                  </a:spcAft>
                </a:pPr>
                <a:r>
                  <a:rPr lang="en-US" altLang="en-US" sz="1600" dirty="0">
                    <a:solidFill>
                      <a:srgbClr val="000000"/>
                    </a:solidFill>
                    <a:latin typeface="Arial" charset="0"/>
                  </a:rPr>
                  <a:t> </a:t>
                </a:r>
                <a:r>
                  <a:rPr lang="en-US" altLang="en-US" sz="1600" dirty="0">
                    <a:solidFill>
                      <a:srgbClr val="FF0000"/>
                    </a:solidFill>
                    <a:latin typeface="Arial" charset="0"/>
                  </a:rPr>
                  <a:t>Lender:</a:t>
                </a:r>
                <a:r>
                  <a:rPr lang="en-US" altLang="en-US" sz="1600" i="1" dirty="0">
                    <a:solidFill>
                      <a:srgbClr val="000000"/>
                    </a:solidFill>
                    <a:latin typeface="Arial" charset="0"/>
                  </a:rPr>
                  <a:t>   MWF</a:t>
                </a:r>
              </a:p>
              <a:p>
                <a:pPr eaLnBrk="1" fontAlgn="base" hangingPunct="1">
                  <a:spcBef>
                    <a:spcPct val="0"/>
                  </a:spcBef>
                  <a:spcAft>
                    <a:spcPct val="0"/>
                  </a:spcAft>
                </a:pPr>
                <a:r>
                  <a:rPr lang="en-US" altLang="en-US" sz="1600" dirty="0">
                    <a:solidFill>
                      <a:srgbClr val="000000"/>
                    </a:solidFill>
                    <a:latin typeface="Arial" charset="0"/>
                  </a:rPr>
                  <a:t> </a:t>
                </a:r>
                <a:r>
                  <a:rPr lang="en-US" altLang="en-US" sz="1600" dirty="0">
                    <a:solidFill>
                      <a:srgbClr val="FF0000"/>
                    </a:solidFill>
                    <a:latin typeface="Arial" charset="0"/>
                  </a:rPr>
                  <a:t>Agency:</a:t>
                </a:r>
                <a:r>
                  <a:rPr lang="en-US" altLang="en-US" sz="1600" i="1" dirty="0">
                    <a:solidFill>
                      <a:srgbClr val="000000"/>
                    </a:solidFill>
                    <a:latin typeface="Arial" charset="0"/>
                  </a:rPr>
                  <a:t>  Lake View</a:t>
                </a:r>
              </a:p>
              <a:p>
                <a:pPr eaLnBrk="1" fontAlgn="base" hangingPunct="1">
                  <a:spcBef>
                    <a:spcPct val="0"/>
                  </a:spcBef>
                  <a:spcAft>
                    <a:spcPct val="0"/>
                  </a:spcAft>
                </a:pPr>
                <a:r>
                  <a:rPr lang="en-US" altLang="en-US" sz="1600" dirty="0">
                    <a:solidFill>
                      <a:srgbClr val="000000"/>
                    </a:solidFill>
                    <a:latin typeface="Arial" charset="0"/>
                  </a:rPr>
                  <a:t> </a:t>
                </a:r>
                <a:r>
                  <a:rPr lang="en-US" altLang="en-US" sz="1600" dirty="0">
                    <a:solidFill>
                      <a:srgbClr val="FF0000"/>
                    </a:solidFill>
                    <a:latin typeface="Arial" charset="0"/>
                  </a:rPr>
                  <a:t>Amount:</a:t>
                </a:r>
                <a:r>
                  <a:rPr lang="en-US" altLang="en-US" sz="1600" i="1" dirty="0">
                    <a:solidFill>
                      <a:srgbClr val="000000"/>
                    </a:solidFill>
                    <a:latin typeface="Arial" charset="0"/>
                  </a:rPr>
                  <a:t> $200,000</a:t>
                </a:r>
              </a:p>
              <a:p>
                <a:pPr eaLnBrk="1" fontAlgn="base" hangingPunct="1">
                  <a:spcBef>
                    <a:spcPct val="0"/>
                  </a:spcBef>
                  <a:spcAft>
                    <a:spcPct val="0"/>
                  </a:spcAft>
                </a:pPr>
                <a:r>
                  <a:rPr lang="en-US" altLang="en-US" sz="1600" dirty="0">
                    <a:solidFill>
                      <a:srgbClr val="000000"/>
                    </a:solidFill>
                    <a:latin typeface="Arial" charset="0"/>
                  </a:rPr>
                  <a:t> </a:t>
                </a:r>
                <a:r>
                  <a:rPr lang="en-US" altLang="en-US" sz="1600" dirty="0">
                    <a:solidFill>
                      <a:srgbClr val="FF0000"/>
                    </a:solidFill>
                    <a:latin typeface="Arial" charset="0"/>
                  </a:rPr>
                  <a:t>Term:</a:t>
                </a:r>
                <a:r>
                  <a:rPr lang="en-US" altLang="en-US" sz="1600" i="1" dirty="0">
                    <a:solidFill>
                      <a:srgbClr val="000000"/>
                    </a:solidFill>
                    <a:latin typeface="Arial" charset="0"/>
                  </a:rPr>
                  <a:t>     15 years</a:t>
                </a:r>
              </a:p>
              <a:p>
                <a:pPr eaLnBrk="1" fontAlgn="base" hangingPunct="1">
                  <a:spcBef>
                    <a:spcPct val="0"/>
                  </a:spcBef>
                  <a:spcAft>
                    <a:spcPct val="0"/>
                  </a:spcAft>
                </a:pPr>
                <a:r>
                  <a:rPr lang="en-US" altLang="en-US" sz="1600" dirty="0">
                    <a:solidFill>
                      <a:srgbClr val="FF0000"/>
                    </a:solidFill>
                    <a:latin typeface="Arial" charset="0"/>
                  </a:rPr>
                  <a:t>)</a:t>
                </a:r>
              </a:p>
            </p:txBody>
          </p:sp>
          <p:sp>
            <p:nvSpPr>
              <p:cNvPr id="1594376" name="Rectangle 8"/>
              <p:cNvSpPr>
                <a:spLocks noChangeArrowheads="1"/>
              </p:cNvSpPr>
              <p:nvPr/>
            </p:nvSpPr>
            <p:spPr bwMode="auto">
              <a:xfrm>
                <a:off x="48" y="2544"/>
                <a:ext cx="1344" cy="1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GB" sz="2800">
                  <a:solidFill>
                    <a:srgbClr val="000000"/>
                  </a:solidFill>
                </a:endParaRPr>
              </a:p>
            </p:txBody>
          </p:sp>
        </p:grpSp>
        <p:grpSp>
          <p:nvGrpSpPr>
            <p:cNvPr id="1594377" name="Group 9"/>
            <p:cNvGrpSpPr>
              <a:grpSpLocks/>
            </p:cNvGrpSpPr>
            <p:nvPr/>
          </p:nvGrpSpPr>
          <p:grpSpPr bwMode="auto">
            <a:xfrm>
              <a:off x="3024" y="2928"/>
              <a:ext cx="1297" cy="1200"/>
              <a:chOff x="3024" y="2544"/>
              <a:chExt cx="1297" cy="1200"/>
            </a:xfrm>
          </p:grpSpPr>
          <p:sp>
            <p:nvSpPr>
              <p:cNvPr id="1594378" name="Text Box 10"/>
              <p:cNvSpPr txBox="1">
                <a:spLocks noChangeArrowheads="1"/>
              </p:cNvSpPr>
              <p:nvPr/>
            </p:nvSpPr>
            <p:spPr bwMode="auto">
              <a:xfrm>
                <a:off x="3024" y="2561"/>
                <a:ext cx="1297" cy="1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sz="2400">
                    <a:solidFill>
                      <a:schemeClr val="tx1"/>
                    </a:solidFill>
                    <a:latin typeface="Times New Roman" pitchFamily="18" charset="0"/>
                  </a:defRPr>
                </a:lvl1pPr>
                <a:lvl2pPr marL="800100" indent="-342900" eaLnBrk="0" hangingPunct="0">
                  <a:defRPr sz="2400">
                    <a:solidFill>
                      <a:schemeClr val="tx1"/>
                    </a:solidFill>
                    <a:latin typeface="Times New Roman" pitchFamily="18" charset="0"/>
                  </a:defRPr>
                </a:lvl2pPr>
                <a:lvl3pPr marL="1257300" indent="-342900" eaLnBrk="0" hangingPunct="0">
                  <a:defRPr sz="2400">
                    <a:solidFill>
                      <a:schemeClr val="tx1"/>
                    </a:solidFill>
                    <a:latin typeface="Times New Roman" pitchFamily="18" charset="0"/>
                  </a:defRPr>
                </a:lvl3pPr>
                <a:lvl4pPr marL="1714500" indent="-342900" eaLnBrk="0" hangingPunct="0">
                  <a:defRPr sz="2400">
                    <a:solidFill>
                      <a:schemeClr val="tx1"/>
                    </a:solidFill>
                    <a:latin typeface="Times New Roman" pitchFamily="18" charset="0"/>
                  </a:defRPr>
                </a:lvl4pPr>
                <a:lvl5pPr marL="2171700" indent="-342900" eaLnBrk="0" hangingPunct="0">
                  <a:defRPr sz="2400">
                    <a:solidFill>
                      <a:schemeClr val="tx1"/>
                    </a:solidFill>
                    <a:latin typeface="Times New Roman" pitchFamily="18" charset="0"/>
                  </a:defRPr>
                </a:lvl5pPr>
                <a:lvl6pPr marL="2628900" indent="-342900" eaLnBrk="0" fontAlgn="base" hangingPunct="0">
                  <a:spcBef>
                    <a:spcPct val="0"/>
                  </a:spcBef>
                  <a:spcAft>
                    <a:spcPct val="0"/>
                  </a:spcAft>
                  <a:defRPr sz="2400">
                    <a:solidFill>
                      <a:schemeClr val="tx1"/>
                    </a:solidFill>
                    <a:latin typeface="Times New Roman" pitchFamily="18" charset="0"/>
                  </a:defRPr>
                </a:lvl6pPr>
                <a:lvl7pPr marL="3086100" indent="-342900" eaLnBrk="0" fontAlgn="base" hangingPunct="0">
                  <a:spcBef>
                    <a:spcPct val="0"/>
                  </a:spcBef>
                  <a:spcAft>
                    <a:spcPct val="0"/>
                  </a:spcAft>
                  <a:defRPr sz="2400">
                    <a:solidFill>
                      <a:schemeClr val="tx1"/>
                    </a:solidFill>
                    <a:latin typeface="Times New Roman" pitchFamily="18" charset="0"/>
                  </a:defRPr>
                </a:lvl7pPr>
                <a:lvl8pPr marL="3543300" indent="-342900" eaLnBrk="0" fontAlgn="base" hangingPunct="0">
                  <a:spcBef>
                    <a:spcPct val="0"/>
                  </a:spcBef>
                  <a:spcAft>
                    <a:spcPct val="0"/>
                  </a:spcAft>
                  <a:defRPr sz="2400">
                    <a:solidFill>
                      <a:schemeClr val="tx1"/>
                    </a:solidFill>
                    <a:latin typeface="Times New Roman" pitchFamily="18" charset="0"/>
                  </a:defRPr>
                </a:lvl8pPr>
                <a:lvl9pPr marL="4000500" indent="-342900" eaLnBrk="0" fontAlgn="base" hangingPunct="0">
                  <a:spcBef>
                    <a:spcPct val="0"/>
                  </a:spcBef>
                  <a:spcAft>
                    <a:spcPct val="0"/>
                  </a:spcAft>
                  <a:defRPr sz="2400">
                    <a:solidFill>
                      <a:schemeClr val="tx1"/>
                    </a:solidFill>
                    <a:latin typeface="Times New Roman" pitchFamily="18" charset="0"/>
                  </a:defRPr>
                </a:lvl9pPr>
              </a:lstStyle>
              <a:p>
                <a:pPr eaLnBrk="1" fontAlgn="base" hangingPunct="1">
                  <a:spcBef>
                    <a:spcPct val="0"/>
                  </a:spcBef>
                  <a:spcAft>
                    <a:spcPct val="0"/>
                  </a:spcAft>
                </a:pPr>
                <a:r>
                  <a:rPr lang="en-US" altLang="en-US" sz="1600" i="1" dirty="0">
                    <a:solidFill>
                      <a:srgbClr val="000000"/>
                    </a:solidFill>
                    <a:latin typeface="Arial" charset="0"/>
                  </a:rPr>
                  <a:t>  Frank Rizzo bought</a:t>
                </a:r>
              </a:p>
              <a:p>
                <a:pPr eaLnBrk="1" fontAlgn="base" hangingPunct="1">
                  <a:spcBef>
                    <a:spcPct val="0"/>
                  </a:spcBef>
                  <a:spcAft>
                    <a:spcPct val="0"/>
                  </a:spcAft>
                </a:pPr>
                <a:r>
                  <a:rPr lang="en-US" altLang="en-US" sz="1600" i="1" dirty="0">
                    <a:solidFill>
                      <a:srgbClr val="000000"/>
                    </a:solidFill>
                    <a:latin typeface="Arial" charset="0"/>
                  </a:rPr>
                  <a:t>his home from Lake</a:t>
                </a:r>
              </a:p>
              <a:p>
                <a:pPr eaLnBrk="1" fontAlgn="base" hangingPunct="1">
                  <a:spcBef>
                    <a:spcPct val="0"/>
                  </a:spcBef>
                  <a:spcAft>
                    <a:spcPct val="0"/>
                  </a:spcAft>
                </a:pPr>
                <a:r>
                  <a:rPr lang="en-US" altLang="en-US" sz="1600" i="1" dirty="0">
                    <a:solidFill>
                      <a:srgbClr val="000000"/>
                    </a:solidFill>
                    <a:latin typeface="Arial" charset="0"/>
                  </a:rPr>
                  <a:t>View Real Estate in</a:t>
                </a:r>
              </a:p>
              <a:p>
                <a:pPr eaLnBrk="1" fontAlgn="base" hangingPunct="1">
                  <a:spcBef>
                    <a:spcPct val="0"/>
                  </a:spcBef>
                  <a:spcAft>
                    <a:spcPct val="0"/>
                  </a:spcAft>
                </a:pPr>
                <a:r>
                  <a:rPr lang="en-US" altLang="en-US" sz="1600" i="1" dirty="0">
                    <a:solidFill>
                      <a:srgbClr val="000000"/>
                    </a:solidFill>
                    <a:latin typeface="Arial" charset="0"/>
                  </a:rPr>
                  <a:t>1992.</a:t>
                </a:r>
              </a:p>
              <a:p>
                <a:pPr eaLnBrk="1" fontAlgn="base" hangingPunct="1">
                  <a:spcBef>
                    <a:spcPct val="0"/>
                  </a:spcBef>
                  <a:spcAft>
                    <a:spcPct val="0"/>
                  </a:spcAft>
                </a:pPr>
                <a:r>
                  <a:rPr lang="en-US" altLang="en-US" sz="1600" i="1" dirty="0">
                    <a:solidFill>
                      <a:srgbClr val="000000"/>
                    </a:solidFill>
                    <a:latin typeface="Arial" charset="0"/>
                  </a:rPr>
                  <a:t>  He paid $200,000</a:t>
                </a:r>
              </a:p>
              <a:p>
                <a:pPr eaLnBrk="1" fontAlgn="base" hangingPunct="1">
                  <a:spcBef>
                    <a:spcPct val="0"/>
                  </a:spcBef>
                  <a:spcAft>
                    <a:spcPct val="0"/>
                  </a:spcAft>
                </a:pPr>
                <a:r>
                  <a:rPr lang="en-US" altLang="en-US" sz="1600" i="1" dirty="0">
                    <a:solidFill>
                      <a:srgbClr val="000000"/>
                    </a:solidFill>
                    <a:latin typeface="Arial" charset="0"/>
                  </a:rPr>
                  <a:t>under a15-year loan</a:t>
                </a:r>
              </a:p>
              <a:p>
                <a:pPr eaLnBrk="1" fontAlgn="base" hangingPunct="1">
                  <a:spcBef>
                    <a:spcPct val="0"/>
                  </a:spcBef>
                  <a:spcAft>
                    <a:spcPct val="0"/>
                  </a:spcAft>
                </a:pPr>
                <a:r>
                  <a:rPr lang="en-US" altLang="en-US" sz="1600" i="1" dirty="0">
                    <a:solidFill>
                      <a:srgbClr val="000000"/>
                    </a:solidFill>
                    <a:latin typeface="Arial" charset="0"/>
                  </a:rPr>
                  <a:t>from MW Financial.</a:t>
                </a:r>
              </a:p>
            </p:txBody>
          </p:sp>
          <p:sp>
            <p:nvSpPr>
              <p:cNvPr id="1594379" name="Rectangle 11"/>
              <p:cNvSpPr>
                <a:spLocks noChangeArrowheads="1"/>
              </p:cNvSpPr>
              <p:nvPr/>
            </p:nvSpPr>
            <p:spPr bwMode="auto">
              <a:xfrm>
                <a:off x="3024" y="2544"/>
                <a:ext cx="1296" cy="1200"/>
              </a:xfrm>
              <a:prstGeom prst="rect">
                <a:avLst/>
              </a:prstGeom>
              <a:noFill/>
              <a:ln w="1905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GB" sz="2800">
                  <a:solidFill>
                    <a:srgbClr val="000000"/>
                  </a:solidFill>
                </a:endParaRPr>
              </a:p>
            </p:txBody>
          </p:sp>
        </p:grpSp>
        <p:grpSp>
          <p:nvGrpSpPr>
            <p:cNvPr id="1594380" name="Group 12"/>
            <p:cNvGrpSpPr>
              <a:grpSpLocks/>
            </p:cNvGrpSpPr>
            <p:nvPr/>
          </p:nvGrpSpPr>
          <p:grpSpPr bwMode="auto">
            <a:xfrm>
              <a:off x="4397" y="2928"/>
              <a:ext cx="1363" cy="1200"/>
              <a:chOff x="4397" y="2544"/>
              <a:chExt cx="1363" cy="1200"/>
            </a:xfrm>
          </p:grpSpPr>
          <p:sp>
            <p:nvSpPr>
              <p:cNvPr id="1594381" name="Text Box 13"/>
              <p:cNvSpPr txBox="1">
                <a:spLocks noChangeArrowheads="1"/>
              </p:cNvSpPr>
              <p:nvPr/>
            </p:nvSpPr>
            <p:spPr bwMode="auto">
              <a:xfrm>
                <a:off x="4397" y="2544"/>
                <a:ext cx="1363" cy="1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sz="2400">
                    <a:solidFill>
                      <a:schemeClr val="tx1"/>
                    </a:solidFill>
                    <a:latin typeface="Times New Roman" pitchFamily="18" charset="0"/>
                  </a:defRPr>
                </a:lvl1pPr>
                <a:lvl2pPr marL="800100" indent="-342900" eaLnBrk="0" hangingPunct="0">
                  <a:defRPr sz="2400">
                    <a:solidFill>
                      <a:schemeClr val="tx1"/>
                    </a:solidFill>
                    <a:latin typeface="Times New Roman" pitchFamily="18" charset="0"/>
                  </a:defRPr>
                </a:lvl2pPr>
                <a:lvl3pPr marL="1257300" indent="-342900" eaLnBrk="0" hangingPunct="0">
                  <a:defRPr sz="2400">
                    <a:solidFill>
                      <a:schemeClr val="tx1"/>
                    </a:solidFill>
                    <a:latin typeface="Times New Roman" pitchFamily="18" charset="0"/>
                  </a:defRPr>
                </a:lvl3pPr>
                <a:lvl4pPr marL="1714500" indent="-342900" eaLnBrk="0" hangingPunct="0">
                  <a:defRPr sz="2400">
                    <a:solidFill>
                      <a:schemeClr val="tx1"/>
                    </a:solidFill>
                    <a:latin typeface="Times New Roman" pitchFamily="18" charset="0"/>
                  </a:defRPr>
                </a:lvl4pPr>
                <a:lvl5pPr marL="2171700" indent="-342900" eaLnBrk="0" hangingPunct="0">
                  <a:defRPr sz="2400">
                    <a:solidFill>
                      <a:schemeClr val="tx1"/>
                    </a:solidFill>
                    <a:latin typeface="Times New Roman" pitchFamily="18" charset="0"/>
                  </a:defRPr>
                </a:lvl5pPr>
                <a:lvl6pPr marL="2628900" indent="-342900" eaLnBrk="0" fontAlgn="base" hangingPunct="0">
                  <a:spcBef>
                    <a:spcPct val="0"/>
                  </a:spcBef>
                  <a:spcAft>
                    <a:spcPct val="0"/>
                  </a:spcAft>
                  <a:defRPr sz="2400">
                    <a:solidFill>
                      <a:schemeClr val="tx1"/>
                    </a:solidFill>
                    <a:latin typeface="Times New Roman" pitchFamily="18" charset="0"/>
                  </a:defRPr>
                </a:lvl6pPr>
                <a:lvl7pPr marL="3086100" indent="-342900" eaLnBrk="0" fontAlgn="base" hangingPunct="0">
                  <a:spcBef>
                    <a:spcPct val="0"/>
                  </a:spcBef>
                  <a:spcAft>
                    <a:spcPct val="0"/>
                  </a:spcAft>
                  <a:defRPr sz="2400">
                    <a:solidFill>
                      <a:schemeClr val="tx1"/>
                    </a:solidFill>
                    <a:latin typeface="Times New Roman" pitchFamily="18" charset="0"/>
                  </a:defRPr>
                </a:lvl7pPr>
                <a:lvl8pPr marL="3543300" indent="-342900" eaLnBrk="0" fontAlgn="base" hangingPunct="0">
                  <a:spcBef>
                    <a:spcPct val="0"/>
                  </a:spcBef>
                  <a:spcAft>
                    <a:spcPct val="0"/>
                  </a:spcAft>
                  <a:defRPr sz="2400">
                    <a:solidFill>
                      <a:schemeClr val="tx1"/>
                    </a:solidFill>
                    <a:latin typeface="Times New Roman" pitchFamily="18" charset="0"/>
                  </a:defRPr>
                </a:lvl8pPr>
                <a:lvl9pPr marL="4000500" indent="-342900" eaLnBrk="0" fontAlgn="base" hangingPunct="0">
                  <a:spcBef>
                    <a:spcPct val="0"/>
                  </a:spcBef>
                  <a:spcAft>
                    <a:spcPct val="0"/>
                  </a:spcAft>
                  <a:defRPr sz="2400">
                    <a:solidFill>
                      <a:schemeClr val="tx1"/>
                    </a:solidFill>
                    <a:latin typeface="Times New Roman" pitchFamily="18" charset="0"/>
                  </a:defRPr>
                </a:lvl9pPr>
              </a:lstStyle>
              <a:p>
                <a:pPr eaLnBrk="1" fontAlgn="base" hangingPunct="1">
                  <a:spcBef>
                    <a:spcPct val="0"/>
                  </a:spcBef>
                  <a:spcAft>
                    <a:spcPct val="0"/>
                  </a:spcAft>
                </a:pPr>
                <a:r>
                  <a:rPr lang="en-US" altLang="en-US" sz="1600" i="1" dirty="0">
                    <a:solidFill>
                      <a:srgbClr val="FF0000"/>
                    </a:solidFill>
                    <a:latin typeface="Arial" charset="0"/>
                  </a:rPr>
                  <a:t>&lt;a </a:t>
                </a:r>
                <a:r>
                  <a:rPr lang="en-US" altLang="en-US" sz="1600" i="1" dirty="0" err="1">
                    <a:solidFill>
                      <a:srgbClr val="FF0000"/>
                    </a:solidFill>
                    <a:latin typeface="Arial" charset="0"/>
                  </a:rPr>
                  <a:t>href</a:t>
                </a:r>
                <a:r>
                  <a:rPr lang="en-US" altLang="en-US" sz="1600" i="1" dirty="0">
                    <a:solidFill>
                      <a:srgbClr val="FF0000"/>
                    </a:solidFill>
                    <a:latin typeface="Arial" charset="0"/>
                  </a:rPr>
                  <a:t>&gt;</a:t>
                </a:r>
                <a:r>
                  <a:rPr lang="en-US" altLang="en-US" sz="1600" i="1" dirty="0">
                    <a:solidFill>
                      <a:srgbClr val="000000"/>
                    </a:solidFill>
                    <a:latin typeface="Arial" charset="0"/>
                  </a:rPr>
                  <a:t>Frank Rizzo</a:t>
                </a:r>
              </a:p>
              <a:p>
                <a:pPr eaLnBrk="1" fontAlgn="base" hangingPunct="1">
                  <a:spcBef>
                    <a:spcPct val="0"/>
                  </a:spcBef>
                  <a:spcAft>
                    <a:spcPct val="0"/>
                  </a:spcAft>
                </a:pPr>
                <a:r>
                  <a:rPr lang="en-US" altLang="en-US" sz="1600" i="1" dirty="0">
                    <a:solidFill>
                      <a:srgbClr val="FF0000"/>
                    </a:solidFill>
                    <a:latin typeface="Arial" charset="0"/>
                  </a:rPr>
                  <a:t>&lt;/a&gt;</a:t>
                </a:r>
                <a:r>
                  <a:rPr lang="en-US" altLang="en-US" sz="1600" i="1" dirty="0">
                    <a:solidFill>
                      <a:srgbClr val="000000"/>
                    </a:solidFill>
                    <a:latin typeface="Arial" charset="0"/>
                  </a:rPr>
                  <a:t> Bought</a:t>
                </a:r>
              </a:p>
              <a:p>
                <a:pPr eaLnBrk="1" fontAlgn="base" hangingPunct="1">
                  <a:spcBef>
                    <a:spcPct val="0"/>
                  </a:spcBef>
                  <a:spcAft>
                    <a:spcPct val="0"/>
                  </a:spcAft>
                </a:pPr>
                <a:r>
                  <a:rPr lang="en-US" altLang="en-US" sz="1600" i="1" dirty="0">
                    <a:solidFill>
                      <a:srgbClr val="FF0000"/>
                    </a:solidFill>
                    <a:latin typeface="Arial" charset="0"/>
                  </a:rPr>
                  <a:t>&lt;a </a:t>
                </a:r>
                <a:r>
                  <a:rPr lang="en-US" altLang="en-US" sz="1600" i="1" dirty="0" err="1">
                    <a:solidFill>
                      <a:srgbClr val="FF0000"/>
                    </a:solidFill>
                    <a:latin typeface="Arial" charset="0"/>
                  </a:rPr>
                  <a:t>hef</a:t>
                </a:r>
                <a:r>
                  <a:rPr lang="en-US" altLang="en-US" sz="1600" i="1" dirty="0">
                    <a:solidFill>
                      <a:srgbClr val="FF0000"/>
                    </a:solidFill>
                    <a:latin typeface="Arial" charset="0"/>
                  </a:rPr>
                  <a:t>&gt;</a:t>
                </a:r>
                <a:r>
                  <a:rPr lang="en-US" altLang="en-US" sz="1600" i="1" dirty="0">
                    <a:solidFill>
                      <a:srgbClr val="000000"/>
                    </a:solidFill>
                    <a:latin typeface="Arial" charset="0"/>
                  </a:rPr>
                  <a:t>this home</a:t>
                </a:r>
                <a:r>
                  <a:rPr lang="en-US" altLang="en-US" sz="1600" i="1" dirty="0">
                    <a:solidFill>
                      <a:srgbClr val="FF0000"/>
                    </a:solidFill>
                    <a:latin typeface="Arial" charset="0"/>
                  </a:rPr>
                  <a:t>&lt;/a&gt;</a:t>
                </a:r>
              </a:p>
              <a:p>
                <a:pPr eaLnBrk="1" fontAlgn="base" hangingPunct="1">
                  <a:spcBef>
                    <a:spcPct val="0"/>
                  </a:spcBef>
                  <a:spcAft>
                    <a:spcPct val="0"/>
                  </a:spcAft>
                </a:pPr>
                <a:r>
                  <a:rPr lang="en-US" altLang="en-US" sz="1600" i="1" dirty="0">
                    <a:solidFill>
                      <a:srgbClr val="000000"/>
                    </a:solidFill>
                    <a:latin typeface="Arial" charset="0"/>
                  </a:rPr>
                  <a:t>from </a:t>
                </a:r>
                <a:r>
                  <a:rPr lang="en-US" altLang="en-US" sz="1600" i="1" dirty="0">
                    <a:solidFill>
                      <a:srgbClr val="FF0000"/>
                    </a:solidFill>
                    <a:latin typeface="Arial" charset="0"/>
                  </a:rPr>
                  <a:t>&lt;a </a:t>
                </a:r>
                <a:r>
                  <a:rPr lang="en-US" altLang="en-US" sz="1600" i="1" dirty="0" err="1">
                    <a:solidFill>
                      <a:srgbClr val="FF0000"/>
                    </a:solidFill>
                    <a:latin typeface="Arial" charset="0"/>
                  </a:rPr>
                  <a:t>href</a:t>
                </a:r>
                <a:r>
                  <a:rPr lang="en-US" altLang="en-US" sz="1600" i="1" dirty="0">
                    <a:solidFill>
                      <a:srgbClr val="FF0000"/>
                    </a:solidFill>
                    <a:latin typeface="Arial" charset="0"/>
                  </a:rPr>
                  <a:t>&gt;</a:t>
                </a:r>
                <a:r>
                  <a:rPr lang="en-US" altLang="en-US" sz="1600" i="1" dirty="0">
                    <a:solidFill>
                      <a:srgbClr val="000000"/>
                    </a:solidFill>
                    <a:latin typeface="Arial" charset="0"/>
                  </a:rPr>
                  <a:t>Lake</a:t>
                </a:r>
              </a:p>
              <a:p>
                <a:pPr eaLnBrk="1" fontAlgn="base" hangingPunct="1">
                  <a:spcBef>
                    <a:spcPct val="0"/>
                  </a:spcBef>
                  <a:spcAft>
                    <a:spcPct val="0"/>
                  </a:spcAft>
                </a:pPr>
                <a:r>
                  <a:rPr lang="en-US" altLang="en-US" sz="1600" i="1" dirty="0">
                    <a:solidFill>
                      <a:srgbClr val="000000"/>
                    </a:solidFill>
                    <a:latin typeface="Arial" charset="0"/>
                  </a:rPr>
                  <a:t>View Real Estate</a:t>
                </a:r>
                <a:r>
                  <a:rPr lang="en-US" altLang="en-US" sz="1600" i="1" dirty="0">
                    <a:solidFill>
                      <a:srgbClr val="FF0000"/>
                    </a:solidFill>
                    <a:latin typeface="Arial" charset="0"/>
                  </a:rPr>
                  <a:t>&lt;/a&gt;</a:t>
                </a:r>
              </a:p>
              <a:p>
                <a:pPr eaLnBrk="1" fontAlgn="base" hangingPunct="1">
                  <a:spcBef>
                    <a:spcPct val="0"/>
                  </a:spcBef>
                  <a:spcAft>
                    <a:spcPct val="0"/>
                  </a:spcAft>
                </a:pPr>
                <a:r>
                  <a:rPr lang="en-US" altLang="en-US" sz="1600" i="1" dirty="0">
                    <a:solidFill>
                      <a:srgbClr val="000000"/>
                    </a:solidFill>
                    <a:latin typeface="Arial" charset="0"/>
                  </a:rPr>
                  <a:t>In </a:t>
                </a:r>
                <a:r>
                  <a:rPr lang="en-US" altLang="en-US" sz="1600" i="1" dirty="0">
                    <a:solidFill>
                      <a:srgbClr val="FF0000"/>
                    </a:solidFill>
                    <a:latin typeface="Arial" charset="0"/>
                  </a:rPr>
                  <a:t>&lt;b&gt;</a:t>
                </a:r>
                <a:r>
                  <a:rPr lang="en-US" altLang="en-US" sz="1600" i="1" dirty="0">
                    <a:solidFill>
                      <a:srgbClr val="000000"/>
                    </a:solidFill>
                    <a:latin typeface="Arial" charset="0"/>
                  </a:rPr>
                  <a:t>1992</a:t>
                </a:r>
                <a:r>
                  <a:rPr lang="en-US" altLang="en-US" sz="1600" i="1" dirty="0">
                    <a:solidFill>
                      <a:srgbClr val="FF0000"/>
                    </a:solidFill>
                    <a:latin typeface="Arial" charset="0"/>
                  </a:rPr>
                  <a:t>&lt;/b&gt;</a:t>
                </a:r>
                <a:r>
                  <a:rPr lang="en-US" altLang="en-US" sz="1600" i="1" dirty="0">
                    <a:solidFill>
                      <a:srgbClr val="000000"/>
                    </a:solidFill>
                    <a:latin typeface="Arial" charset="0"/>
                  </a:rPr>
                  <a:t>.</a:t>
                </a:r>
              </a:p>
              <a:p>
                <a:pPr eaLnBrk="1" fontAlgn="base" hangingPunct="1">
                  <a:spcBef>
                    <a:spcPct val="0"/>
                  </a:spcBef>
                  <a:spcAft>
                    <a:spcPct val="0"/>
                  </a:spcAft>
                </a:pPr>
                <a:r>
                  <a:rPr lang="en-US" altLang="en-US" sz="1600" i="1" dirty="0">
                    <a:solidFill>
                      <a:srgbClr val="FF0000"/>
                    </a:solidFill>
                    <a:latin typeface="Arial" charset="0"/>
                  </a:rPr>
                  <a:t>&lt;p&gt;</a:t>
                </a:r>
                <a:r>
                  <a:rPr lang="en-US" altLang="en-US" sz="1600" i="1" dirty="0">
                    <a:solidFill>
                      <a:srgbClr val="000000"/>
                    </a:solidFill>
                    <a:latin typeface="Arial" charset="0"/>
                  </a:rPr>
                  <a:t>...</a:t>
                </a:r>
              </a:p>
            </p:txBody>
          </p:sp>
          <p:sp>
            <p:nvSpPr>
              <p:cNvPr id="1594382" name="Rectangle 14"/>
              <p:cNvSpPr>
                <a:spLocks noChangeArrowheads="1"/>
              </p:cNvSpPr>
              <p:nvPr/>
            </p:nvSpPr>
            <p:spPr bwMode="auto">
              <a:xfrm>
                <a:off x="4408" y="2544"/>
                <a:ext cx="1344" cy="1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GB" sz="2800">
                  <a:solidFill>
                    <a:srgbClr val="000000"/>
                  </a:solidFill>
                </a:endParaRPr>
              </a:p>
            </p:txBody>
          </p:sp>
        </p:grpSp>
        <p:grpSp>
          <p:nvGrpSpPr>
            <p:cNvPr id="1594383" name="Group 15"/>
            <p:cNvGrpSpPr>
              <a:grpSpLocks/>
            </p:cNvGrpSpPr>
            <p:nvPr/>
          </p:nvGrpSpPr>
          <p:grpSpPr bwMode="auto">
            <a:xfrm>
              <a:off x="1488" y="2928"/>
              <a:ext cx="1440" cy="1200"/>
              <a:chOff x="1488" y="2928"/>
              <a:chExt cx="1440" cy="1200"/>
            </a:xfrm>
          </p:grpSpPr>
          <p:sp>
            <p:nvSpPr>
              <p:cNvPr id="1594384" name="Rectangle 16"/>
              <p:cNvSpPr>
                <a:spLocks noChangeArrowheads="1"/>
              </p:cNvSpPr>
              <p:nvPr/>
            </p:nvSpPr>
            <p:spPr bwMode="auto">
              <a:xfrm>
                <a:off x="1488" y="2928"/>
                <a:ext cx="1440" cy="1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GB" sz="2800">
                  <a:solidFill>
                    <a:srgbClr val="000000"/>
                  </a:solidFill>
                </a:endParaRPr>
              </a:p>
            </p:txBody>
          </p:sp>
          <p:grpSp>
            <p:nvGrpSpPr>
              <p:cNvPr id="1594385" name="Group 17"/>
              <p:cNvGrpSpPr>
                <a:grpSpLocks/>
              </p:cNvGrpSpPr>
              <p:nvPr/>
            </p:nvGrpSpPr>
            <p:grpSpPr bwMode="auto">
              <a:xfrm>
                <a:off x="1511" y="2976"/>
                <a:ext cx="1091" cy="1092"/>
                <a:chOff x="3629" y="1632"/>
                <a:chExt cx="1651" cy="1518"/>
              </a:xfrm>
            </p:grpSpPr>
            <p:pic>
              <p:nvPicPr>
                <p:cNvPr id="1594386" name="Picture 18" descr="d4xjnynk[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29" y="2137"/>
                  <a:ext cx="1085" cy="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94387" name="AutoShape 19"/>
                <p:cNvSpPr>
                  <a:spLocks noChangeArrowheads="1"/>
                </p:cNvSpPr>
                <p:nvPr/>
              </p:nvSpPr>
              <p:spPr bwMode="auto">
                <a:xfrm>
                  <a:off x="4560" y="1632"/>
                  <a:ext cx="720" cy="672"/>
                </a:xfrm>
                <a:prstGeom prst="wedgeRectCallout">
                  <a:avLst>
                    <a:gd name="adj1" fmla="val -142778"/>
                    <a:gd name="adj2" fmla="val 37944"/>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en-US" altLang="en-US" sz="800" i="1">
                    <a:solidFill>
                      <a:srgbClr val="000000"/>
                    </a:solidFill>
                    <a:latin typeface="Arial" charset="0"/>
                  </a:endParaRPr>
                </a:p>
              </p:txBody>
            </p:sp>
            <p:pic>
              <p:nvPicPr>
                <p:cNvPr id="1594388" name="Picture 20" descr="l4xa3fm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39" y="1739"/>
                  <a:ext cx="732" cy="7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94389" name="AutoShape 21"/>
                <p:cNvSpPr>
                  <a:spLocks noChangeArrowheads="1"/>
                </p:cNvSpPr>
                <p:nvPr/>
              </p:nvSpPr>
              <p:spPr bwMode="auto">
                <a:xfrm>
                  <a:off x="3840" y="2160"/>
                  <a:ext cx="144" cy="144"/>
                </a:xfrm>
                <a:prstGeom prst="star4">
                  <a:avLst>
                    <a:gd name="adj" fmla="val 22917"/>
                  </a:avLst>
                </a:prstGeom>
                <a:solidFill>
                  <a:schemeClr val="tx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GB" sz="2800">
                    <a:solidFill>
                      <a:srgbClr val="000000"/>
                    </a:solidFill>
                  </a:endParaRPr>
                </a:p>
              </p:txBody>
            </p:sp>
          </p:grpSp>
          <p:sp>
            <p:nvSpPr>
              <p:cNvPr id="1594390" name="Text Box 22"/>
              <p:cNvSpPr txBox="1">
                <a:spLocks noChangeArrowheads="1"/>
              </p:cNvSpPr>
              <p:nvPr/>
            </p:nvSpPr>
            <p:spPr bwMode="auto">
              <a:xfrm>
                <a:off x="1488" y="3840"/>
                <a:ext cx="14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en-US" sz="1600">
                    <a:solidFill>
                      <a:srgbClr val="FF0000"/>
                    </a:solidFill>
                    <a:latin typeface="Arial" charset="0"/>
                  </a:rPr>
                  <a:t>Loans(</a:t>
                </a:r>
                <a:r>
                  <a:rPr lang="en-US" altLang="en-US" sz="1600" i="1">
                    <a:solidFill>
                      <a:srgbClr val="000000"/>
                    </a:solidFill>
                    <a:latin typeface="Arial" charset="0"/>
                  </a:rPr>
                  <a:t>$200K</a:t>
                </a:r>
                <a:r>
                  <a:rPr lang="en-US" altLang="en-US" sz="1600">
                    <a:solidFill>
                      <a:srgbClr val="000000"/>
                    </a:solidFill>
                    <a:latin typeface="Arial" charset="0"/>
                  </a:rPr>
                  <a:t>,[</a:t>
                </a:r>
                <a:r>
                  <a:rPr lang="en-US" altLang="en-US" sz="1600" i="1">
                    <a:solidFill>
                      <a:srgbClr val="000000"/>
                    </a:solidFill>
                    <a:latin typeface="Arial" charset="0"/>
                  </a:rPr>
                  <a:t>map</a:t>
                </a:r>
                <a:r>
                  <a:rPr lang="en-US" altLang="en-US" sz="1600">
                    <a:solidFill>
                      <a:srgbClr val="000000"/>
                    </a:solidFill>
                    <a:latin typeface="Arial" charset="0"/>
                  </a:rPr>
                  <a:t>],...</a:t>
                </a:r>
                <a:r>
                  <a:rPr lang="en-US" altLang="en-US" sz="1600">
                    <a:solidFill>
                      <a:srgbClr val="FF0000"/>
                    </a:solidFill>
                    <a:latin typeface="Arial" charset="0"/>
                  </a:rPr>
                  <a:t>)</a:t>
                </a:r>
              </a:p>
            </p:txBody>
          </p:sp>
          <p:pic>
            <p:nvPicPr>
              <p:cNvPr id="1594391" name="Picture 23" descr="033izyed[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9" y="3324"/>
                <a:ext cx="385" cy="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sp>
        <p:nvSpPr>
          <p:cNvPr id="1594392" name="Rectangle 24"/>
          <p:cNvSpPr>
            <a:spLocks noChangeArrowheads="1"/>
          </p:cNvSpPr>
          <p:nvPr/>
        </p:nvSpPr>
        <p:spPr bwMode="auto">
          <a:xfrm>
            <a:off x="457200" y="228600"/>
            <a:ext cx="8229600" cy="914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ctr">
            <a:normAutofit/>
          </a:bodyPr>
          <a:lstStyle/>
          <a:p>
            <a:pPr algn="ctr">
              <a:spcBef>
                <a:spcPct val="0"/>
              </a:spcBef>
            </a:pPr>
            <a:r>
              <a:rPr lang="en-US" altLang="en-US" sz="4400" dirty="0">
                <a:latin typeface="+mj-lt"/>
                <a:ea typeface="+mj-ea"/>
                <a:cs typeface="+mj-cs"/>
              </a:rPr>
              <a:t>Mining Text Data: An Introduction</a:t>
            </a:r>
          </a:p>
        </p:txBody>
      </p:sp>
      <p:sp>
        <p:nvSpPr>
          <p:cNvPr id="1594393" name="Line 25"/>
          <p:cNvSpPr>
            <a:spLocks noChangeShapeType="1"/>
          </p:cNvSpPr>
          <p:nvPr/>
        </p:nvSpPr>
        <p:spPr bwMode="auto">
          <a:xfrm flipH="1">
            <a:off x="3733800" y="2819400"/>
            <a:ext cx="609600" cy="1143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GB" sz="2800">
              <a:solidFill>
                <a:srgbClr val="000000"/>
              </a:solidFill>
            </a:endParaRPr>
          </a:p>
        </p:txBody>
      </p:sp>
      <p:sp>
        <p:nvSpPr>
          <p:cNvPr id="1594394" name="Line 26"/>
          <p:cNvSpPr>
            <a:spLocks noChangeShapeType="1"/>
          </p:cNvSpPr>
          <p:nvPr/>
        </p:nvSpPr>
        <p:spPr bwMode="auto">
          <a:xfrm flipH="1">
            <a:off x="1600200" y="2743200"/>
            <a:ext cx="1676400" cy="1143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GB" sz="2800">
              <a:solidFill>
                <a:srgbClr val="000000"/>
              </a:solidFill>
            </a:endParaRPr>
          </a:p>
        </p:txBody>
      </p:sp>
      <p:sp>
        <p:nvSpPr>
          <p:cNvPr id="1594395" name="Line 27"/>
          <p:cNvSpPr>
            <a:spLocks noChangeShapeType="1"/>
          </p:cNvSpPr>
          <p:nvPr/>
        </p:nvSpPr>
        <p:spPr bwMode="auto">
          <a:xfrm>
            <a:off x="5029200" y="2819400"/>
            <a:ext cx="609600" cy="1143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GB" sz="2800">
              <a:solidFill>
                <a:srgbClr val="000000"/>
              </a:solidFill>
            </a:endParaRPr>
          </a:p>
        </p:txBody>
      </p:sp>
      <p:sp>
        <p:nvSpPr>
          <p:cNvPr id="1594396" name="Line 28"/>
          <p:cNvSpPr>
            <a:spLocks noChangeShapeType="1"/>
          </p:cNvSpPr>
          <p:nvPr/>
        </p:nvSpPr>
        <p:spPr bwMode="auto">
          <a:xfrm>
            <a:off x="5943600" y="2819400"/>
            <a:ext cx="1676400" cy="1143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GB" sz="2800">
              <a:solidFill>
                <a:srgbClr val="000000"/>
              </a:solidFill>
            </a:endParaRPr>
          </a:p>
        </p:txBody>
      </p:sp>
    </p:spTree>
    <p:extLst>
      <p:ext uri="{BB962C8B-B14F-4D97-AF65-F5344CB8AC3E}">
        <p14:creationId xmlns:p14="http://schemas.microsoft.com/office/powerpoint/2010/main" val="4129474401"/>
      </p:ext>
    </p:ext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6418" name="Rectangle 2"/>
          <p:cNvSpPr>
            <a:spLocks noGrp="1" noChangeArrowheads="1"/>
          </p:cNvSpPr>
          <p:nvPr>
            <p:ph type="title"/>
          </p:nvPr>
        </p:nvSpPr>
        <p:spPr>
          <a:xfrm>
            <a:off x="457200" y="304800"/>
            <a:ext cx="8229600" cy="685800"/>
          </a:xfrm>
        </p:spPr>
        <p:txBody>
          <a:bodyPr vert="horz" lIns="91440" tIns="45720" rIns="91440" bIns="45720" rtlCol="0" anchor="ctr">
            <a:normAutofit fontScale="90000"/>
          </a:bodyPr>
          <a:lstStyle/>
          <a:p>
            <a:r>
              <a:rPr lang="en-US" altLang="en-US"/>
              <a:t>Bag-of-Tokens Approaches</a:t>
            </a:r>
          </a:p>
        </p:txBody>
      </p:sp>
      <p:grpSp>
        <p:nvGrpSpPr>
          <p:cNvPr id="1596419" name="Group 3"/>
          <p:cNvGrpSpPr>
            <a:grpSpLocks/>
          </p:cNvGrpSpPr>
          <p:nvPr/>
        </p:nvGrpSpPr>
        <p:grpSpPr bwMode="auto">
          <a:xfrm>
            <a:off x="685800" y="1752600"/>
            <a:ext cx="3657600" cy="3352800"/>
            <a:chOff x="624" y="864"/>
            <a:chExt cx="2304" cy="2112"/>
          </a:xfrm>
        </p:grpSpPr>
        <p:sp>
          <p:nvSpPr>
            <p:cNvPr id="1596420" name="Rectangle 4"/>
            <p:cNvSpPr>
              <a:spLocks noChangeArrowheads="1"/>
            </p:cNvSpPr>
            <p:nvPr/>
          </p:nvSpPr>
          <p:spPr bwMode="auto">
            <a:xfrm>
              <a:off x="816" y="864"/>
              <a:ext cx="2112" cy="192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21" name="Rectangle 5"/>
            <p:cNvSpPr>
              <a:spLocks noChangeArrowheads="1"/>
            </p:cNvSpPr>
            <p:nvPr/>
          </p:nvSpPr>
          <p:spPr bwMode="auto">
            <a:xfrm>
              <a:off x="768" y="912"/>
              <a:ext cx="2112" cy="192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22" name="Rectangle 6"/>
            <p:cNvSpPr>
              <a:spLocks noChangeArrowheads="1"/>
            </p:cNvSpPr>
            <p:nvPr/>
          </p:nvSpPr>
          <p:spPr bwMode="auto">
            <a:xfrm>
              <a:off x="720" y="960"/>
              <a:ext cx="2112" cy="192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23" name="Rectangle 7"/>
            <p:cNvSpPr>
              <a:spLocks noChangeArrowheads="1"/>
            </p:cNvSpPr>
            <p:nvPr/>
          </p:nvSpPr>
          <p:spPr bwMode="auto">
            <a:xfrm>
              <a:off x="672" y="1008"/>
              <a:ext cx="2112" cy="192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24" name="Rectangle 8"/>
            <p:cNvSpPr>
              <a:spLocks noChangeArrowheads="1"/>
            </p:cNvSpPr>
            <p:nvPr/>
          </p:nvSpPr>
          <p:spPr bwMode="auto">
            <a:xfrm>
              <a:off x="624" y="1056"/>
              <a:ext cx="2112" cy="1920"/>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25" name="Text Box 9"/>
            <p:cNvSpPr txBox="1">
              <a:spLocks noChangeArrowheads="1"/>
            </p:cNvSpPr>
            <p:nvPr/>
          </p:nvSpPr>
          <p:spPr bwMode="auto">
            <a:xfrm>
              <a:off x="672" y="1104"/>
              <a:ext cx="2016" cy="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dirty="0">
                  <a:latin typeface="Arial" charset="0"/>
                </a:rPr>
                <a:t>   Four score and seven years ago our fathers brought forth on this continent, </a:t>
              </a:r>
              <a:r>
                <a:rPr lang="en-US" altLang="en-US" sz="1800" dirty="0">
                  <a:solidFill>
                    <a:srgbClr val="009900"/>
                  </a:solidFill>
                  <a:latin typeface="Arial" charset="0"/>
                </a:rPr>
                <a:t>a new nation</a:t>
              </a:r>
              <a:r>
                <a:rPr lang="en-US" altLang="en-US" sz="1800" dirty="0">
                  <a:latin typeface="Arial" charset="0"/>
                </a:rPr>
                <a:t>, conceived in Liberty, and dedicated to the proposition that all men are created equal.</a:t>
              </a:r>
            </a:p>
            <a:p>
              <a:r>
                <a:rPr lang="en-US" altLang="en-US" sz="1800" dirty="0">
                  <a:latin typeface="Arial" charset="0"/>
                </a:rPr>
                <a:t>   Now we are engaged in a great civil war, testing whether </a:t>
              </a:r>
              <a:r>
                <a:rPr lang="en-US" altLang="en-US" sz="1800" dirty="0">
                  <a:solidFill>
                    <a:srgbClr val="009900"/>
                  </a:solidFill>
                  <a:latin typeface="Arial" charset="0"/>
                </a:rPr>
                <a:t>that nation</a:t>
              </a:r>
              <a:r>
                <a:rPr lang="en-US" altLang="en-US" sz="1800" dirty="0">
                  <a:latin typeface="Arial" charset="0"/>
                </a:rPr>
                <a:t>, or …</a:t>
              </a:r>
            </a:p>
          </p:txBody>
        </p:sp>
      </p:grpSp>
      <p:grpSp>
        <p:nvGrpSpPr>
          <p:cNvPr id="1596426" name="Group 10"/>
          <p:cNvGrpSpPr>
            <a:grpSpLocks/>
          </p:cNvGrpSpPr>
          <p:nvPr/>
        </p:nvGrpSpPr>
        <p:grpSpPr bwMode="auto">
          <a:xfrm>
            <a:off x="6172200" y="1752600"/>
            <a:ext cx="1905000" cy="3352800"/>
            <a:chOff x="3936" y="1776"/>
            <a:chExt cx="1200" cy="2112"/>
          </a:xfrm>
        </p:grpSpPr>
        <p:sp>
          <p:nvSpPr>
            <p:cNvPr id="1596427" name="Rectangle 11"/>
            <p:cNvSpPr>
              <a:spLocks noChangeArrowheads="1"/>
            </p:cNvSpPr>
            <p:nvPr/>
          </p:nvSpPr>
          <p:spPr bwMode="auto">
            <a:xfrm>
              <a:off x="4128" y="1776"/>
              <a:ext cx="1008" cy="1920"/>
            </a:xfrm>
            <a:prstGeom prst="rect">
              <a:avLst/>
            </a:prstGeom>
            <a:solidFill>
              <a:schemeClr val="bg1"/>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28" name="Rectangle 12"/>
            <p:cNvSpPr>
              <a:spLocks noChangeArrowheads="1"/>
            </p:cNvSpPr>
            <p:nvPr/>
          </p:nvSpPr>
          <p:spPr bwMode="auto">
            <a:xfrm>
              <a:off x="4080" y="1824"/>
              <a:ext cx="1008" cy="1920"/>
            </a:xfrm>
            <a:prstGeom prst="rect">
              <a:avLst/>
            </a:prstGeom>
            <a:solidFill>
              <a:schemeClr val="bg1"/>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29" name="Rectangle 13"/>
            <p:cNvSpPr>
              <a:spLocks noChangeArrowheads="1"/>
            </p:cNvSpPr>
            <p:nvPr/>
          </p:nvSpPr>
          <p:spPr bwMode="auto">
            <a:xfrm>
              <a:off x="4032" y="1872"/>
              <a:ext cx="1008" cy="1920"/>
            </a:xfrm>
            <a:prstGeom prst="rect">
              <a:avLst/>
            </a:prstGeom>
            <a:solidFill>
              <a:schemeClr val="bg1"/>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30" name="Rectangle 14"/>
            <p:cNvSpPr>
              <a:spLocks noChangeArrowheads="1"/>
            </p:cNvSpPr>
            <p:nvPr/>
          </p:nvSpPr>
          <p:spPr bwMode="auto">
            <a:xfrm>
              <a:off x="3984" y="1920"/>
              <a:ext cx="1008" cy="1920"/>
            </a:xfrm>
            <a:prstGeom prst="rect">
              <a:avLst/>
            </a:prstGeom>
            <a:solidFill>
              <a:schemeClr val="bg1"/>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31" name="Rectangle 15"/>
            <p:cNvSpPr>
              <a:spLocks noChangeArrowheads="1"/>
            </p:cNvSpPr>
            <p:nvPr/>
          </p:nvSpPr>
          <p:spPr bwMode="auto">
            <a:xfrm>
              <a:off x="3936" y="1968"/>
              <a:ext cx="1008" cy="1920"/>
            </a:xfrm>
            <a:prstGeom prst="rect">
              <a:avLst/>
            </a:prstGeom>
            <a:solidFill>
              <a:schemeClr val="bg1"/>
            </a:solidFill>
            <a:ln w="158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96432" name="Text Box 16"/>
            <p:cNvSpPr txBox="1">
              <a:spLocks noChangeArrowheads="1"/>
            </p:cNvSpPr>
            <p:nvPr/>
          </p:nvSpPr>
          <p:spPr bwMode="auto">
            <a:xfrm>
              <a:off x="3984" y="2064"/>
              <a:ext cx="912" cy="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latin typeface="Arial" charset="0"/>
                </a:rPr>
                <a:t>nation – 5</a:t>
              </a:r>
            </a:p>
            <a:p>
              <a:r>
                <a:rPr lang="en-US" altLang="en-US" sz="1800">
                  <a:latin typeface="Arial" charset="0"/>
                </a:rPr>
                <a:t>civil - 1</a:t>
              </a:r>
            </a:p>
            <a:p>
              <a:r>
                <a:rPr lang="en-US" altLang="en-US" sz="1800">
                  <a:latin typeface="Arial" charset="0"/>
                </a:rPr>
                <a:t>war – 2</a:t>
              </a:r>
            </a:p>
            <a:p>
              <a:r>
                <a:rPr lang="en-US" altLang="en-US" sz="1800">
                  <a:latin typeface="Arial" charset="0"/>
                </a:rPr>
                <a:t>men – 2</a:t>
              </a:r>
            </a:p>
            <a:p>
              <a:r>
                <a:rPr lang="en-US" altLang="en-US" sz="1800">
                  <a:latin typeface="Arial" charset="0"/>
                </a:rPr>
                <a:t>died – 4</a:t>
              </a:r>
            </a:p>
            <a:p>
              <a:r>
                <a:rPr lang="en-US" altLang="en-US" sz="1800">
                  <a:latin typeface="Arial" charset="0"/>
                </a:rPr>
                <a:t>people – 5</a:t>
              </a:r>
            </a:p>
            <a:p>
              <a:r>
                <a:rPr lang="en-US" altLang="en-US" sz="1800">
                  <a:latin typeface="Arial" charset="0"/>
                </a:rPr>
                <a:t>Liberty – 1</a:t>
              </a:r>
            </a:p>
            <a:p>
              <a:r>
                <a:rPr lang="en-US" altLang="en-US" sz="1800">
                  <a:latin typeface="Arial" charset="0"/>
                </a:rPr>
                <a:t>God – 1</a:t>
              </a:r>
            </a:p>
            <a:p>
              <a:r>
                <a:rPr lang="en-US" altLang="en-US" sz="1800">
                  <a:latin typeface="Arial" charset="0"/>
                </a:rPr>
                <a:t>…</a:t>
              </a:r>
            </a:p>
          </p:txBody>
        </p:sp>
      </p:grpSp>
      <p:sp>
        <p:nvSpPr>
          <p:cNvPr id="1596433" name="AutoShape 17"/>
          <p:cNvSpPr>
            <a:spLocks noChangeArrowheads="1"/>
          </p:cNvSpPr>
          <p:nvPr/>
        </p:nvSpPr>
        <p:spPr bwMode="auto">
          <a:xfrm>
            <a:off x="4648200" y="2438400"/>
            <a:ext cx="1219200" cy="1828800"/>
          </a:xfrm>
          <a:prstGeom prst="rightArrow">
            <a:avLst>
              <a:gd name="adj1" fmla="val 45481"/>
              <a:gd name="adj2" fmla="val 23750"/>
            </a:avLst>
          </a:prstGeom>
          <a:solidFill>
            <a:schemeClr val="accent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latin typeface="Arial" charset="0"/>
              </a:rPr>
              <a:t>Feature</a:t>
            </a:r>
          </a:p>
          <a:p>
            <a:pPr algn="ctr"/>
            <a:r>
              <a:rPr lang="en-US" altLang="en-US" sz="1800">
                <a:latin typeface="Arial" charset="0"/>
              </a:rPr>
              <a:t>Extraction</a:t>
            </a:r>
          </a:p>
        </p:txBody>
      </p:sp>
      <p:sp>
        <p:nvSpPr>
          <p:cNvPr id="1596434" name="Text Box 18"/>
          <p:cNvSpPr txBox="1">
            <a:spLocks noChangeArrowheads="1"/>
          </p:cNvSpPr>
          <p:nvPr/>
        </p:nvSpPr>
        <p:spPr bwMode="auto">
          <a:xfrm>
            <a:off x="0" y="5562600"/>
            <a:ext cx="914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400" b="1">
                <a:solidFill>
                  <a:srgbClr val="CC0000"/>
                </a:solidFill>
                <a:latin typeface="Arial" charset="0"/>
              </a:rPr>
              <a:t>Loses all order-specific information!</a:t>
            </a:r>
          </a:p>
          <a:p>
            <a:pPr algn="ctr"/>
            <a:r>
              <a:rPr lang="en-US" altLang="en-US" sz="2400" b="1">
                <a:solidFill>
                  <a:srgbClr val="CC0000"/>
                </a:solidFill>
                <a:latin typeface="Arial" charset="0"/>
              </a:rPr>
              <a:t>Severely limits </a:t>
            </a:r>
            <a:r>
              <a:rPr lang="en-US" altLang="en-US" sz="2400" b="1" u="sng">
                <a:solidFill>
                  <a:srgbClr val="CC0000"/>
                </a:solidFill>
                <a:latin typeface="Arial" charset="0"/>
              </a:rPr>
              <a:t>context</a:t>
            </a:r>
            <a:r>
              <a:rPr lang="en-US" altLang="en-US" sz="2400" b="1">
                <a:solidFill>
                  <a:srgbClr val="CC0000"/>
                </a:solidFill>
                <a:latin typeface="Arial" charset="0"/>
              </a:rPr>
              <a:t>!</a:t>
            </a:r>
          </a:p>
        </p:txBody>
      </p:sp>
      <p:sp>
        <p:nvSpPr>
          <p:cNvPr id="1596435" name="Text Box 19"/>
          <p:cNvSpPr txBox="1">
            <a:spLocks noChangeArrowheads="1"/>
          </p:cNvSpPr>
          <p:nvPr/>
        </p:nvSpPr>
        <p:spPr bwMode="auto">
          <a:xfrm>
            <a:off x="1828800" y="1295400"/>
            <a:ext cx="1289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b="1">
                <a:latin typeface="Arial" charset="0"/>
              </a:rPr>
              <a:t>Documents</a:t>
            </a:r>
          </a:p>
        </p:txBody>
      </p:sp>
      <p:sp>
        <p:nvSpPr>
          <p:cNvPr id="1596436" name="Text Box 20"/>
          <p:cNvSpPr txBox="1">
            <a:spLocks noChangeArrowheads="1"/>
          </p:cNvSpPr>
          <p:nvPr/>
        </p:nvSpPr>
        <p:spPr bwMode="auto">
          <a:xfrm>
            <a:off x="6619875" y="1371600"/>
            <a:ext cx="1266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b="1">
                <a:latin typeface="Arial" charset="0"/>
              </a:rPr>
              <a:t>Token </a:t>
            </a:r>
            <a:r>
              <a:rPr lang="en-US" altLang="en-US" sz="1600" b="1">
                <a:solidFill>
                  <a:srgbClr val="CC0000"/>
                </a:solidFill>
                <a:latin typeface="Arial" charset="0"/>
              </a:rPr>
              <a:t>Sets</a:t>
            </a:r>
          </a:p>
        </p:txBody>
      </p:sp>
    </p:spTree>
    <p:extLst>
      <p:ext uri="{BB962C8B-B14F-4D97-AF65-F5344CB8AC3E}">
        <p14:creationId xmlns:p14="http://schemas.microsoft.com/office/powerpoint/2010/main" val="515251044"/>
      </p:ext>
    </p:extLst>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5"/>
          <p:cNvSpPr>
            <a:spLocks noGrp="1" noChangeArrowheads="1"/>
          </p:cNvSpPr>
          <p:nvPr>
            <p:ph type="title"/>
          </p:nvPr>
        </p:nvSpPr>
        <p:spPr/>
        <p:txBody>
          <a:bodyPr vert="horz" lIns="91440" tIns="45720" rIns="91440" bIns="45720" rtlCol="0" anchor="ctr">
            <a:normAutofit/>
          </a:bodyPr>
          <a:lstStyle/>
          <a:p>
            <a:r>
              <a:rPr lang="en-GB" dirty="0"/>
              <a:t>Term frequency</a:t>
            </a:r>
            <a:endParaRPr lang="en-GB" altLang="en-US" dirty="0"/>
          </a:p>
        </p:txBody>
      </p:sp>
      <p:sp>
        <p:nvSpPr>
          <p:cNvPr id="2052" name="Rectangle 3"/>
          <p:cNvSpPr>
            <a:spLocks noGrp="1" noChangeArrowheads="1"/>
          </p:cNvSpPr>
          <p:nvPr>
            <p:ph type="body" sz="half" idx="1"/>
          </p:nvPr>
        </p:nvSpPr>
        <p:spPr>
          <a:xfrm>
            <a:off x="685800" y="1981200"/>
            <a:ext cx="8278813" cy="4687888"/>
          </a:xfrm>
        </p:spPr>
        <p:txBody>
          <a:bodyPr/>
          <a:lstStyle/>
          <a:p>
            <a:pPr eaLnBrk="1" hangingPunct="1">
              <a:lnSpc>
                <a:spcPct val="90000"/>
              </a:lnSpc>
              <a:buFontTx/>
              <a:buNone/>
            </a:pPr>
            <a:r>
              <a:rPr lang="en-GB" altLang="en-US" sz="2400" dirty="0" smtClean="0"/>
              <a:t>Term frequency         is a measure of the importance of term </a:t>
            </a:r>
            <a:r>
              <a:rPr lang="en-GB" altLang="en-US" sz="2400" i="1" dirty="0" err="1" smtClean="0"/>
              <a:t>i</a:t>
            </a:r>
            <a:r>
              <a:rPr lang="en-GB" altLang="en-US" sz="2400" dirty="0" smtClean="0"/>
              <a:t> in document </a:t>
            </a:r>
            <a:r>
              <a:rPr lang="en-GB" altLang="en-US" sz="2400" i="1" dirty="0" smtClean="0"/>
              <a:t>j</a:t>
            </a:r>
          </a:p>
          <a:p>
            <a:pPr eaLnBrk="1" hangingPunct="1">
              <a:lnSpc>
                <a:spcPct val="90000"/>
              </a:lnSpc>
              <a:buFontTx/>
              <a:buNone/>
            </a:pPr>
            <a:endParaRPr lang="en-GB" altLang="en-US" sz="2400" i="1" dirty="0" smtClean="0"/>
          </a:p>
          <a:p>
            <a:pPr eaLnBrk="1" hangingPunct="1">
              <a:lnSpc>
                <a:spcPct val="90000"/>
              </a:lnSpc>
              <a:buFontTx/>
              <a:buNone/>
            </a:pPr>
            <a:r>
              <a:rPr lang="en-GB" altLang="en-US" sz="2400" dirty="0" smtClean="0"/>
              <a:t>Inverse document frequency (which we see next) is a measure of the </a:t>
            </a:r>
            <a:r>
              <a:rPr lang="en-GB" altLang="en-US" sz="2400" i="1" dirty="0" smtClean="0"/>
              <a:t>general </a:t>
            </a:r>
            <a:r>
              <a:rPr lang="en-GB" altLang="en-US" sz="2400" dirty="0" smtClean="0"/>
              <a:t>importance of the term.</a:t>
            </a:r>
          </a:p>
          <a:p>
            <a:pPr eaLnBrk="1" hangingPunct="1">
              <a:lnSpc>
                <a:spcPct val="90000"/>
              </a:lnSpc>
              <a:buFontTx/>
              <a:buNone/>
            </a:pPr>
            <a:endParaRPr lang="en-GB" altLang="en-US" sz="2400" dirty="0" smtClean="0"/>
          </a:p>
          <a:p>
            <a:pPr eaLnBrk="1" hangingPunct="1">
              <a:lnSpc>
                <a:spcPct val="90000"/>
              </a:lnSpc>
              <a:buFontTx/>
              <a:buNone/>
            </a:pPr>
            <a:r>
              <a:rPr lang="en-GB" altLang="en-US" sz="2400" dirty="0" smtClean="0"/>
              <a:t>I.e.  High term frequency for “apple” means that apple is an important word in a specific document.</a:t>
            </a:r>
          </a:p>
          <a:p>
            <a:pPr eaLnBrk="1" hangingPunct="1">
              <a:lnSpc>
                <a:spcPct val="90000"/>
              </a:lnSpc>
              <a:buFontTx/>
              <a:buNone/>
            </a:pPr>
            <a:r>
              <a:rPr lang="en-GB" altLang="en-US" sz="2400" dirty="0" smtClean="0"/>
              <a:t>But high document frequency (low inverse document frequency) for “apple”, given a particular set of documents, means that apple is not all that important overall, since it is in all of the documents.</a:t>
            </a:r>
          </a:p>
        </p:txBody>
      </p:sp>
      <p:graphicFrame>
        <p:nvGraphicFramePr>
          <p:cNvPr id="2050" name="Object 4"/>
          <p:cNvGraphicFramePr>
            <a:graphicFrameLocks noGrp="1" noChangeAspect="1"/>
          </p:cNvGraphicFramePr>
          <p:nvPr>
            <p:ph sz="half" idx="2"/>
          </p:nvPr>
        </p:nvGraphicFramePr>
        <p:xfrm>
          <a:off x="2843213" y="1901825"/>
          <a:ext cx="523875" cy="663575"/>
        </p:xfrm>
        <a:graphic>
          <a:graphicData uri="http://schemas.openxmlformats.org/presentationml/2006/ole">
            <mc:AlternateContent xmlns:mc="http://schemas.openxmlformats.org/markup-compatibility/2006">
              <mc:Choice xmlns:v="urn:schemas-microsoft-com:vml" Requires="v">
                <p:oleObj spid="_x0000_s2077" name="Equation" r:id="rId3" imgW="190440" imgH="241200" progId="Equation.3">
                  <p:embed/>
                </p:oleObj>
              </mc:Choice>
              <mc:Fallback>
                <p:oleObj name="Equation" r:id="rId3" imgW="19044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901825"/>
                        <a:ext cx="523875"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072391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a:spLocks noGrp="1" noChangeArrowheads="1"/>
          </p:cNvSpPr>
          <p:nvPr>
            <p:ph type="title"/>
          </p:nvPr>
        </p:nvSpPr>
        <p:spPr/>
        <p:txBody>
          <a:bodyPr vert="horz" lIns="91440" tIns="45720" rIns="91440" bIns="45720" rtlCol="0" anchor="ctr">
            <a:normAutofit/>
          </a:bodyPr>
          <a:lstStyle/>
          <a:p>
            <a:r>
              <a:rPr lang="en-GB" dirty="0"/>
              <a:t>Inverse document frequency</a:t>
            </a:r>
            <a:endParaRPr lang="en-GB" altLang="en-US" dirty="0"/>
          </a:p>
        </p:txBody>
      </p:sp>
      <p:sp>
        <p:nvSpPr>
          <p:cNvPr id="3076" name="Rectangle 3"/>
          <p:cNvSpPr>
            <a:spLocks noGrp="1" noChangeArrowheads="1"/>
          </p:cNvSpPr>
          <p:nvPr>
            <p:ph type="body" sz="half" idx="1"/>
          </p:nvPr>
        </p:nvSpPr>
        <p:spPr>
          <a:xfrm>
            <a:off x="685800" y="1981200"/>
            <a:ext cx="7773988" cy="942975"/>
          </a:xfrm>
        </p:spPr>
        <p:txBody>
          <a:bodyPr/>
          <a:lstStyle/>
          <a:p>
            <a:pPr eaLnBrk="1" hangingPunct="1">
              <a:buFontTx/>
              <a:buNone/>
            </a:pPr>
            <a:r>
              <a:rPr lang="en-GB" altLang="en-US" sz="2800" smtClean="0"/>
              <a:t>Inverse document frequency of term </a:t>
            </a:r>
            <a:r>
              <a:rPr lang="en-GB" altLang="en-US" sz="2800" i="1" smtClean="0"/>
              <a:t>i </a:t>
            </a:r>
            <a:r>
              <a:rPr lang="en-GB" altLang="en-US" sz="2800" smtClean="0"/>
              <a:t>is:</a:t>
            </a:r>
          </a:p>
        </p:txBody>
      </p:sp>
      <p:graphicFrame>
        <p:nvGraphicFramePr>
          <p:cNvPr id="3074" name="Object 4"/>
          <p:cNvGraphicFramePr>
            <a:graphicFrameLocks noGrp="1" noChangeAspect="1"/>
          </p:cNvGraphicFramePr>
          <p:nvPr>
            <p:ph sz="half" idx="2"/>
          </p:nvPr>
        </p:nvGraphicFramePr>
        <p:xfrm>
          <a:off x="2051050" y="2924175"/>
          <a:ext cx="4103688" cy="1293813"/>
        </p:xfrm>
        <a:graphic>
          <a:graphicData uri="http://schemas.openxmlformats.org/presentationml/2006/ole">
            <mc:AlternateContent xmlns:mc="http://schemas.openxmlformats.org/markup-compatibility/2006">
              <mc:Choice xmlns:v="urn:schemas-microsoft-com:vml" Requires="v">
                <p:oleObj spid="_x0000_s3101" name="Equation" r:id="rId3" imgW="1409400" imgH="444240" progId="Equation.3">
                  <p:embed/>
                </p:oleObj>
              </mc:Choice>
              <mc:Fallback>
                <p:oleObj name="Equation" r:id="rId3" imgW="1409400" imgH="4442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2924175"/>
                        <a:ext cx="4103688" cy="1293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7" name="Text Box 7"/>
          <p:cNvSpPr txBox="1">
            <a:spLocks noChangeArrowheads="1"/>
          </p:cNvSpPr>
          <p:nvPr/>
        </p:nvSpPr>
        <p:spPr bwMode="auto">
          <a:xfrm>
            <a:off x="592138" y="4457700"/>
            <a:ext cx="80375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a:t>Log of: … the number of documents in the master collection,</a:t>
            </a:r>
          </a:p>
          <a:p>
            <a:pPr eaLnBrk="1" hangingPunct="1"/>
            <a:r>
              <a:rPr lang="en-GB" altLang="en-US"/>
              <a:t>divided by the number of those documents that contain the term.</a:t>
            </a:r>
          </a:p>
        </p:txBody>
      </p:sp>
    </p:spTree>
    <p:extLst>
      <p:ext uri="{BB962C8B-B14F-4D97-AF65-F5344CB8AC3E}">
        <p14:creationId xmlns:p14="http://schemas.microsoft.com/office/powerpoint/2010/main" val="4394669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5"/>
          <p:cNvSpPr>
            <a:spLocks noGrp="1" noChangeArrowheads="1"/>
          </p:cNvSpPr>
          <p:nvPr>
            <p:ph type="title"/>
          </p:nvPr>
        </p:nvSpPr>
        <p:spPr/>
        <p:txBody>
          <a:bodyPr vert="horz" lIns="91440" tIns="45720" rIns="91440" bIns="45720" rtlCol="0" anchor="ctr">
            <a:normAutofit/>
          </a:bodyPr>
          <a:lstStyle/>
          <a:p>
            <a:r>
              <a:rPr lang="en-GB" altLang="en-US"/>
              <a:t>TFIDF encoding of a document</a:t>
            </a:r>
          </a:p>
        </p:txBody>
      </p:sp>
      <p:graphicFrame>
        <p:nvGraphicFramePr>
          <p:cNvPr id="4098" name="Object 9"/>
          <p:cNvGraphicFramePr>
            <a:graphicFrameLocks noGrp="1" noChangeAspect="1"/>
          </p:cNvGraphicFramePr>
          <p:nvPr>
            <p:ph idx="1"/>
          </p:nvPr>
        </p:nvGraphicFramePr>
        <p:xfrm>
          <a:off x="3059113" y="5634038"/>
          <a:ext cx="1512887" cy="701675"/>
        </p:xfrm>
        <a:graphic>
          <a:graphicData uri="http://schemas.openxmlformats.org/presentationml/2006/ole">
            <mc:AlternateContent xmlns:mc="http://schemas.openxmlformats.org/markup-compatibility/2006">
              <mc:Choice xmlns:v="urn:schemas-microsoft-com:vml" Requires="v">
                <p:oleObj spid="_x0000_s4124" name="Equation" r:id="rId3" imgW="520560" imgH="241200" progId="Equation.3">
                  <p:embed/>
                </p:oleObj>
              </mc:Choice>
              <mc:Fallback>
                <p:oleObj name="Equation" r:id="rId3" imgW="52056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5634038"/>
                        <a:ext cx="1512887"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0" name="Text Box 7"/>
          <p:cNvSpPr txBox="1">
            <a:spLocks noChangeArrowheads="1"/>
          </p:cNvSpPr>
          <p:nvPr/>
        </p:nvSpPr>
        <p:spPr bwMode="auto">
          <a:xfrm>
            <a:off x="735013" y="1720850"/>
            <a:ext cx="7745412"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a:t>So, given:</a:t>
            </a:r>
          </a:p>
          <a:p>
            <a:pPr eaLnBrk="1" hangingPunct="1"/>
            <a:r>
              <a:rPr lang="en-GB" altLang="en-US"/>
              <a:t>   - a background collection of documents</a:t>
            </a:r>
          </a:p>
          <a:p>
            <a:pPr eaLnBrk="1" hangingPunct="1"/>
            <a:r>
              <a:rPr lang="en-GB" altLang="en-US"/>
              <a:t>      (e.g. 100,000 random web pages,</a:t>
            </a:r>
          </a:p>
          <a:p>
            <a:pPr eaLnBrk="1" hangingPunct="1"/>
            <a:r>
              <a:rPr lang="en-GB" altLang="en-US"/>
              <a:t>               all the articles we can find about cancer</a:t>
            </a:r>
          </a:p>
          <a:p>
            <a:pPr eaLnBrk="1" hangingPunct="1"/>
            <a:r>
              <a:rPr lang="en-GB" altLang="en-US"/>
              <a:t>              100 student essays submitted as coursework</a:t>
            </a:r>
          </a:p>
          <a:p>
            <a:pPr eaLnBrk="1" hangingPunct="1"/>
            <a:r>
              <a:rPr lang="en-GB" altLang="en-US"/>
              <a:t>              …)</a:t>
            </a:r>
          </a:p>
          <a:p>
            <a:pPr eaLnBrk="1" hangingPunct="1"/>
            <a:r>
              <a:rPr lang="en-GB" altLang="en-US"/>
              <a:t>   - a specific ordered list (possibly large) of terms</a:t>
            </a:r>
          </a:p>
          <a:p>
            <a:pPr eaLnBrk="1" hangingPunct="1"/>
            <a:r>
              <a:rPr lang="en-GB" altLang="en-US"/>
              <a:t>  </a:t>
            </a:r>
          </a:p>
          <a:p>
            <a:pPr eaLnBrk="1" hangingPunct="1"/>
            <a:r>
              <a:rPr lang="en-GB" altLang="en-US"/>
              <a:t>We can encode any document as a vector of TFIDF numbers, </a:t>
            </a:r>
          </a:p>
          <a:p>
            <a:pPr eaLnBrk="1" hangingPunct="1"/>
            <a:r>
              <a:rPr lang="en-GB" altLang="en-US"/>
              <a:t>where the </a:t>
            </a:r>
            <a:r>
              <a:rPr lang="en-GB" altLang="en-US" i="1"/>
              <a:t>i</a:t>
            </a:r>
            <a:r>
              <a:rPr lang="en-GB" altLang="en-US"/>
              <a:t>th entry in the vector for document </a:t>
            </a:r>
            <a:r>
              <a:rPr lang="en-GB" altLang="en-US" i="1"/>
              <a:t>j</a:t>
            </a:r>
            <a:r>
              <a:rPr lang="en-GB" altLang="en-US"/>
              <a:t> is:</a:t>
            </a:r>
          </a:p>
          <a:p>
            <a:pPr eaLnBrk="1" hangingPunct="1"/>
            <a:r>
              <a:rPr lang="en-GB" altLang="en-US"/>
              <a:t> </a:t>
            </a:r>
          </a:p>
        </p:txBody>
      </p:sp>
    </p:spTree>
    <p:extLst>
      <p:ext uri="{BB962C8B-B14F-4D97-AF65-F5344CB8AC3E}">
        <p14:creationId xmlns:p14="http://schemas.microsoft.com/office/powerpoint/2010/main" val="2844750762"/>
      </p:ext>
    </p:extLst>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fontScale="90000"/>
          </a:bodyPr>
          <a:lstStyle/>
          <a:p>
            <a:r>
              <a:rPr lang="de-DE" dirty="0"/>
              <a:t>From Wikipedia‘s plot summary</a:t>
            </a:r>
            <a:br>
              <a:rPr lang="de-DE" dirty="0"/>
            </a:br>
            <a:r>
              <a:rPr lang="de-DE" dirty="0"/>
              <a:t>(method: string search)</a:t>
            </a:r>
            <a:endParaRPr lang="en-GB" dirty="0"/>
          </a:p>
        </p:txBody>
      </p:sp>
      <p:sp>
        <p:nvSpPr>
          <p:cNvPr id="3" name="Content Placeholder 2"/>
          <p:cNvSpPr>
            <a:spLocks noGrp="1"/>
          </p:cNvSpPr>
          <p:nvPr>
            <p:ph idx="1"/>
          </p:nvPr>
        </p:nvSpPr>
        <p:spPr/>
        <p:txBody>
          <a:bodyPr>
            <a:noAutofit/>
          </a:bodyPr>
          <a:lstStyle/>
          <a:p>
            <a:r>
              <a:rPr lang="de-DE" sz="1600" dirty="0" smtClean="0"/>
              <a:t>...</a:t>
            </a:r>
          </a:p>
          <a:p>
            <a:r>
              <a:rPr lang="en-GB" sz="1600" dirty="0"/>
              <a:t>Natasha is convinced that she loves Anatole and writes to Princess Maria, Andrei's sister, breaking off her </a:t>
            </a:r>
            <a:r>
              <a:rPr lang="en-GB" sz="1600" dirty="0" smtClean="0"/>
              <a:t>engagement [with Andrei]. </a:t>
            </a:r>
            <a:r>
              <a:rPr lang="en-GB" sz="1600" dirty="0"/>
              <a:t>At the last moment, Sonya discovers her plans to elope and foils them. Pierre is initially horrified by Natasha's </a:t>
            </a:r>
            <a:r>
              <a:rPr lang="en-GB" sz="1600" dirty="0" err="1"/>
              <a:t>behavior</a:t>
            </a:r>
            <a:r>
              <a:rPr lang="en-GB" sz="1600" dirty="0"/>
              <a:t>, but realizes he has fallen in love with her. During the time when the </a:t>
            </a:r>
            <a:r>
              <a:rPr lang="en-GB" sz="1600" dirty="0">
                <a:hlinkClick r:id="rId3" tooltip="C/1811 F1"/>
              </a:rPr>
              <a:t>Great Comet of 1811–2</a:t>
            </a:r>
            <a:r>
              <a:rPr lang="en-GB" sz="1600" dirty="0"/>
              <a:t> streaks the sky, life appears to begin anew for Pierre.</a:t>
            </a:r>
          </a:p>
          <a:p>
            <a:r>
              <a:rPr lang="en-GB" sz="1600" dirty="0"/>
              <a:t>Prince Andrei coldly accepts Natasha's breaking of the engagement. He tells Pierre that his pride will not allow him to renew his proposal. Ashamed, Natasha makes a suicide attempt and is left seriously ill.</a:t>
            </a:r>
          </a:p>
          <a:p>
            <a:r>
              <a:rPr lang="de-DE" sz="1600" dirty="0" smtClean="0"/>
              <a:t>...</a:t>
            </a:r>
            <a:endParaRPr lang="en-GB" sz="1600" dirty="0" smtClean="0"/>
          </a:p>
          <a:p>
            <a:r>
              <a:rPr lang="en-GB" sz="1600" dirty="0"/>
              <a:t>Having lost all will to live, </a:t>
            </a:r>
            <a:r>
              <a:rPr lang="en-GB" sz="1600" dirty="0" smtClean="0"/>
              <a:t>[Andrei] forgives </a:t>
            </a:r>
            <a:r>
              <a:rPr lang="en-GB" sz="1600" dirty="0"/>
              <a:t>Natasha in a last act before dying.</a:t>
            </a:r>
          </a:p>
          <a:p>
            <a:r>
              <a:rPr lang="en-GB" sz="1600" dirty="0" smtClean="0"/>
              <a:t>Pierre's </a:t>
            </a:r>
            <a:r>
              <a:rPr lang="en-GB" sz="1600" dirty="0"/>
              <a:t>wife Hélène dies from an overdose of </a:t>
            </a:r>
            <a:r>
              <a:rPr lang="en-GB" sz="1600" dirty="0">
                <a:hlinkClick r:id="rId4" tooltip="Abortion"/>
              </a:rPr>
              <a:t>abortion</a:t>
            </a:r>
            <a:r>
              <a:rPr lang="en-GB" sz="1600" dirty="0"/>
              <a:t> medication (Tolstoy does not state it explicitly but the euphemism he uses is unambiguous). Pierre is reunited with Natasha, while the victorious Russians rebuild Moscow. Natasha speaks of Prince Andrei's death and Pierre of </a:t>
            </a:r>
            <a:r>
              <a:rPr lang="en-GB" sz="1600" dirty="0" err="1"/>
              <a:t>Karataev's</a:t>
            </a:r>
            <a:r>
              <a:rPr lang="en-GB" sz="1600" dirty="0"/>
              <a:t>. Both are aware of a growing bond between them in their bereavement. </a:t>
            </a:r>
            <a:r>
              <a:rPr lang="en-GB" sz="1600" dirty="0" smtClean="0"/>
              <a:t>With the help of Princess Maria, Pierre </a:t>
            </a:r>
            <a:r>
              <a:rPr lang="en-GB" sz="1600" dirty="0"/>
              <a:t>finds love at last and, revealing his love after being released by his former wife's death, marries Natasha</a:t>
            </a:r>
            <a:r>
              <a:rPr lang="en-GB" sz="1600" dirty="0" smtClean="0"/>
              <a:t>.</a:t>
            </a:r>
          </a:p>
        </p:txBody>
      </p:sp>
      <p:sp>
        <p:nvSpPr>
          <p:cNvPr id="4" name="Footer Placeholder 3"/>
          <p:cNvSpPr>
            <a:spLocks noGrp="1"/>
          </p:cNvSpPr>
          <p:nvPr>
            <p:ph type="ftr" sz="quarter" idx="11"/>
          </p:nvPr>
        </p:nvSpPr>
        <p:spPr>
          <a:xfrm>
            <a:off x="7596336" y="6309320"/>
            <a:ext cx="1325880" cy="457200"/>
          </a:xfrm>
          <a:prstGeom prst="rect">
            <a:avLst/>
          </a:prstGeom>
        </p:spPr>
        <p:txBody>
          <a:bodyPr/>
          <a:lstStyle/>
          <a:p>
            <a:fld id="{5A1BDACB-B81C-41B5-BE61-F2E478F6F1C3}" type="slidenum">
              <a:rPr lang="en-US" smtClean="0"/>
              <a:pPr/>
              <a:t>12</a:t>
            </a:fld>
            <a:endParaRPr lang="en-US" dirty="0"/>
          </a:p>
        </p:txBody>
      </p:sp>
      <p:sp>
        <p:nvSpPr>
          <p:cNvPr id="5" name="Rectangle 4"/>
          <p:cNvSpPr/>
          <p:nvPr/>
        </p:nvSpPr>
        <p:spPr>
          <a:xfrm>
            <a:off x="2339752" y="3429000"/>
            <a:ext cx="6696744" cy="914400"/>
          </a:xfrm>
          <a:prstGeom prst="rect">
            <a:avLst/>
          </a:prstGeom>
          <a:solidFill>
            <a:srgbClr val="FFFF00"/>
          </a:solidFill>
          <a:ln w="38100">
            <a:no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9728" indent="0">
              <a:buNone/>
            </a:pPr>
            <a:r>
              <a:rPr lang="de-DE" dirty="0">
                <a:solidFill>
                  <a:schemeClr val="tx1"/>
                </a:solidFill>
                <a:latin typeface="Arial" panose="020B0604020202020204" pitchFamily="34" charset="0"/>
                <a:cs typeface="Arial" panose="020B0604020202020204" pitchFamily="34" charset="0"/>
              </a:rPr>
              <a:t>Total time: 29 mins since creation of </a:t>
            </a:r>
            <a:r>
              <a:rPr lang="de-DE" dirty="0" smtClean="0">
                <a:solidFill>
                  <a:schemeClr val="tx1"/>
                </a:solidFill>
                <a:latin typeface="Arial" panose="020B0604020202020204" pitchFamily="34" charset="0"/>
                <a:cs typeface="Arial" panose="020B0604020202020204" pitchFamily="34" charset="0"/>
              </a:rPr>
              <a:t>word </a:t>
            </a:r>
            <a:r>
              <a:rPr lang="de-DE" dirty="0">
                <a:solidFill>
                  <a:schemeClr val="tx1"/>
                </a:solidFill>
                <a:latin typeface="Arial" panose="020B0604020202020204" pitchFamily="34" charset="0"/>
                <a:cs typeface="Arial" panose="020B0604020202020204" pitchFamily="34" charset="0"/>
              </a:rPr>
              <a:t>cloud, </a:t>
            </a:r>
            <a:endParaRPr lang="de-DE" dirty="0" smtClean="0">
              <a:solidFill>
                <a:schemeClr val="tx1"/>
              </a:solidFill>
              <a:latin typeface="Arial" panose="020B0604020202020204" pitchFamily="34" charset="0"/>
              <a:cs typeface="Arial" panose="020B0604020202020204" pitchFamily="34" charset="0"/>
            </a:endParaRPr>
          </a:p>
          <a:p>
            <a:pPr marL="109728" indent="0">
              <a:buNone/>
            </a:pPr>
            <a:r>
              <a:rPr lang="de-DE" dirty="0" smtClean="0">
                <a:solidFill>
                  <a:schemeClr val="tx1"/>
                </a:solidFill>
                <a:latin typeface="Arial" panose="020B0604020202020204" pitchFamily="34" charset="0"/>
                <a:cs typeface="Arial" panose="020B0604020202020204" pitchFamily="34" charset="0"/>
              </a:rPr>
              <a:t>17 </a:t>
            </a:r>
            <a:r>
              <a:rPr lang="de-DE" dirty="0">
                <a:solidFill>
                  <a:schemeClr val="tx1"/>
                </a:solidFill>
                <a:latin typeface="Arial" panose="020B0604020202020204" pitchFamily="34" charset="0"/>
                <a:cs typeface="Arial" panose="020B0604020202020204" pitchFamily="34" charset="0"/>
              </a:rPr>
              <a:t>mins since creation of Pierre-Natasha-Andrew </a:t>
            </a:r>
            <a:r>
              <a:rPr lang="de-DE" dirty="0" smtClean="0">
                <a:solidFill>
                  <a:schemeClr val="tx1"/>
                </a:solidFill>
                <a:latin typeface="Arial" panose="020B0604020202020204" pitchFamily="34" charset="0"/>
                <a:cs typeface="Arial" panose="020B0604020202020204" pitchFamily="34" charset="0"/>
              </a:rPr>
              <a:t>chart</a:t>
            </a:r>
          </a:p>
          <a:p>
            <a:pPr marL="109728" indent="0">
              <a:buNone/>
            </a:pPr>
            <a:r>
              <a:rPr lang="de-DE" i="1" dirty="0" smtClean="0">
                <a:solidFill>
                  <a:schemeClr val="tx1"/>
                </a:solidFill>
                <a:latin typeface="Arial" panose="020B0604020202020204" pitchFamily="34" charset="0"/>
                <a:cs typeface="Arial" panose="020B0604020202020204" pitchFamily="34" charset="0"/>
              </a:rPr>
              <a:t>(includes making these slides for you)</a:t>
            </a:r>
            <a:endParaRPr lang="en-GB" i="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28724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fontScale="90000"/>
          </a:bodyPr>
          <a:lstStyle/>
          <a:p>
            <a:r>
              <a:rPr lang="de-DE" dirty="0"/>
              <a:t>Speed-reading with word clouds:</a:t>
            </a:r>
            <a:br>
              <a:rPr lang="de-DE" dirty="0"/>
            </a:br>
            <a:r>
              <a:rPr lang="de-DE" dirty="0"/>
              <a:t>The Voyant tool (single-digit number of seconds)</a:t>
            </a:r>
            <a:endParaRPr lang="en-GB"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27584" y="1916832"/>
            <a:ext cx="7416824" cy="4561218"/>
          </a:xfrm>
        </p:spPr>
      </p:pic>
      <p:sp>
        <p:nvSpPr>
          <p:cNvPr id="4" name="Footer Placeholder 3"/>
          <p:cNvSpPr>
            <a:spLocks noGrp="1"/>
          </p:cNvSpPr>
          <p:nvPr>
            <p:ph type="ftr" sz="quarter" idx="11"/>
          </p:nvPr>
        </p:nvSpPr>
        <p:spPr>
          <a:xfrm>
            <a:off x="7596336" y="6309320"/>
            <a:ext cx="1325880" cy="457200"/>
          </a:xfrm>
          <a:prstGeom prst="rect">
            <a:avLst/>
          </a:prstGeom>
        </p:spPr>
        <p:txBody>
          <a:bodyPr/>
          <a:lstStyle/>
          <a:p>
            <a:fld id="{5A1BDACB-B81C-41B5-BE61-F2E478F6F1C3}" type="slidenum">
              <a:rPr lang="en-US" smtClean="0"/>
              <a:pPr/>
              <a:t>13</a:t>
            </a:fld>
            <a:endParaRPr lang="en-US" dirty="0"/>
          </a:p>
        </p:txBody>
      </p:sp>
    </p:spTree>
    <p:extLst>
      <p:ext uri="{BB962C8B-B14F-4D97-AF65-F5344CB8AC3E}">
        <p14:creationId xmlns:p14="http://schemas.microsoft.com/office/powerpoint/2010/main" val="824498092"/>
      </p:ext>
    </p:extLst>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e-DE" sz="3200" dirty="0" smtClean="0"/>
              <a:t>Trending topics: a form of summarization</a:t>
            </a:r>
            <a:endParaRPr lang="en-GB" sz="3200" dirty="0"/>
          </a:p>
        </p:txBody>
      </p:sp>
      <p:sp>
        <p:nvSpPr>
          <p:cNvPr id="4" name="Footer Placeholder 3"/>
          <p:cNvSpPr>
            <a:spLocks noGrp="1"/>
          </p:cNvSpPr>
          <p:nvPr>
            <p:ph type="ftr" sz="quarter" idx="11"/>
          </p:nvPr>
        </p:nvSpPr>
        <p:spPr>
          <a:xfrm>
            <a:off x="7596336" y="6309320"/>
            <a:ext cx="1325880" cy="457200"/>
          </a:xfrm>
          <a:prstGeom prst="rect">
            <a:avLst/>
          </a:prstGeom>
        </p:spPr>
        <p:txBody>
          <a:bodyPr/>
          <a:lstStyle/>
          <a:p>
            <a:fld id="{5A1BDACB-B81C-41B5-BE61-F2E478F6F1C3}" type="slidenum">
              <a:rPr lang="en-US" smtClean="0"/>
              <a:pPr/>
              <a:t>14</a:t>
            </a:fld>
            <a:endParaRPr lang="en-US" dirty="0"/>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84784"/>
            <a:ext cx="9118600" cy="479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5835267"/>
      </p:ext>
    </p:extLst>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Word Cloud Generator</a:t>
            </a:r>
          </a:p>
        </p:txBody>
      </p:sp>
      <p:sp>
        <p:nvSpPr>
          <p:cNvPr id="3" name="Content Placeholder 2"/>
          <p:cNvSpPr>
            <a:spLocks noGrp="1"/>
          </p:cNvSpPr>
          <p:nvPr>
            <p:ph idx="1"/>
          </p:nvPr>
        </p:nvSpPr>
        <p:spPr/>
        <p:txBody>
          <a:bodyPr/>
          <a:lstStyle/>
          <a:p>
            <a:r>
              <a:rPr lang="en-US" sz="2000" dirty="0">
                <a:latin typeface="+mj-lt"/>
                <a:ea typeface="+mj-ea"/>
                <a:cs typeface="+mj-cs"/>
                <a:hlinkClick r:id="rId2"/>
              </a:rPr>
              <a:t>https://www.wordclouds.com/</a:t>
            </a:r>
            <a:endParaRPr lang="en-US" sz="2000" dirty="0">
              <a:latin typeface="+mj-lt"/>
              <a:ea typeface="+mj-ea"/>
              <a:cs typeface="+mj-cs"/>
            </a:endParaRPr>
          </a:p>
          <a:p>
            <a:r>
              <a:rPr lang="en-US" dirty="0" smtClean="0"/>
              <a:t>Word cloud can be generated using your software of interest, e.g. R, Python etc.</a:t>
            </a:r>
          </a:p>
          <a:p>
            <a:endParaRPr lang="en-US" dirty="0"/>
          </a:p>
        </p:txBody>
      </p:sp>
    </p:spTree>
    <p:extLst>
      <p:ext uri="{BB962C8B-B14F-4D97-AF65-F5344CB8AC3E}">
        <p14:creationId xmlns:p14="http://schemas.microsoft.com/office/powerpoint/2010/main" val="2273996196"/>
      </p:ext>
    </p:extLst>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t>Dependency Parsing</a:t>
            </a:r>
          </a:p>
        </p:txBody>
      </p:sp>
      <p:sp>
        <p:nvSpPr>
          <p:cNvPr id="3" name="Content Placeholder 2"/>
          <p:cNvSpPr>
            <a:spLocks noGrp="1"/>
          </p:cNvSpPr>
          <p:nvPr>
            <p:ph idx="1"/>
          </p:nvPr>
        </p:nvSpPr>
        <p:spPr/>
        <p:txBody>
          <a:bodyPr/>
          <a:lstStyle/>
          <a:p>
            <a:r>
              <a:rPr lang="en-US" dirty="0" smtClean="0"/>
              <a:t>Automatic reads and finds out dependency</a:t>
            </a:r>
          </a:p>
          <a:p>
            <a:r>
              <a:rPr lang="en-US" dirty="0" smtClean="0"/>
              <a:t>Helps to build generalized rule set after studying sample</a:t>
            </a:r>
          </a:p>
          <a:p>
            <a:r>
              <a:rPr lang="en-US" dirty="0" smtClean="0"/>
              <a:t>Recommended package: </a:t>
            </a:r>
            <a:r>
              <a:rPr lang="en-US" dirty="0" err="1" smtClean="0"/>
              <a:t>sPacy</a:t>
            </a:r>
            <a:r>
              <a:rPr lang="en-US" dirty="0" smtClean="0"/>
              <a:t>, python</a:t>
            </a:r>
          </a:p>
          <a:p>
            <a:endParaRPr lang="en-US" dirty="0"/>
          </a:p>
        </p:txBody>
      </p:sp>
    </p:spTree>
    <p:extLst>
      <p:ext uri="{BB962C8B-B14F-4D97-AF65-F5344CB8AC3E}">
        <p14:creationId xmlns:p14="http://schemas.microsoft.com/office/powerpoint/2010/main" val="2543722617"/>
      </p:ext>
    </p:extLst>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Dependency Parsing Examples  ..1</a:t>
            </a:r>
            <a:endParaRPr lang="en-US" dirty="0"/>
          </a:p>
        </p:txBody>
      </p:sp>
      <p:sp>
        <p:nvSpPr>
          <p:cNvPr id="6" name="TextBox 5"/>
          <p:cNvSpPr txBox="1"/>
          <p:nvPr/>
        </p:nvSpPr>
        <p:spPr>
          <a:xfrm>
            <a:off x="4191000" y="4822098"/>
            <a:ext cx="31242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 want to upgrade my data package</a:t>
            </a:r>
          </a:p>
        </p:txBody>
      </p:sp>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47800"/>
            <a:ext cx="7486650"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132415"/>
            <a:ext cx="3124200" cy="257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463047"/>
      </p:ext>
    </p:extLst>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Dependency Parsing Examples  ..2</a:t>
            </a:r>
            <a:endParaRPr lang="en-US" dirty="0"/>
          </a:p>
        </p:txBody>
      </p:sp>
      <p:sp>
        <p:nvSpPr>
          <p:cNvPr id="6" name="TextBox 5"/>
          <p:cNvSpPr txBox="1"/>
          <p:nvPr/>
        </p:nvSpPr>
        <p:spPr>
          <a:xfrm>
            <a:off x="4343400" y="4572000"/>
            <a:ext cx="27432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 need to </a:t>
            </a:r>
            <a:r>
              <a:rPr lang="en-US" dirty="0" smtClean="0"/>
              <a:t>change </a:t>
            </a:r>
            <a:r>
              <a:rPr lang="en-US" dirty="0"/>
              <a:t>address in records</a:t>
            </a:r>
          </a:p>
        </p:txBody>
      </p:sp>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1676400"/>
            <a:ext cx="765810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038600"/>
            <a:ext cx="23526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4533723"/>
      </p:ext>
    </p:extLst>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 </a:t>
            </a:r>
            <a:r>
              <a:rPr lang="en-US" dirty="0" err="1" smtClean="0"/>
              <a:t>Modelling</a:t>
            </a:r>
            <a:r>
              <a:rPr lang="en-US" dirty="0" smtClean="0"/>
              <a:t> using LDA</a:t>
            </a:r>
            <a:endParaRPr lang="en-US" dirty="0"/>
          </a:p>
        </p:txBody>
      </p:sp>
      <p:sp>
        <p:nvSpPr>
          <p:cNvPr id="3" name="Content Placeholder 2"/>
          <p:cNvSpPr>
            <a:spLocks noGrp="1"/>
          </p:cNvSpPr>
          <p:nvPr>
            <p:ph idx="1"/>
          </p:nvPr>
        </p:nvSpPr>
        <p:spPr/>
        <p:txBody>
          <a:bodyPr/>
          <a:lstStyle/>
          <a:p>
            <a:r>
              <a:rPr lang="en-US" dirty="0"/>
              <a:t>https://algobeans.com/2015/06/21/laymans-explanation-of-topic-modeling-with-lda-2/</a:t>
            </a:r>
          </a:p>
        </p:txBody>
      </p:sp>
    </p:spTree>
    <p:extLst>
      <p:ext uri="{BB962C8B-B14F-4D97-AF65-F5344CB8AC3E}">
        <p14:creationId xmlns:p14="http://schemas.microsoft.com/office/powerpoint/2010/main" val="2362631282"/>
      </p:ext>
    </p:extLst>
  </p:cSld>
  <p:clrMapOvr>
    <a:masterClrMapping/>
  </p:clrMapOvr>
  <p:transition>
    <p:zoom/>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367</TotalTime>
  <Words>1507</Words>
  <Application>Microsoft Office PowerPoint</Application>
  <PresentationFormat>On-screen Show (4:3)</PresentationFormat>
  <Paragraphs>181</Paragraphs>
  <Slides>19</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1" baseType="lpstr">
      <vt:lpstr>Office Theme</vt:lpstr>
      <vt:lpstr>Equation</vt:lpstr>
      <vt:lpstr>NLP and Some Text mining Methods: Introduction</vt:lpstr>
      <vt:lpstr>NLP &amp; it’s History</vt:lpstr>
      <vt:lpstr>Application of NLP </vt:lpstr>
      <vt:lpstr>More Applications</vt:lpstr>
      <vt:lpstr>Preprocessing (1)</vt:lpstr>
      <vt:lpstr>Preprocessing (2)</vt:lpstr>
      <vt:lpstr>PowerPoint Presentation</vt:lpstr>
      <vt:lpstr>Bag-of-Tokens Approaches</vt:lpstr>
      <vt:lpstr>Term frequency</vt:lpstr>
      <vt:lpstr>Inverse document frequency</vt:lpstr>
      <vt:lpstr>TFIDF encoding of a document</vt:lpstr>
      <vt:lpstr>From Wikipedia‘s plot summary (method: string search)</vt:lpstr>
      <vt:lpstr>Speed-reading with word clouds: The Voyant tool (single-digit number of seconds)</vt:lpstr>
      <vt:lpstr>Trending topics: a form of summarization</vt:lpstr>
      <vt:lpstr>Word Cloud Generator</vt:lpstr>
      <vt:lpstr>Dependency Parsing</vt:lpstr>
      <vt:lpstr>Dependency Parsing Examples  ..1</vt:lpstr>
      <vt:lpstr>Dependency Parsing Examples  ..2</vt:lpstr>
      <vt:lpstr>Topic Modelling using LDA</vt:lpstr>
    </vt:vector>
  </TitlesOfParts>
  <Company>BT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Sarkar,S,Saptarshi,TAB C</dc:creator>
  <cp:lastModifiedBy>SAPTARSHI</cp:lastModifiedBy>
  <cp:revision>26</cp:revision>
  <dcterms:created xsi:type="dcterms:W3CDTF">2018-08-29T16:58:02Z</dcterms:created>
  <dcterms:modified xsi:type="dcterms:W3CDTF">2019-05-18T05:07:39Z</dcterms:modified>
</cp:coreProperties>
</file>