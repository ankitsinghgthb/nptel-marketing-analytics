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3" r:id="rId5"/>
    <p:sldId id="265" r:id="rId6"/>
    <p:sldId id="258" r:id="rId7"/>
    <p:sldId id="260" r:id="rId8"/>
    <p:sldId id="261" r:id="rId9"/>
    <p:sldId id="262" r:id="rId10"/>
    <p:sldId id="268" r:id="rId11"/>
    <p:sldId id="264" r:id="rId12"/>
    <p:sldId id="270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1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2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848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0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3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6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5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5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99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8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13F63-B6C0-4F72-A358-395A72047DEF}" type="datetimeFigureOut">
              <a:rPr lang="en-US" smtClean="0"/>
              <a:t>3/20/2020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51E1F-D41F-4798-82F0-D598FB071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87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190169" y="3702184"/>
            <a:ext cx="9252857" cy="2184809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Prof. Swagato Chatterjee</a:t>
            </a:r>
          </a:p>
          <a:p>
            <a:r>
              <a:rPr lang="en-US" b="1" dirty="0" smtClean="0"/>
              <a:t>Vinod Gupta School of Management, IIT Kharagpur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497838" y="1196188"/>
            <a:ext cx="106375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Explaining customer ratings and </a:t>
            </a:r>
            <a:r>
              <a:rPr lang="en-US" sz="36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recommendationsby</a:t>
            </a:r>
            <a:endParaRPr lang="en-US" sz="36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and quantitative user generated </a:t>
            </a:r>
            <a:r>
              <a:rPr lang="en-US" sz="36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(UGC)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91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0375" y="885151"/>
            <a:ext cx="522079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outline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 mining process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02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528354" y="1763488"/>
            <a:ext cx="2769325" cy="1227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528354" y="4149636"/>
            <a:ext cx="2769325" cy="15065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Recommendations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40434" y="1423854"/>
            <a:ext cx="3317965" cy="44152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Important Performance Indicators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Useful for measurement of customer satisfaction (CSAT)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solidFill>
                  <a:schemeClr val="tx1"/>
                </a:solidFill>
              </a:rPr>
              <a:t>Source of Information for potential uninformed customers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5" idx="6"/>
            <a:endCxn id="8" idx="1"/>
          </p:cNvCxnSpPr>
          <p:nvPr/>
        </p:nvCxnSpPr>
        <p:spPr>
          <a:xfrm>
            <a:off x="4297679" y="2377443"/>
            <a:ext cx="2442755" cy="12540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6"/>
            <a:endCxn id="8" idx="1"/>
          </p:cNvCxnSpPr>
          <p:nvPr/>
        </p:nvCxnSpPr>
        <p:spPr>
          <a:xfrm flipV="1">
            <a:off x="4297679" y="3631477"/>
            <a:ext cx="2442755" cy="1271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5840" y="992780"/>
            <a:ext cx="9470572" cy="56823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415721" y="6063736"/>
            <a:ext cx="24161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Online Review Systems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424326" y="1198268"/>
            <a:ext cx="38922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User Generated Content (UGC)</a:t>
            </a:r>
          </a:p>
          <a:p>
            <a:pPr algn="ctr"/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807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Perception: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7975" y="1001621"/>
            <a:ext cx="63180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Happy customer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Positive Feedback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Angry customer Negative Feedback</a:t>
            </a: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7975" y="3123064"/>
            <a:ext cx="109161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and more customers are engaging in sharing information on online platforms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organization should focus on dealing with both positive and negative feedbacks along with repercussions.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: Qualitative + Quantitative UGC of online airline data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find:</a:t>
            </a: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customer ratings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2" descr="Image result for unhappy emoticon yello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29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Outline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4098" y="992777"/>
            <a:ext cx="117098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 :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Text mining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Step 2: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Text analysis 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Find the aspects of core services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Find the aspects of augmented services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Analysis based on different contexts</a:t>
            </a:r>
          </a:p>
          <a:p>
            <a:pPr marL="1714500" lvl="3" indent="-342900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and emotions vary for different types of consumers based on the service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context. (Full service, low cost airlines, leisure, etc.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714500" lvl="3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041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5132" y="5072667"/>
            <a:ext cx="1116656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RQ1. Do the ratings given about core and augmented service aspects explain customer satisfaction and recommendation behavior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193134"/>
            <a:ext cx="1140169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the basic benefits that a service provides; </a:t>
            </a:r>
          </a:p>
          <a:p>
            <a:pPr marL="2114550" lvl="4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ood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restaurant vis a vis the value for money it provides.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service</a:t>
            </a:r>
          </a:p>
          <a:p>
            <a:pPr marL="1200150" lvl="2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include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 that ‘differentiate’ a service provider from its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competitors</a:t>
            </a:r>
          </a:p>
          <a:p>
            <a:pPr marL="1657350" lvl="3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ambience,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parking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 etc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context, we try to analyze how the core and augmented service aspects impact customer satisfaction and recommendation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20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7308" y="4885508"/>
            <a:ext cx="108922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RQ2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Do the overall sentiment and emotions expressed in textual reviews explicitly explain a customer's satisfaction and recommendation behavior?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5868" y="1297637"/>
            <a:ext cx="114016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may not be necessarily one dimensional like sentiments.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can be in an amalgamation or in a singular form in order to express distinct psychological process in consumer mind.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with high explanatory power:</a:t>
            </a:r>
          </a:p>
          <a:p>
            <a:pPr marL="1714500" lvl="3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Anger, Fear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Emotions with high explanatory power:</a:t>
            </a:r>
          </a:p>
          <a:p>
            <a:pPr marL="1714500" lvl="6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Trust, Anticipation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Textual reviews represent customer’s experience about his/her service experience.</a:t>
            </a:r>
          </a:p>
        </p:txBody>
      </p:sp>
    </p:spTree>
    <p:extLst>
      <p:ext uri="{BB962C8B-B14F-4D97-AF65-F5344CB8AC3E}">
        <p14:creationId xmlns:p14="http://schemas.microsoft.com/office/powerpoint/2010/main" val="160818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7382" y="4139991"/>
            <a:ext cx="106331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RQ3. Does a sentiment related to the core and augmented service aspects effectively explain customer satisfaction and recommendation behavior?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7382" y="1489166"/>
            <a:ext cx="9614263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Ratings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quantitative measure of consumers' satisfaction with both the core and augmented service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aspects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tend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express their feelings on the service aspects through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textual reviews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Also, core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aspects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explanatory power than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augmented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aspects. Hence, different explanatory power would have different impact.</a:t>
            </a:r>
          </a:p>
          <a:p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23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0892" y="5292525"/>
            <a:ext cx="104502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RQ4. How does the above-mentioned explaining power change based on the model of service?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0892" y="1099182"/>
            <a:ext cx="919625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explanatory powers of various attributes vary depending on whether the business model is full service or low cost </a:t>
            </a: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airlines: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‘No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frills’ and provides just the core benefits at a lower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extra service, there is an additional cost.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service airlines: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associated services of airlines such as club, lounge, restaurant, priority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439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Model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8" y="992777"/>
            <a:ext cx="9958932" cy="513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23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Mining Process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20979" b="1"/>
          <a:stretch/>
        </p:blipFill>
        <p:spPr>
          <a:xfrm>
            <a:off x="145868" y="1123405"/>
            <a:ext cx="10591801" cy="50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5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0892" y="1099182"/>
            <a:ext cx="101237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	airlinequality.com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Reviews:	41397 customer reviews of 362 airlines from 158 				countries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Scale:		1 to 10-point scale [1: Highly dissatisfied] : 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[10:Highly satisfied]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5814" y="2560323"/>
            <a:ext cx="6458495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study we have used NRC Word-Emotion Association Lexicon (also called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EmoLex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created by Mohammad and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Turney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scores about the following sentiments and emotions </a:t>
            </a: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sentiments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negative, positive; emotions: anger, anticipation, disgust, fear, joy, sadness, surprise,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Frequency Measurement:  (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pos+neg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frequency of positive words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frequency of negative words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675" y="2828329"/>
            <a:ext cx="5572533" cy="307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0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650"/>
          <a:stretch/>
        </p:blipFill>
        <p:spPr>
          <a:xfrm>
            <a:off x="281667" y="875211"/>
            <a:ext cx="11154631" cy="532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0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68" y="169182"/>
            <a:ext cx="9154886" cy="82359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Conclusions: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0924" y="1198659"/>
            <a:ext cx="1082475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aspects of a service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stronger positive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CSAT and RBV than the ancillary aspects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 of concrete service aspects such as value for money is higher in case of low-cost airlines in comparison to full service airlines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importance of abstract service aspects such as seat comfort, cabin staff behavior food and beverages, in-flight entertainment etc. are higher for full service airlines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aspect-wise sentiment scores have positive relationship with consumer outcomes related to full service airlines, and not related to low cost airlines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of emotions with consumer outcomes is stronger for full service airlines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30924" y="4237165"/>
            <a:ext cx="9348653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Managerial Implications:</a:t>
            </a:r>
          </a:p>
          <a:p>
            <a:pPr algn="just"/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contexts which are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should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on textual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oncrete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contexts should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on quantitative rating based feedback collection system</a:t>
            </a:r>
          </a:p>
        </p:txBody>
      </p:sp>
    </p:spTree>
    <p:extLst>
      <p:ext uri="{BB962C8B-B14F-4D97-AF65-F5344CB8AC3E}">
        <p14:creationId xmlns:p14="http://schemas.microsoft.com/office/powerpoint/2010/main" val="336834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756</Words>
  <Application>Microsoft Office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Contents</vt:lpstr>
      <vt:lpstr>Introduction</vt:lpstr>
      <vt:lpstr>Customer Perception: </vt:lpstr>
      <vt:lpstr>Project Outline</vt:lpstr>
      <vt:lpstr>Research Questions</vt:lpstr>
      <vt:lpstr>Research Questions</vt:lpstr>
      <vt:lpstr>Research Questions</vt:lpstr>
      <vt:lpstr>Research Questions</vt:lpstr>
      <vt:lpstr>Project Model</vt:lpstr>
      <vt:lpstr>Text Mining Process</vt:lpstr>
      <vt:lpstr>Methodology</vt:lpstr>
      <vt:lpstr>Results</vt:lpstr>
      <vt:lpstr>Conclusions: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Kitprat123</dc:creator>
  <cp:lastModifiedBy>laptop</cp:lastModifiedBy>
  <cp:revision>57</cp:revision>
  <dcterms:created xsi:type="dcterms:W3CDTF">2020-03-20T09:37:00Z</dcterms:created>
  <dcterms:modified xsi:type="dcterms:W3CDTF">2020-03-20T14:01:55Z</dcterms:modified>
</cp:coreProperties>
</file>